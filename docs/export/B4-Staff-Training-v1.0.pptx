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newsroom training. In the next half hour we will sign in, write and submit an article, review and publish, use the media library, and, for the Salingkusog team, keep scores and confirm medals.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your role here. Everyone can write drafts and submit them. Section editors review their sections. The Business Manager, Managing Editor, Executive Editor and Super admin can publish. Staff can also be given publishing access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site, go to slash admin slash login, and sign in with the email you were invited with. If you forget your password, use Forgot password and follow the link in your email. If you see Access pending, your account is not active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menu on the left shows the parts of the newsroom you can use. The dashboard shows your drafts and recent articles. Managers see more counts and the submission queue.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write, open Articles and choose New article. Pick the category first, because it sets the section. Write the title and the body, then fill the side panels: cover photo and caption, tags and summary, and search and sharing. You never need to press save; it autosaves.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are done, choose Submit for review and add a note if helpful. The article is locked while the editor looks at it, but you can withdraw it with Return to draft. Feedback appears under Notes and activity.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editors open Needs review, choose Start review, and then return the article with a note, reject it with a required note, or, with publishing access, publish or schedule it. The buttons shown are exactly those your role allows.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Publishers can publish now, schedule for a future time, or archive. Scheduled articles go live automatically. If you try something your role does not allow, the system explains it; this is enforced by the database, not just hidden in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media library compresses images automatically into web sizes. Please always add alt text so readers using screen readers understand the image. An image used in an article cannot be deleted until it is replaced.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Editors moderate comments, which stay hidden until approved, handle the contact inbox, and review story submissions and event reports. A good submission can be turned into a draft article in one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Managers have a few extra screens: staff accounts, including publishing access; the front page and ticker; statistics; and choosing the Salingkusog team.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Salingkusog team: open Scores, choose the day and the game, press Start game, tap the scores, and Finish game at the end. Use Reopen to fix a mistake. For contests, type each result or place and then Finish contest.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an event’s last game, open Results and medals. Events that are complete say Ready to confirm. Check the suggested places, choose athletes for individual events, and save. The medal tally updates for everyone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most common messages. Each one tells you what to do next. If something else goes wrong, take a screenshot and send it to the technical lead.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everything you need to start. The user manuals have every step with screenshots. Thank you, and welcome to the newsroom.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1450" cy="68580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1428750"/>
            <a:ext cx="9525000" cy="285750"/>
          </a:xfrm>
          <a:prstGeom prst="rect">
            <a:avLst/>
          </a:prstGeom>
          <a:noFill/>
        </p:spPr>
        <p:txBody>
          <a:bodyPr wrap="square" lIns="19050" rIns="19050" tIns="0" bIns="0" anchor="t">
            <a:spAutoFit/>
          </a:bodyPr>
          <a:lstStyle/>
          <a:p>
            <a:pPr algn="l">
              <a:lnSpc>
                <a:spcPct val="115000"/>
              </a:lnSpc>
            </a:pPr>
            <a:r>
              <a:rPr sz="1400" b="1">
                <a:solidFill>
                  <a:srgbClr val="B5F000"/>
                </a:solidFill>
                <a:latin typeface="Arial"/>
              </a:rPr>
              <a:t>AMARANTH · TRAINING</a:t>
            </a:r>
          </a:p>
        </p:txBody>
      </p:sp>
      <p:sp>
        <p:nvSpPr>
          <p:cNvPr id="5" name="TextBox 4"/>
          <p:cNvSpPr txBox="1"/>
          <p:nvPr/>
        </p:nvSpPr>
        <p:spPr>
          <a:xfrm>
            <a:off x="857250" y="1905000"/>
            <a:ext cx="10477500" cy="180975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Amaranth Newsroom — Staff Training</a:t>
            </a:r>
          </a:p>
        </p:txBody>
      </p:sp>
      <p:sp>
        <p:nvSpPr>
          <p:cNvPr id="6" name="TextBox 5"/>
          <p:cNvSpPr txBox="1"/>
          <p:nvPr/>
        </p:nvSpPr>
        <p:spPr>
          <a:xfrm>
            <a:off x="857250" y="3810000"/>
            <a:ext cx="10477500" cy="85725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Step by step for writers, editors, managers and the Salingkusog team</a:t>
            </a:r>
          </a:p>
        </p:txBody>
      </p:sp>
      <p:sp>
        <p:nvSpPr>
          <p:cNvPr id="7" name="TextBox 6"/>
          <p:cNvSpPr txBox="1"/>
          <p:nvPr/>
        </p:nvSpPr>
        <p:spPr>
          <a:xfrm>
            <a:off x="857250" y="5334000"/>
            <a:ext cx="10477500" cy="666750"/>
          </a:xfrm>
          <a:prstGeom prst="rect">
            <a:avLst/>
          </a:prstGeom>
          <a:noFill/>
        </p:spPr>
        <p:txBody>
          <a:bodyPr wrap="square" lIns="19050" rIns="19050" tIns="0" bIns="0" anchor="t">
            <a:spAutoFit/>
          </a:bodyPr>
          <a:lstStyle/>
          <a:p>
            <a:pPr algn="l">
              <a:lnSpc>
                <a:spcPct val="115000"/>
              </a:lnSpc>
            </a:pPr>
            <a:r>
              <a:rPr sz="1400" b="0">
                <a:solidFill>
                  <a:srgbClr val="B8C7BC"/>
                </a:solidFill>
                <a:latin typeface="Arial"/>
              </a:rPr>
              <a:t>Version 1.0 · 2026-10-19</a:t>
            </a:r>
          </a:p>
        </p:txBody>
      </p:sp>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Staff Training</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Your role</a:t>
            </a:r>
          </a:p>
        </p:txBody>
      </p:sp>
      <p:graphicFrame>
        <p:nvGraphicFramePr>
          <p:cNvPr id="6" name="Table 5"/>
          <p:cNvGraphicFramePr>
            <a:graphicFrameLocks noGrp="1"/>
          </p:cNvGraphicFramePr>
          <p:nvPr/>
        </p:nvGraphicFramePr>
        <p:xfrm>
          <a:off x="666750" y="1143000"/>
          <a:ext cx="10858500" cy="2628900"/>
        </p:xfrm>
        <a:graphic>
          <a:graphicData uri="http://schemas.openxmlformats.org/drawingml/2006/table">
            <a:tbl>
              <a:tblPr firstRow="1" bandRow="1">
                <a:tableStyleId>{5C22544A-7EE6-4342-B048-85BDC9FD1C3A}</a:tableStyleId>
              </a:tblPr>
              <a:tblGrid>
                <a:gridCol w="4524375"/>
                <a:gridCol w="6334125"/>
              </a:tblGrid>
              <a:tr h="438150">
                <a:tc>
                  <a:txBody>
                    <a:bodyPr wrap="square"/>
                    <a:lstStyle/>
                    <a:p>
                      <a:r>
                        <a:rPr sz="2000" b="1">
                          <a:solidFill>
                            <a:srgbClr val="14361F"/>
                          </a:solidFill>
                          <a:latin typeface="Arial"/>
                        </a:rPr>
                        <a:t>Role</a:t>
                      </a:r>
                    </a:p>
                  </a:txBody>
                  <a:tcPr marL="76200" marR="76200" marT="57150" marB="57150">
                    <a:solidFill>
                      <a:srgbClr val="E8F1E9"/>
                    </a:solidFill>
                  </a:tcPr>
                </a:tc>
                <a:tc>
                  <a:txBody>
                    <a:bodyPr wrap="square"/>
                    <a:lstStyle/>
                    <a:p>
                      <a:r>
                        <a:rPr sz="2000" b="1">
                          <a:solidFill>
                            <a:srgbClr val="14361F"/>
                          </a:solidFill>
                          <a:latin typeface="Arial"/>
                        </a:rPr>
                        <a:t>You can</a:t>
                      </a:r>
                    </a:p>
                  </a:txBody>
                  <a:tcPr marL="76200" marR="76200" marT="57150" marB="57150">
                    <a:solidFill>
                      <a:srgbClr val="E8F1E9"/>
                    </a:solidFill>
                  </a:tcPr>
                </a:tc>
              </a:tr>
              <a:tr h="438150">
                <a:tc>
                  <a:txBody>
                    <a:bodyPr wrap="square"/>
                    <a:lstStyle/>
                    <a:p>
                      <a:r>
                        <a:rPr sz="2000" b="0">
                          <a:solidFill>
                            <a:srgbClr val="111A14"/>
                          </a:solidFill>
                          <a:latin typeface="Arial"/>
                        </a:rPr>
                        <a:t>Staff writer / Contributor</a:t>
                      </a:r>
                    </a:p>
                  </a:txBody>
                  <a:tcPr marL="76200" marR="76200" marT="57150" marB="57150">
                    <a:solidFill>
                      <a:srgbClr val="FFFFFF"/>
                    </a:solidFill>
                  </a:tcPr>
                </a:tc>
                <a:tc>
                  <a:txBody>
                    <a:bodyPr wrap="square"/>
                    <a:lstStyle/>
                    <a:p>
                      <a:r>
                        <a:rPr sz="2000" b="0">
                          <a:solidFill>
                            <a:srgbClr val="111A14"/>
                          </a:solidFill>
                          <a:latin typeface="Arial"/>
                        </a:rPr>
                        <a:t>Write drafts, submit for review</a:t>
                      </a:r>
                    </a:p>
                  </a:txBody>
                  <a:tcPr marL="76200" marR="76200" marT="57150" marB="57150">
                    <a:solidFill>
                      <a:srgbClr val="FFFFFF"/>
                    </a:solidFill>
                  </a:tcPr>
                </a:tc>
              </a:tr>
              <a:tr h="438150">
                <a:tc>
                  <a:txBody>
                    <a:bodyPr wrap="square"/>
                    <a:lstStyle/>
                    <a:p>
                      <a:r>
                        <a:rPr sz="2000" b="0">
                          <a:solidFill>
                            <a:srgbClr val="111A14"/>
                          </a:solidFill>
                          <a:latin typeface="Arial"/>
                        </a:rPr>
                        <a:t>Section editor</a:t>
                      </a:r>
                    </a:p>
                  </a:txBody>
                  <a:tcPr marL="76200" marR="76200" marT="57150" marB="57150">
                    <a:solidFill>
                      <a:srgbClr val="FFFFFF"/>
                    </a:solidFill>
                  </a:tcPr>
                </a:tc>
                <a:tc>
                  <a:txBody>
                    <a:bodyPr wrap="square"/>
                    <a:lstStyle/>
                    <a:p>
                      <a:r>
                        <a:rPr sz="2000" b="0">
                          <a:solidFill>
                            <a:srgbClr val="111A14"/>
                          </a:solidFill>
                          <a:latin typeface="Arial"/>
                        </a:rPr>
                        <a:t>+ review, edit and feature your sections</a:t>
                      </a:r>
                    </a:p>
                  </a:txBody>
                  <a:tcPr marL="76200" marR="76200" marT="57150" marB="57150">
                    <a:solidFill>
                      <a:srgbClr val="FFFFFF"/>
                    </a:solidFill>
                  </a:tcPr>
                </a:tc>
              </a:tr>
              <a:tr h="438150">
                <a:tc>
                  <a:txBody>
                    <a:bodyPr wrap="square"/>
                    <a:lstStyle/>
                    <a:p>
                      <a:r>
                        <a:rPr sz="2000" b="0">
                          <a:solidFill>
                            <a:srgbClr val="111A14"/>
                          </a:solidFill>
                          <a:latin typeface="Arial"/>
                        </a:rPr>
                        <a:t>Business Manager</a:t>
                      </a:r>
                    </a:p>
                  </a:txBody>
                  <a:tcPr marL="76200" marR="76200" marT="57150" marB="57150">
                    <a:solidFill>
                      <a:srgbClr val="FFFFFF"/>
                    </a:solidFill>
                  </a:tcPr>
                </a:tc>
                <a:tc>
                  <a:txBody>
                    <a:bodyPr wrap="square"/>
                    <a:lstStyle/>
                    <a:p>
                      <a:r>
                        <a:rPr sz="2000" b="0">
                          <a:solidFill>
                            <a:srgbClr val="111A14"/>
                          </a:solidFill>
                          <a:latin typeface="Arial"/>
                        </a:rPr>
                        <a:t>Write and publish</a:t>
                      </a:r>
                    </a:p>
                  </a:txBody>
                  <a:tcPr marL="76200" marR="76200" marT="57150" marB="57150">
                    <a:solidFill>
                      <a:srgbClr val="FFFFFF"/>
                    </a:solidFill>
                  </a:tcPr>
                </a:tc>
              </a:tr>
              <a:tr h="438150">
                <a:tc>
                  <a:txBody>
                    <a:bodyPr wrap="square"/>
                    <a:lstStyle/>
                    <a:p>
                      <a:r>
                        <a:rPr sz="2000" b="0">
                          <a:solidFill>
                            <a:srgbClr val="111A14"/>
                          </a:solidFill>
                          <a:latin typeface="Arial"/>
                        </a:rPr>
                        <a:t>Managing Editor</a:t>
                      </a:r>
                    </a:p>
                  </a:txBody>
                  <a:tcPr marL="76200" marR="76200" marT="57150" marB="57150">
                    <a:solidFill>
                      <a:srgbClr val="FFFFFF"/>
                    </a:solidFill>
                  </a:tcPr>
                </a:tc>
                <a:tc>
                  <a:txBody>
                    <a:bodyPr wrap="square"/>
                    <a:lstStyle/>
                    <a:p>
                      <a:r>
                        <a:rPr sz="2000" b="0">
                          <a:solidFill>
                            <a:srgbClr val="111A14"/>
                          </a:solidFill>
                          <a:latin typeface="Arial"/>
                        </a:rPr>
                        <a:t>+ publish, front page, statistics, team</a:t>
                      </a:r>
                    </a:p>
                  </a:txBody>
                  <a:tcPr marL="76200" marR="76200" marT="57150" marB="57150">
                    <a:solidFill>
                      <a:srgbClr val="FFFFFF"/>
                    </a:solidFill>
                  </a:tcPr>
                </a:tc>
              </a:tr>
              <a:tr h="438150">
                <a:tc>
                  <a:txBody>
                    <a:bodyPr wrap="square"/>
                    <a:lstStyle/>
                    <a:p>
                      <a:r>
                        <a:rPr sz="2000" b="0">
                          <a:solidFill>
                            <a:srgbClr val="111A14"/>
                          </a:solidFill>
                          <a:latin typeface="Arial"/>
                        </a:rPr>
                        <a:t>Executive Editor / Super admin</a:t>
                      </a:r>
                    </a:p>
                  </a:txBody>
                  <a:tcPr marL="76200" marR="76200" marT="57150" marB="57150">
                    <a:solidFill>
                      <a:srgbClr val="FFFFFF"/>
                    </a:solidFill>
                  </a:tcPr>
                </a:tc>
                <a:tc>
                  <a:txBody>
                    <a:bodyPr wrap="square"/>
                    <a:lstStyle/>
                    <a:p>
                      <a:r>
                        <a:rPr sz="2000" b="0">
                          <a:solidFill>
                            <a:srgbClr val="111A14"/>
                          </a:solidFill>
                          <a:latin typeface="Arial"/>
                        </a:rPr>
                        <a:t>+ staff, roles, settings</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1. Sign in</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5048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Go to /admin/login</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5048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Email + password → Sign in</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5048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Forgot password? Use the email link</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5048250" cy="6286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“Access pending” = ask the Executive Editor</a:t>
            </a:r>
          </a:p>
        </p:txBody>
      </p:sp>
      <p:pic>
        <p:nvPicPr>
          <p:cNvPr id="14" name="Picture 13" descr="crop-03.png"/>
          <p:cNvPicPr>
            <a:picLocks noChangeAspect="1"/>
          </p:cNvPicPr>
          <p:nvPr/>
        </p:nvPicPr>
        <p:blipFill>
          <a:blip r:embed="rId2"/>
          <a:stretch>
            <a:fillRect/>
          </a:stretch>
        </p:blipFill>
        <p:spPr>
          <a:xfrm>
            <a:off x="6286500" y="1223565"/>
            <a:ext cx="5238750" cy="5020468"/>
          </a:xfrm>
          <a:prstGeom prst="rect">
            <a:avLst/>
          </a:prstGeom>
        </p:spPr>
      </p:pic>
      <p:sp>
        <p:nvSpPr>
          <p:cNvPr id="15" name="Rectangle 14"/>
          <p:cNvSpPr/>
          <p:nvPr/>
        </p:nvSpPr>
        <p:spPr>
          <a:xfrm>
            <a:off x="6286500" y="1223565"/>
            <a:ext cx="5238750" cy="5020468"/>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2. The newsroom</a:t>
            </a:r>
          </a:p>
        </p:txBody>
      </p:sp>
      <p:pic>
        <p:nvPicPr>
          <p:cNvPr id="6" name="Picture 5" descr="adm-dashboard-writer.png"/>
          <p:cNvPicPr>
            <a:picLocks noChangeAspect="1"/>
          </p:cNvPicPr>
          <p:nvPr/>
        </p:nvPicPr>
        <p:blipFill>
          <a:blip r:embed="rId2"/>
          <a:stretch>
            <a:fillRect/>
          </a:stretch>
        </p:blipFill>
        <p:spPr>
          <a:xfrm>
            <a:off x="2225040" y="1143000"/>
            <a:ext cx="7741920" cy="4838700"/>
          </a:xfrm>
          <a:prstGeom prst="rect">
            <a:avLst/>
          </a:prstGeom>
        </p:spPr>
      </p:pic>
      <p:sp>
        <p:nvSpPr>
          <p:cNvPr id="7" name="Rectangle 6"/>
          <p:cNvSpPr/>
          <p:nvPr/>
        </p:nvSpPr>
        <p:spPr>
          <a:xfrm>
            <a:off x="2225040" y="1143000"/>
            <a:ext cx="7741920"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Dashboard and menu; you only see what your role allows</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3. Write a draft</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Articles → New article</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Choose a category; write title and body</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Add cover photo, tags, summary, SEO</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Autosaves every 2.5 seconds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4. Submit for review</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Click Submit for review (add a note)</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Locked while waiting</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Return to draft to withdraw</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Read your editor’s notes in Notes &amp; activity</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5. Review (Section editors)</a:t>
            </a:r>
          </a:p>
        </p:txBody>
      </p:sp>
      <p:pic>
        <p:nvPicPr>
          <p:cNvPr id="6" name="Picture 5" descr="adm-editor.png"/>
          <p:cNvPicPr>
            <a:picLocks noChangeAspect="1"/>
          </p:cNvPicPr>
          <p:nvPr/>
        </p:nvPicPr>
        <p:blipFill>
          <a:blip r:embed="rId2"/>
          <a:stretch>
            <a:fillRect/>
          </a:stretch>
        </p:blipFill>
        <p:spPr>
          <a:xfrm>
            <a:off x="2225040" y="1143000"/>
            <a:ext cx="7741920" cy="4838700"/>
          </a:xfrm>
          <a:prstGeom prst="rect">
            <a:avLst/>
          </a:prstGeom>
        </p:spPr>
      </p:pic>
      <p:sp>
        <p:nvSpPr>
          <p:cNvPr id="7" name="Rectangle 6"/>
          <p:cNvSpPr/>
          <p:nvPr/>
        </p:nvSpPr>
        <p:spPr>
          <a:xfrm>
            <a:off x="2225040" y="1143000"/>
            <a:ext cx="7741920"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Start review → Return to draft / Reject (note required) / Publish / Schedule</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6. Publish and schedule</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Publish = live now</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Schedule = pick a future time; goes live by itself</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Archive = take it off the site</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Not allowed? The newsroom says why</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7. Media library</a:t>
            </a:r>
          </a:p>
        </p:txBody>
      </p:sp>
      <p:pic>
        <p:nvPicPr>
          <p:cNvPr id="6" name="Picture 5" descr="crop-09.png"/>
          <p:cNvPicPr>
            <a:picLocks noChangeAspect="1"/>
          </p:cNvPicPr>
          <p:nvPr/>
        </p:nvPicPr>
        <p:blipFill>
          <a:blip r:embed="rId2"/>
          <a:stretch>
            <a:fillRect/>
          </a:stretch>
        </p:blipFill>
        <p:spPr>
          <a:xfrm>
            <a:off x="2784361" y="1143000"/>
            <a:ext cx="6623276" cy="3143250"/>
          </a:xfrm>
          <a:prstGeom prst="rect">
            <a:avLst/>
          </a:prstGeom>
        </p:spPr>
      </p:pic>
      <p:sp>
        <p:nvSpPr>
          <p:cNvPr id="7" name="Rectangle 6"/>
          <p:cNvSpPr/>
          <p:nvPr/>
        </p:nvSpPr>
        <p:spPr>
          <a:xfrm>
            <a:off x="2784361" y="1143000"/>
            <a:ext cx="6623276" cy="314325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100" y="46949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45720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Upload images (auto-compressed) and always add alt text</a:t>
            </a:r>
          </a:p>
        </p:txBody>
      </p:sp>
      <p:sp>
        <p:nvSpPr>
          <p:cNvPr id="10" name="Rectangle 9"/>
          <p:cNvSpPr/>
          <p:nvPr/>
        </p:nvSpPr>
        <p:spPr>
          <a:xfrm>
            <a:off x="800100" y="51838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50609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Images in use cannot be deleted</a:t>
            </a:r>
          </a:p>
        </p:txBody>
      </p:sp>
      <p:sp>
        <p:nvSpPr>
          <p:cNvPr id="12" name="TextBox 11"/>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3" name="TextBox 12"/>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8. Moderation (editors)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Settings → Comments: approve, reject, spam</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Settings → Inbox: contact messages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Submissions / Events: review, decline, convert</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Turn into an article → draft opens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9. Managers only</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Staff → Accounts: roles, activation, Can publish</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Settings → Front page: lead story, folio, ticker</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Statistics: readers, top articles, sources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Salingkusog → Team: who enters scores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10. Salingkusog scorekeeping</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Scores → pick the day → open the game</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Start game, tap scores, Finish game</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Reopen to fix a mistake</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Contests: enter times or places</a:t>
            </a:r>
          </a:p>
        </p:txBody>
      </p:sp>
      <p:pic>
        <p:nvPicPr>
          <p:cNvPr id="14" name="Picture 13" descr="adm-sk-scorekeeper-mobile.png"/>
          <p:cNvPicPr>
            <a:picLocks noChangeAspect="1"/>
          </p:cNvPicPr>
          <p:nvPr/>
        </p:nvPicPr>
        <p:blipFill>
          <a:blip r:embed="rId2"/>
          <a:stretch>
            <a:fillRect/>
          </a:stretch>
        </p:blipFill>
        <p:spPr>
          <a:xfrm>
            <a:off x="8184954" y="1143000"/>
            <a:ext cx="2394341" cy="5181600"/>
          </a:xfrm>
          <a:prstGeom prst="rect">
            <a:avLst/>
          </a:prstGeom>
        </p:spPr>
      </p:pic>
      <p:sp>
        <p:nvSpPr>
          <p:cNvPr id="15" name="Rectangle 14"/>
          <p:cNvSpPr/>
          <p:nvPr/>
        </p:nvSpPr>
        <p:spPr>
          <a:xfrm>
            <a:off x="818495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11. Confirm medals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Results &amp; medals → “Ready to confirm”</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Check places 1–3; choose athletes if individual</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Save results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The medal tally updates everywhere</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Messages you may see</a:t>
            </a:r>
          </a:p>
        </p:txBody>
      </p:sp>
      <p:graphicFrame>
        <p:nvGraphicFramePr>
          <p:cNvPr id="6" name="Table 5"/>
          <p:cNvGraphicFramePr>
            <a:graphicFrameLocks noGrp="1"/>
          </p:cNvGraphicFramePr>
          <p:nvPr/>
        </p:nvGraphicFramePr>
        <p:xfrm>
          <a:off x="666750" y="1143000"/>
          <a:ext cx="10858499" cy="2628900"/>
        </p:xfrm>
        <a:graphic>
          <a:graphicData uri="http://schemas.openxmlformats.org/drawingml/2006/table">
            <a:tbl>
              <a:tblPr firstRow="1" bandRow="1">
                <a:tableStyleId>{5C22544A-7EE6-4342-B048-85BDC9FD1C3A}</a:tableStyleId>
              </a:tblPr>
              <a:tblGrid>
                <a:gridCol w="5687785"/>
                <a:gridCol w="5170714"/>
              </a:tblGrid>
              <a:tr h="438150">
                <a:tc>
                  <a:txBody>
                    <a:bodyPr wrap="square"/>
                    <a:lstStyle/>
                    <a:p>
                      <a:r>
                        <a:rPr sz="2000" b="1">
                          <a:solidFill>
                            <a:srgbClr val="14361F"/>
                          </a:solidFill>
                          <a:latin typeface="Arial"/>
                        </a:rPr>
                        <a:t>Message</a:t>
                      </a:r>
                    </a:p>
                  </a:txBody>
                  <a:tcPr marL="76200" marR="76200" marT="57150" marB="57150">
                    <a:solidFill>
                      <a:srgbClr val="E8F1E9"/>
                    </a:solidFill>
                  </a:tcPr>
                </a:tc>
                <a:tc>
                  <a:txBody>
                    <a:bodyPr wrap="square"/>
                    <a:lstStyle/>
                    <a:p>
                      <a:r>
                        <a:rPr sz="2000" b="1">
                          <a:solidFill>
                            <a:srgbClr val="14361F"/>
                          </a:solidFill>
                          <a:latin typeface="Arial"/>
                        </a:rPr>
                        <a:t>What to do</a:t>
                      </a:r>
                    </a:p>
                  </a:txBody>
                  <a:tcPr marL="76200" marR="76200" marT="57150" marB="57150">
                    <a:solidFill>
                      <a:srgbClr val="E8F1E9"/>
                    </a:solidFill>
                  </a:tcPr>
                </a:tc>
              </a:tr>
              <a:tr h="438150">
                <a:tc>
                  <a:txBody>
                    <a:bodyPr wrap="square"/>
                    <a:lstStyle/>
                    <a:p>
                      <a:r>
                        <a:rPr sz="2000" b="0">
                          <a:solidFill>
                            <a:srgbClr val="111A14"/>
                          </a:solidFill>
                          <a:latin typeface="Arial"/>
                        </a:rPr>
                        <a:t>This article is locked…</a:t>
                      </a:r>
                    </a:p>
                  </a:txBody>
                  <a:tcPr marL="76200" marR="76200" marT="57150" marB="57150">
                    <a:solidFill>
                      <a:srgbClr val="FFFFFF"/>
                    </a:solidFill>
                  </a:tcPr>
                </a:tc>
                <a:tc>
                  <a:txBody>
                    <a:bodyPr wrap="square"/>
                    <a:lstStyle/>
                    <a:p>
                      <a:r>
                        <a:rPr sz="2000" b="0">
                          <a:solidFill>
                            <a:srgbClr val="111A14"/>
                          </a:solidFill>
                          <a:latin typeface="Arial"/>
                        </a:rPr>
                        <a:t>Wait for the editor or withdraw</a:t>
                      </a:r>
                    </a:p>
                  </a:txBody>
                  <a:tcPr marL="76200" marR="76200" marT="57150" marB="57150">
                    <a:solidFill>
                      <a:srgbClr val="FFFFFF"/>
                    </a:solidFill>
                  </a:tcPr>
                </a:tc>
              </a:tr>
              <a:tr h="438150">
                <a:tc>
                  <a:txBody>
                    <a:bodyPr wrap="square"/>
                    <a:lstStyle/>
                    <a:p>
                      <a:r>
                        <a:rPr sz="2000" b="0">
                          <a:solidFill>
                            <a:srgbClr val="111A14"/>
                          </a:solidFill>
                          <a:latin typeface="Arial"/>
                        </a:rPr>
                        <a:t>Category reserved for editors</a:t>
                      </a:r>
                    </a:p>
                  </a:txBody>
                  <a:tcPr marL="76200" marR="76200" marT="57150" marB="57150">
                    <a:solidFill>
                      <a:srgbClr val="FFFFFF"/>
                    </a:solidFill>
                  </a:tcPr>
                </a:tc>
                <a:tc>
                  <a:txBody>
                    <a:bodyPr wrap="square"/>
                    <a:lstStyle/>
                    <a:p>
                      <a:r>
                        <a:rPr sz="2000" b="0">
                          <a:solidFill>
                            <a:srgbClr val="111A14"/>
                          </a:solidFill>
                          <a:latin typeface="Arial"/>
                        </a:rPr>
                        <a:t>Pick another category</a:t>
                      </a:r>
                    </a:p>
                  </a:txBody>
                  <a:tcPr marL="76200" marR="76200" marT="57150" marB="57150">
                    <a:solidFill>
                      <a:srgbClr val="FFFFFF"/>
                    </a:solidFill>
                  </a:tcPr>
                </a:tc>
              </a:tr>
              <a:tr h="438150">
                <a:tc>
                  <a:txBody>
                    <a:bodyPr wrap="square"/>
                    <a:lstStyle/>
                    <a:p>
                      <a:r>
                        <a:rPr sz="2000" b="0">
                          <a:solidFill>
                            <a:srgbClr val="111A14"/>
                          </a:solidFill>
                          <a:latin typeface="Arial"/>
                        </a:rPr>
                        <a:t>Pick a future time to schedule</a:t>
                      </a:r>
                    </a:p>
                  </a:txBody>
                  <a:tcPr marL="76200" marR="76200" marT="57150" marB="57150">
                    <a:solidFill>
                      <a:srgbClr val="FFFFFF"/>
                    </a:solidFill>
                  </a:tcPr>
                </a:tc>
                <a:tc>
                  <a:txBody>
                    <a:bodyPr wrap="square"/>
                    <a:lstStyle/>
                    <a:p>
                      <a:r>
                        <a:rPr sz="2000" b="0">
                          <a:solidFill>
                            <a:srgbClr val="111A14"/>
                          </a:solidFill>
                          <a:latin typeface="Arial"/>
                        </a:rPr>
                        <a:t>Choose a later time</a:t>
                      </a:r>
                    </a:p>
                  </a:txBody>
                  <a:tcPr marL="76200" marR="76200" marT="57150" marB="57150">
                    <a:solidFill>
                      <a:srgbClr val="FFFFFF"/>
                    </a:solidFill>
                  </a:tcPr>
                </a:tc>
              </a:tr>
              <a:tr h="438150">
                <a:tc>
                  <a:txBody>
                    <a:bodyPr wrap="square"/>
                    <a:lstStyle/>
                    <a:p>
                      <a:r>
                        <a:rPr sz="2000" b="0">
                          <a:solidFill>
                            <a:srgbClr val="111A14"/>
                          </a:solidFill>
                          <a:latin typeface="Arial"/>
                        </a:rPr>
                        <a:t>A knockout game needs a winner</a:t>
                      </a:r>
                    </a:p>
                  </a:txBody>
                  <a:tcPr marL="76200" marR="76200" marT="57150" marB="57150">
                    <a:solidFill>
                      <a:srgbClr val="FFFFFF"/>
                    </a:solidFill>
                  </a:tcPr>
                </a:tc>
                <a:tc>
                  <a:txBody>
                    <a:bodyPr wrap="square"/>
                    <a:lstStyle/>
                    <a:p>
                      <a:r>
                        <a:rPr sz="2000" b="0">
                          <a:solidFill>
                            <a:srgbClr val="111A14"/>
                          </a:solidFill>
                          <a:latin typeface="Arial"/>
                        </a:rPr>
                        <a:t>Add the tiebreak to the score</a:t>
                      </a:r>
                    </a:p>
                  </a:txBody>
                  <a:tcPr marL="76200" marR="76200" marT="57150" marB="57150">
                    <a:solidFill>
                      <a:srgbClr val="FFFFFF"/>
                    </a:solidFill>
                  </a:tcPr>
                </a:tc>
              </a:tr>
              <a:tr h="438150">
                <a:tc>
                  <a:txBody>
                    <a:bodyPr wrap="square"/>
                    <a:lstStyle/>
                    <a:p>
                      <a:r>
                        <a:rPr sz="2000" b="0">
                          <a:solidFill>
                            <a:srgbClr val="111A14"/>
                          </a:solidFill>
                          <a:latin typeface="Arial"/>
                        </a:rPr>
                        <a:t>Enter every result first</a:t>
                      </a:r>
                    </a:p>
                  </a:txBody>
                  <a:tcPr marL="76200" marR="76200" marT="57150" marB="57150">
                    <a:solidFill>
                      <a:srgbClr val="FFFFFF"/>
                    </a:solidFill>
                  </a:tcPr>
                </a:tc>
                <a:tc>
                  <a:txBody>
                    <a:bodyPr wrap="square"/>
                    <a:lstStyle/>
                    <a:p>
                      <a:r>
                        <a:rPr sz="2000" b="0">
                          <a:solidFill>
                            <a:srgbClr val="111A14"/>
                          </a:solidFill>
                          <a:latin typeface="Arial"/>
                        </a:rPr>
                        <a:t>Fill results or mark DNS/DNF/DQ</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Staff Training</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7250" y="2095500"/>
            <a:ext cx="10477500" cy="114300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You are ready</a:t>
            </a:r>
          </a:p>
        </p:txBody>
      </p:sp>
      <p:sp>
        <p:nvSpPr>
          <p:cNvPr id="4" name="TextBox 3"/>
          <p:cNvSpPr txBox="1"/>
          <p:nvPr/>
        </p:nvSpPr>
        <p:spPr>
          <a:xfrm>
            <a:off x="857250" y="3333750"/>
            <a:ext cx="10477500" cy="152400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Manuals: AMR-DOC-11a (managers) · 11b (editors and staff) · 11c (Salingkusog team)</a:t>
            </a:r>
          </a:p>
        </p:txBody>
      </p:sp>
      <p:sp>
        <p:nvSpPr>
          <p:cNvPr id="5" name="TextBox 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Staff Training</a:t>
            </a:r>
          </a:p>
        </p:txBody>
      </p:sp>
      <p:sp>
        <p:nvSpPr>
          <p:cNvPr id="6" name="TextBox 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
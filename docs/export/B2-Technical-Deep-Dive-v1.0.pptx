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for a technical audience: panel members, the adviser or future maintainers. We go deeper into the architecture, the data model, how permissions are enforced, how the medal table is computed, how real-time updates work, and how the system is deployed.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browser holds the session token and calls Supabase directly. Because the database enforces row level security, a forged request from the browser has no more power than the interface. Vercel functions are used only where a secret key is needed, where edge caching helps, or for crawlers.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layer has one job. The presentation layer only shows or hides things; data access goes through TanStack Query hooks; the edge layer is stateless and holds the secrets; and the data layer is the source of truth for every rule. Dependencies only point downwards.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Deployment uses two managed platforms. Vercel serves the static bundle from its CDN, runs six Node functions and the crawler middleware. Supabase provides PostgREST, Auth, Storage, Realtime and the PostgreSQL database with the pg_cron extension for the nightly statistics job.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look at the data model, which is where most of the system’s rules live.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twenty-nine newsroom tables, twelve for Salingkusog and nine for statistics, with nineteen enums so invalid states cannot be stored, and sixty indexes for the main access paths. The three SQL files are idempotent; our test runner applies each file twice before testing.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Transactional tables are in third normal form. Where we denormalise, for example copying the edition id onto Salingkusog rows or deriving the section from the category, the database maintains it with triggers or generated columns and composite foreign keys. Results like the medal table are views. Helper functions live in a private schema.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content core, generated from the SQL. Articles belong to a category, which determines the section. Authors are contributors through a link table. Revisions and activity give the history, and comments keep the private email in a separate table so row level security can protect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permission model, which is the heart of the security design.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Policies never list roles directly. They call helper functions in the private app schema. That is why adding the Business Manager role or per-person publishing access was a one-function change, verified by SQL tests. The helpers are security definer, stable, and use an empty search path.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one rule traced through every layer. Row level security decides which rows a writer can update at all; the trigger decides whether the status change is allowed; the RPC adds the note; the interface hides the button; and a SQL test proves the database refuses it even when called directly.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state machine. Owners and editors move articles between draft, submitted and rejected; editors start reviews; only publishers move into scheduled, published or archived. Scheduled articles become visible when the publish time passes, because public reads filter with is_live.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how Salingkusog results become the official medal table, and how tied rankings are resolved.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view counts medals per faction and multiplies by the edition’s points, five, three and one by default. Faction A and B both have eleven points, but A has more golds, so A ranks first. Placements are guarded by a check constraint so a place can only carry its own medal.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schedule creates games whose sides have sources. After any change to a game, a trigger calls sk_resolve for that event, which recomputes every generated side from scratch. It refuses to alter a game that has already started, and a separate trigger refuses to finish a knockout game tied.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 robin standings use the same tie-break order in SQL and in TypeScript, and both are tested. Contests reuse the match table for scheduling and status, with entries holding each faction’s result or judged place. Medals are suggested from the games but only count once staff save them.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how live scores reach readers within seconds, and what happens when the realtime connection drops.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tap on the scorekeeper updates the screen immediately and saves after a short pause. The update runs the triggers, then Supabase Realtime streams the change to every open page subscribed to that edition. Pages refetch only the affected queries. A sixty-second poll is the fallback.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server-side pieces deserve a closer look: the edge cache, the form gateway and the statistics ingest.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forms go through slash api slash submit. The server verifies the Turnstile token, issues one-time signed upload links for attachments, and returns a ticket signed with HMAC that binds the form content and expires in thirty minutes. Only then does it call the form RPC with the service key.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edge cache serves signed-out readers from Vercel’s CDN for up to a minute, which removes a preflight request and protects the database during spikes. The statistics endpoint strips identifying data before calling the database, and the nightly job rolls up and deletes old raw events.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deploys from the main branch through Vercel; every branch gets a preview. Database changes are re-runnable SQL pasted in a fixed order. Before every merge we run the check script and the database tests. Rollback means promoting the previous Vercel deployment and re-running the previous SQL.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concludes the technical deep-dive. The architecture document, the database design with the full data dictionary, and the API reference contain every detail we summarised here. We are happy to take technical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1450" cy="68580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7250" y="1428750"/>
            <a:ext cx="9525000" cy="285750"/>
          </a:xfrm>
          <a:prstGeom prst="rect">
            <a:avLst/>
          </a:prstGeom>
          <a:noFill/>
        </p:spPr>
        <p:txBody>
          <a:bodyPr wrap="square" lIns="19050" rIns="19050" tIns="0" bIns="0" anchor="t">
            <a:spAutoFit/>
          </a:bodyPr>
          <a:lstStyle/>
          <a:p>
            <a:pPr algn="l">
              <a:lnSpc>
                <a:spcPct val="115000"/>
              </a:lnSpc>
            </a:pPr>
            <a:r>
              <a:rPr sz="1400" b="1">
                <a:solidFill>
                  <a:srgbClr val="B5F000"/>
                </a:solidFill>
                <a:latin typeface="Arial"/>
              </a:rPr>
              <a:t>AMARANTH · TECHNICAL REVIEW</a:t>
            </a:r>
          </a:p>
        </p:txBody>
      </p:sp>
      <p:sp>
        <p:nvSpPr>
          <p:cNvPr id="5" name="TextBox 4"/>
          <p:cNvSpPr txBox="1"/>
          <p:nvPr/>
        </p:nvSpPr>
        <p:spPr>
          <a:xfrm>
            <a:off x="857250" y="1905000"/>
            <a:ext cx="10477500" cy="1809750"/>
          </a:xfrm>
          <a:prstGeom prst="rect">
            <a:avLst/>
          </a:prstGeom>
          <a:noFill/>
        </p:spPr>
        <p:txBody>
          <a:bodyPr wrap="square" lIns="19050" rIns="19050" tIns="0" bIns="0" anchor="t">
            <a:spAutoFit/>
          </a:bodyPr>
          <a:lstStyle/>
          <a:p>
            <a:pPr algn="l">
              <a:lnSpc>
                <a:spcPct val="115000"/>
              </a:lnSpc>
            </a:pPr>
            <a:r>
              <a:rPr sz="4400" b="1">
                <a:solidFill>
                  <a:srgbClr val="FFFFFF"/>
                </a:solidFill>
                <a:latin typeface="Arial"/>
              </a:rPr>
              <a:t>Amaranth v2 — Technical Deep-Dive</a:t>
            </a:r>
          </a:p>
        </p:txBody>
      </p:sp>
      <p:sp>
        <p:nvSpPr>
          <p:cNvPr id="6" name="TextBox 5"/>
          <p:cNvSpPr txBox="1"/>
          <p:nvPr/>
        </p:nvSpPr>
        <p:spPr>
          <a:xfrm>
            <a:off x="857250" y="3810000"/>
            <a:ext cx="10477500" cy="857250"/>
          </a:xfrm>
          <a:prstGeom prst="rect">
            <a:avLst/>
          </a:prstGeom>
          <a:noFill/>
        </p:spPr>
        <p:txBody>
          <a:bodyPr wrap="square" lIns="19050" rIns="19050" tIns="0" bIns="0" anchor="t">
            <a:spAutoFit/>
          </a:bodyPr>
          <a:lstStyle/>
          <a:p>
            <a:pPr algn="l">
              <a:lnSpc>
                <a:spcPct val="115000"/>
              </a:lnSpc>
            </a:pPr>
            <a:r>
              <a:rPr sz="2200" b="0">
                <a:solidFill>
                  <a:srgbClr val="D9E8B0"/>
                </a:solidFill>
                <a:latin typeface="Arial"/>
              </a:rPr>
              <a:t>Architecture, data model, RLS and RBAC, the medal computation, real-time updates and deployment</a:t>
            </a:r>
          </a:p>
        </p:txBody>
      </p:sp>
      <p:sp>
        <p:nvSpPr>
          <p:cNvPr id="7" name="TextBox 6"/>
          <p:cNvSpPr txBox="1"/>
          <p:nvPr/>
        </p:nvSpPr>
        <p:spPr>
          <a:xfrm>
            <a:off x="857250" y="5334000"/>
            <a:ext cx="10477500" cy="666750"/>
          </a:xfrm>
          <a:prstGeom prst="rect">
            <a:avLst/>
          </a:prstGeom>
          <a:noFill/>
        </p:spPr>
        <p:txBody>
          <a:bodyPr wrap="square" lIns="19050" rIns="19050" tIns="0" bIns="0" anchor="t">
            <a:spAutoFit/>
          </a:bodyPr>
          <a:lstStyle/>
          <a:p>
            <a:pPr algn="l">
              <a:lnSpc>
                <a:spcPct val="115000"/>
              </a:lnSpc>
            </a:pPr>
            <a:r>
              <a:rPr sz="1400" b="0">
                <a:solidFill>
                  <a:srgbClr val="B8C7BC"/>
                </a:solidFill>
                <a:latin typeface="Arial"/>
              </a:rPr>
              <a:t>Version 1.0 · 2026-10-19 · [TO CONFIRM: presenters]</a:t>
            </a:r>
          </a:p>
        </p:txBody>
      </p:sp>
      <p:sp>
        <p:nvSpPr>
          <p:cNvPr id="8" name="TextBox 7"/>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Technical Deep-Dive</a:t>
            </a:r>
          </a:p>
        </p:txBody>
      </p:sp>
      <p:sp>
        <p:nvSpPr>
          <p:cNvPr id="9" name="TextBox 8"/>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Architecture overview</a:t>
            </a:r>
          </a:p>
        </p:txBody>
      </p:sp>
      <p:pic>
        <p:nvPicPr>
          <p:cNvPr id="6" name="Picture 5" descr="slide-arch.png"/>
          <p:cNvPicPr>
            <a:picLocks noChangeAspect="1"/>
          </p:cNvPicPr>
          <p:nvPr/>
        </p:nvPicPr>
        <p:blipFill>
          <a:blip r:embed="rId2"/>
          <a:stretch>
            <a:fillRect/>
          </a:stretch>
        </p:blipFill>
        <p:spPr>
          <a:xfrm>
            <a:off x="1736410" y="1143000"/>
            <a:ext cx="8719178" cy="2476500"/>
          </a:xfrm>
          <a:prstGeom prst="rect">
            <a:avLst/>
          </a:prstGeom>
        </p:spPr>
      </p:pic>
      <p:sp>
        <p:nvSpPr>
          <p:cNvPr id="7" name="Rectangle 6"/>
          <p:cNvSpPr/>
          <p:nvPr/>
        </p:nvSpPr>
        <p:spPr>
          <a:xfrm>
            <a:off x="800100" y="402818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7750" y="390525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Thick client: React talks to PostgREST with the user’s JWT</a:t>
            </a:r>
          </a:p>
        </p:txBody>
      </p:sp>
      <p:sp>
        <p:nvSpPr>
          <p:cNvPr id="9" name="Rectangle 8"/>
          <p:cNvSpPr/>
          <p:nvPr/>
        </p:nvSpPr>
        <p:spPr>
          <a:xfrm>
            <a:off x="800100" y="451713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7750" y="439420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Database = security boundary</a:t>
            </a:r>
          </a:p>
        </p:txBody>
      </p:sp>
      <p:sp>
        <p:nvSpPr>
          <p:cNvPr id="11" name="Rectangle 10"/>
          <p:cNvSpPr/>
          <p:nvPr/>
        </p:nvSpPr>
        <p:spPr>
          <a:xfrm>
            <a:off x="800100" y="5006085"/>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7750" y="488315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Vercel functions only for secrets, cache, SEO</a:t>
            </a:r>
          </a:p>
        </p:txBody>
      </p:sp>
      <p:sp>
        <p:nvSpPr>
          <p:cNvPr id="13" name="TextBox 12"/>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Technical Deep-Dive</a:t>
            </a:r>
          </a:p>
        </p:txBody>
      </p:sp>
      <p:sp>
        <p:nvSpPr>
          <p:cNvPr id="14" name="TextBox 13"/>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Layers and responsibilities</a:t>
            </a:r>
          </a:p>
        </p:txBody>
      </p:sp>
      <p:graphicFrame>
        <p:nvGraphicFramePr>
          <p:cNvPr id="6" name="Table 5"/>
          <p:cNvGraphicFramePr>
            <a:graphicFrameLocks noGrp="1"/>
          </p:cNvGraphicFramePr>
          <p:nvPr/>
        </p:nvGraphicFramePr>
        <p:xfrm>
          <a:off x="666750" y="1143000"/>
          <a:ext cx="10858499" cy="2628900"/>
        </p:xfrm>
        <a:graphic>
          <a:graphicData uri="http://schemas.openxmlformats.org/drawingml/2006/table">
            <a:tbl>
              <a:tblPr firstRow="1" bandRow="1">
                <a:tableStyleId>{5C22544A-7EE6-4342-B048-85BDC9FD1C3A}</a:tableStyleId>
              </a:tblPr>
              <a:tblGrid>
                <a:gridCol w="2621017"/>
                <a:gridCol w="4867603"/>
                <a:gridCol w="3369879"/>
              </a:tblGrid>
              <a:tr h="438150">
                <a:tc>
                  <a:txBody>
                    <a:bodyPr wrap="square"/>
                    <a:lstStyle/>
                    <a:p>
                      <a:r>
                        <a:rPr sz="2000" b="1">
                          <a:solidFill>
                            <a:srgbClr val="14361F"/>
                          </a:solidFill>
                          <a:latin typeface="Arial"/>
                        </a:rPr>
                        <a:t>Layer</a:t>
                      </a:r>
                    </a:p>
                  </a:txBody>
                  <a:tcPr marL="76200" marR="76200" marT="57150" marB="57150">
                    <a:solidFill>
                      <a:srgbClr val="E8F1E9"/>
                    </a:solidFill>
                  </a:tcPr>
                </a:tc>
                <a:tc>
                  <a:txBody>
                    <a:bodyPr wrap="square"/>
                    <a:lstStyle/>
                    <a:p>
                      <a:r>
                        <a:rPr sz="2000" b="1">
                          <a:solidFill>
                            <a:srgbClr val="14361F"/>
                          </a:solidFill>
                          <a:latin typeface="Arial"/>
                        </a:rPr>
                        <a:t>Contents</a:t>
                      </a:r>
                    </a:p>
                  </a:txBody>
                  <a:tcPr marL="76200" marR="76200" marT="57150" marB="57150">
                    <a:solidFill>
                      <a:srgbClr val="E8F1E9"/>
                    </a:solidFill>
                  </a:tcPr>
                </a:tc>
                <a:tc>
                  <a:txBody>
                    <a:bodyPr wrap="square"/>
                    <a:lstStyle/>
                    <a:p>
                      <a:r>
                        <a:rPr sz="2000" b="1">
                          <a:solidFill>
                            <a:srgbClr val="14361F"/>
                          </a:solidFill>
                          <a:latin typeface="Arial"/>
                        </a:rPr>
                        <a:t>Rule</a:t>
                      </a:r>
                    </a:p>
                  </a:txBody>
                  <a:tcPr marL="76200" marR="76200" marT="57150" marB="57150">
                    <a:solidFill>
                      <a:srgbClr val="E8F1E9"/>
                    </a:solidFill>
                  </a:tcPr>
                </a:tc>
              </a:tr>
              <a:tr h="438150">
                <a:tc>
                  <a:txBody>
                    <a:bodyPr wrap="square"/>
                    <a:lstStyle/>
                    <a:p>
                      <a:r>
                        <a:rPr sz="2000" b="0">
                          <a:solidFill>
                            <a:srgbClr val="111A14"/>
                          </a:solidFill>
                          <a:latin typeface="Arial"/>
                        </a:rPr>
                        <a:t>Presentation</a:t>
                      </a:r>
                    </a:p>
                  </a:txBody>
                  <a:tcPr marL="76200" marR="76200" marT="57150" marB="57150">
                    <a:solidFill>
                      <a:srgbClr val="FFFFFF"/>
                    </a:solidFill>
                  </a:tcPr>
                </a:tc>
                <a:tc>
                  <a:txBody>
                    <a:bodyPr wrap="square"/>
                    <a:lstStyle/>
                    <a:p>
                      <a:r>
                        <a:rPr sz="2000" b="0">
                          <a:solidFill>
                            <a:srgbClr val="111A14"/>
                          </a:solidFill>
                          <a:latin typeface="Arial"/>
                        </a:rPr>
                        <a:t>React pages, components</a:t>
                      </a:r>
                    </a:p>
                  </a:txBody>
                  <a:tcPr marL="76200" marR="76200" marT="57150" marB="57150">
                    <a:solidFill>
                      <a:srgbClr val="FFFFFF"/>
                    </a:solidFill>
                  </a:tcPr>
                </a:tc>
                <a:tc>
                  <a:txBody>
                    <a:bodyPr wrap="square"/>
                    <a:lstStyle/>
                    <a:p>
                      <a:r>
                        <a:rPr sz="2000" b="0">
                          <a:solidFill>
                            <a:srgbClr val="111A14"/>
                          </a:solidFill>
                          <a:latin typeface="Arial"/>
                        </a:rPr>
                        <a:t>Shows/hides only</a:t>
                      </a:r>
                    </a:p>
                  </a:txBody>
                  <a:tcPr marL="76200" marR="76200" marT="57150" marB="57150">
                    <a:solidFill>
                      <a:srgbClr val="FFFFFF"/>
                    </a:solidFill>
                  </a:tcPr>
                </a:tc>
              </a:tr>
              <a:tr h="438150">
                <a:tc>
                  <a:txBody>
                    <a:bodyPr wrap="square"/>
                    <a:lstStyle/>
                    <a:p>
                      <a:r>
                        <a:rPr sz="2000" b="0">
                          <a:solidFill>
                            <a:srgbClr val="111A14"/>
                          </a:solidFill>
                          <a:latin typeface="Arial"/>
                        </a:rPr>
                        <a:t>Client data</a:t>
                      </a:r>
                    </a:p>
                  </a:txBody>
                  <a:tcPr marL="76200" marR="76200" marT="57150" marB="57150">
                    <a:solidFill>
                      <a:srgbClr val="FFFFFF"/>
                    </a:solidFill>
                  </a:tcPr>
                </a:tc>
                <a:tc>
                  <a:txBody>
                    <a:bodyPr wrap="square"/>
                    <a:lstStyle/>
                    <a:p>
                      <a:r>
                        <a:rPr sz="2000" b="0">
                          <a:solidFill>
                            <a:srgbClr val="111A14"/>
                          </a:solidFill>
                          <a:latin typeface="Arial"/>
                        </a:rPr>
                        <a:t>TanStack Query hooks, supabase-js</a:t>
                      </a:r>
                    </a:p>
                  </a:txBody>
                  <a:tcPr marL="76200" marR="76200" marT="57150" marB="57150">
                    <a:solidFill>
                      <a:srgbClr val="FFFFFF"/>
                    </a:solidFill>
                  </a:tcPr>
                </a:tc>
                <a:tc>
                  <a:txBody>
                    <a:bodyPr wrap="square"/>
                    <a:lstStyle/>
                    <a:p>
                      <a:r>
                        <a:rPr sz="2000" b="0">
                          <a:solidFill>
                            <a:srgbClr val="111A14"/>
                          </a:solidFill>
                          <a:latin typeface="Arial"/>
                        </a:rPr>
                        <a:t>All I/O via hooks</a:t>
                      </a:r>
                    </a:p>
                  </a:txBody>
                  <a:tcPr marL="76200" marR="76200" marT="57150" marB="57150">
                    <a:solidFill>
                      <a:srgbClr val="FFFFFF"/>
                    </a:solidFill>
                  </a:tcPr>
                </a:tc>
              </a:tr>
              <a:tr h="438150">
                <a:tc>
                  <a:txBody>
                    <a:bodyPr wrap="square"/>
                    <a:lstStyle/>
                    <a:p>
                      <a:r>
                        <a:rPr sz="2000" b="0">
                          <a:solidFill>
                            <a:srgbClr val="111A14"/>
                          </a:solidFill>
                          <a:latin typeface="Arial"/>
                        </a:rPr>
                        <a:t>Edge / server</a:t>
                      </a:r>
                    </a:p>
                  </a:txBody>
                  <a:tcPr marL="76200" marR="76200" marT="57150" marB="57150">
                    <a:solidFill>
                      <a:srgbClr val="FFFFFF"/>
                    </a:solidFill>
                  </a:tcPr>
                </a:tc>
                <a:tc>
                  <a:txBody>
                    <a:bodyPr wrap="square"/>
                    <a:lstStyle/>
                    <a:p>
                      <a:r>
                        <a:rPr sz="2000" b="0">
                          <a:solidFill>
                            <a:srgbClr val="111A14"/>
                          </a:solidFill>
                          <a:latin typeface="Arial"/>
                        </a:rPr>
                        <a:t>api/*.ts, middleware.ts</a:t>
                      </a:r>
                    </a:p>
                  </a:txBody>
                  <a:tcPr marL="76200" marR="76200" marT="57150" marB="57150">
                    <a:solidFill>
                      <a:srgbClr val="FFFFFF"/>
                    </a:solidFill>
                  </a:tcPr>
                </a:tc>
                <a:tc>
                  <a:txBody>
                    <a:bodyPr wrap="square"/>
                    <a:lstStyle/>
                    <a:p>
                      <a:r>
                        <a:rPr sz="2000" b="0">
                          <a:solidFill>
                            <a:srgbClr val="111A14"/>
                          </a:solidFill>
                          <a:latin typeface="Arial"/>
                        </a:rPr>
                        <a:t>Stateless; secrets here</a:t>
                      </a:r>
                    </a:p>
                  </a:txBody>
                  <a:tcPr marL="76200" marR="76200" marT="57150" marB="57150">
                    <a:solidFill>
                      <a:srgbClr val="FFFFFF"/>
                    </a:solidFill>
                  </a:tcPr>
                </a:tc>
              </a:tr>
              <a:tr h="438150">
                <a:tc>
                  <a:txBody>
                    <a:bodyPr wrap="square"/>
                    <a:lstStyle/>
                    <a:p>
                      <a:r>
                        <a:rPr sz="2000" b="0">
                          <a:solidFill>
                            <a:srgbClr val="111A14"/>
                          </a:solidFill>
                          <a:latin typeface="Arial"/>
                        </a:rPr>
                        <a:t>Data and rules</a:t>
                      </a:r>
                    </a:p>
                  </a:txBody>
                  <a:tcPr marL="76200" marR="76200" marT="57150" marB="57150">
                    <a:solidFill>
                      <a:srgbClr val="FFFFFF"/>
                    </a:solidFill>
                  </a:tcPr>
                </a:tc>
                <a:tc>
                  <a:txBody>
                    <a:bodyPr wrap="square"/>
                    <a:lstStyle/>
                    <a:p>
                      <a:r>
                        <a:rPr sz="2000" b="0">
                          <a:solidFill>
                            <a:srgbClr val="111A14"/>
                          </a:solidFill>
                          <a:latin typeface="Arial"/>
                        </a:rPr>
                        <a:t>Tables, RLS, triggers, RPCs, views</a:t>
                      </a:r>
                    </a:p>
                  </a:txBody>
                  <a:tcPr marL="76200" marR="76200" marT="57150" marB="57150">
                    <a:solidFill>
                      <a:srgbClr val="FFFFFF"/>
                    </a:solidFill>
                  </a:tcPr>
                </a:tc>
                <a:tc>
                  <a:txBody>
                    <a:bodyPr wrap="square"/>
                    <a:lstStyle/>
                    <a:p>
                      <a:r>
                        <a:rPr sz="2000" b="0">
                          <a:solidFill>
                            <a:srgbClr val="111A14"/>
                          </a:solidFill>
                          <a:latin typeface="Arial"/>
                        </a:rPr>
                        <a:t>Source of truth</a:t>
                      </a:r>
                    </a:p>
                  </a:txBody>
                  <a:tcPr marL="76200" marR="76200" marT="57150" marB="57150">
                    <a:solidFill>
                      <a:srgbClr val="FFFFFF"/>
                    </a:solidFill>
                  </a:tcPr>
                </a:tc>
              </a:tr>
              <a:tr h="438150">
                <a:tc>
                  <a:txBody>
                    <a:bodyPr wrap="square"/>
                    <a:lstStyle/>
                    <a:p>
                      <a:r>
                        <a:rPr sz="2000" b="0">
                          <a:solidFill>
                            <a:srgbClr val="111A14"/>
                          </a:solidFill>
                          <a:latin typeface="Arial"/>
                        </a:rPr>
                        <a:t>Platform</a:t>
                      </a:r>
                    </a:p>
                  </a:txBody>
                  <a:tcPr marL="76200" marR="76200" marT="57150" marB="57150">
                    <a:solidFill>
                      <a:srgbClr val="FFFFFF"/>
                    </a:solidFill>
                  </a:tcPr>
                </a:tc>
                <a:tc>
                  <a:txBody>
                    <a:bodyPr wrap="square"/>
                    <a:lstStyle/>
                    <a:p>
                      <a:r>
                        <a:rPr sz="2000" b="0">
                          <a:solidFill>
                            <a:srgbClr val="111A14"/>
                          </a:solidFill>
                          <a:latin typeface="Arial"/>
                        </a:rPr>
                        <a:t>Auth, Storage, Realtime, pg_cron</a:t>
                      </a:r>
                    </a:p>
                  </a:txBody>
                  <a:tcPr marL="76200" marR="76200" marT="57150" marB="57150">
                    <a:solidFill>
                      <a:srgbClr val="FFFFFF"/>
                    </a:solidFill>
                  </a:tcPr>
                </a:tc>
                <a:tc>
                  <a:txBody>
                    <a:bodyPr wrap="square"/>
                    <a:lstStyle/>
                    <a:p>
                      <a:r>
                        <a:rPr sz="2000" b="0">
                          <a:solidFill>
                            <a:srgbClr val="111A14"/>
                          </a:solidFill>
                          <a:latin typeface="Arial"/>
                        </a:rPr>
                        <a:t>Managed</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Technical Deep-Dive</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Deployment</a:t>
            </a:r>
          </a:p>
        </p:txBody>
      </p:sp>
      <p:pic>
        <p:nvPicPr>
          <p:cNvPr id="6" name="Picture 5" descr="slide-deploy.png"/>
          <p:cNvPicPr>
            <a:picLocks noChangeAspect="1"/>
          </p:cNvPicPr>
          <p:nvPr/>
        </p:nvPicPr>
        <p:blipFill>
          <a:blip r:embed="rId2"/>
          <a:stretch>
            <a:fillRect/>
          </a:stretch>
        </p:blipFill>
        <p:spPr>
          <a:xfrm>
            <a:off x="2999808" y="1143000"/>
            <a:ext cx="6192383" cy="4838699"/>
          </a:xfrm>
          <a:prstGeom prst="rect">
            <a:avLst/>
          </a:prstGeom>
        </p:spPr>
      </p:pic>
      <p:sp>
        <p:nvSpPr>
          <p:cNvPr id="7" name="Rectangle 6"/>
          <p:cNvSpPr/>
          <p:nvPr/>
        </p:nvSpPr>
        <p:spPr>
          <a:xfrm>
            <a:off x="2999808" y="1143000"/>
            <a:ext cx="6192383" cy="4838699"/>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6750" y="6038850"/>
            <a:ext cx="10858500" cy="285750"/>
          </a:xfrm>
          <a:prstGeom prst="rect">
            <a:avLst/>
          </a:prstGeom>
          <a:noFill/>
        </p:spPr>
        <p:txBody>
          <a:bodyPr wrap="square" lIns="19050" rIns="19050" tIns="0" bIns="0" anchor="t">
            <a:spAutoFit/>
          </a:bodyPr>
          <a:lstStyle/>
          <a:p>
            <a:pPr algn="ctr">
              <a:lnSpc>
                <a:spcPct val="115000"/>
              </a:lnSpc>
            </a:pPr>
            <a:r>
              <a:rPr sz="1300" b="0">
                <a:solidFill>
                  <a:srgbClr val="556058"/>
                </a:solidFill>
                <a:latin typeface="Arial"/>
              </a:rPr>
              <a:t>Simplified from DEP-1 (AMR-DOC-05): Vercel CDN, functions, middleware; Supabase services</a:t>
            </a:r>
          </a:p>
        </p:txBody>
      </p:sp>
      <p:sp>
        <p:nvSpPr>
          <p:cNvPr id="9" name="TextBox 8"/>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Technical Deep-Dive</a:t>
            </a:r>
          </a:p>
        </p:txBody>
      </p:sp>
      <p:sp>
        <p:nvSpPr>
          <p:cNvPr id="10" name="TextBox 9"/>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 y="2857500"/>
            <a:ext cx="1143000" cy="762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7250" y="3048000"/>
            <a:ext cx="10477500" cy="1333500"/>
          </a:xfrm>
          <a:prstGeom prst="rect">
            <a:avLst/>
          </a:prstGeom>
          <a:noFill/>
        </p:spPr>
        <p:txBody>
          <a:bodyPr wrap="square" lIns="19050" rIns="19050" tIns="0" bIns="0" anchor="t">
            <a:spAutoFit/>
          </a:bodyPr>
          <a:lstStyle/>
          <a:p>
            <a:pPr algn="l">
              <a:lnSpc>
                <a:spcPct val="115000"/>
              </a:lnSpc>
            </a:pPr>
            <a:r>
              <a:rPr sz="4000" b="1">
                <a:solidFill>
                  <a:srgbClr val="FFFFFF"/>
                </a:solidFill>
                <a:latin typeface="Arial"/>
              </a:rPr>
              <a:t>Data model</a:t>
            </a:r>
          </a:p>
        </p:txBody>
      </p:sp>
      <p:sp>
        <p:nvSpPr>
          <p:cNvPr id="5" name="TextBox 4"/>
          <p:cNvSpPr txBox="1"/>
          <p:nvPr/>
        </p:nvSpPr>
        <p:spPr>
          <a:xfrm>
            <a:off x="857250" y="4476750"/>
            <a:ext cx="10477500" cy="762000"/>
          </a:xfrm>
          <a:prstGeom prst="rect">
            <a:avLst/>
          </a:prstGeom>
          <a:noFill/>
        </p:spPr>
        <p:txBody>
          <a:bodyPr wrap="square" lIns="19050" rIns="19050" tIns="0" bIns="0" anchor="t">
            <a:spAutoFit/>
          </a:bodyPr>
          <a:lstStyle/>
          <a:p>
            <a:pPr algn="l">
              <a:lnSpc>
                <a:spcPct val="115000"/>
              </a:lnSpc>
            </a:pPr>
            <a:r>
              <a:rPr sz="2000" b="0">
                <a:solidFill>
                  <a:srgbClr val="D9E8B0"/>
                </a:solidFill>
                <a:latin typeface="Arial"/>
              </a:rPr>
              <a:t>50 tables · 448 columns · 6 views</a:t>
            </a:r>
          </a:p>
        </p:txBody>
      </p:sp>
      <p:sp>
        <p:nvSpPr>
          <p:cNvPr id="6" name="TextBox 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Technical Deep-Dive</a:t>
            </a:r>
          </a:p>
        </p:txBody>
      </p:sp>
      <p:sp>
        <p:nvSpPr>
          <p:cNvPr id="7" name="TextBox 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Schema at a glance</a:t>
            </a:r>
          </a:p>
        </p:txBody>
      </p:sp>
      <p:sp>
        <p:nvSpPr>
          <p:cNvPr id="6" name="Rectangle 5"/>
          <p:cNvSpPr/>
          <p:nvPr/>
        </p:nvSpPr>
        <p:spPr>
          <a:xfrm>
            <a:off x="666750" y="114300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6675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6300" y="129540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29</a:t>
            </a:r>
          </a:p>
        </p:txBody>
      </p:sp>
      <p:sp>
        <p:nvSpPr>
          <p:cNvPr id="9" name="TextBox 8"/>
          <p:cNvSpPr txBox="1"/>
          <p:nvPr/>
        </p:nvSpPr>
        <p:spPr>
          <a:xfrm>
            <a:off x="876300" y="213836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newsroom tables</a:t>
            </a:r>
          </a:p>
        </p:txBody>
      </p:sp>
      <p:sp>
        <p:nvSpPr>
          <p:cNvPr id="10" name="Rectangle 9"/>
          <p:cNvSpPr/>
          <p:nvPr/>
        </p:nvSpPr>
        <p:spPr>
          <a:xfrm>
            <a:off x="4362450" y="114300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6245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29540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12</a:t>
            </a:r>
          </a:p>
        </p:txBody>
      </p:sp>
      <p:sp>
        <p:nvSpPr>
          <p:cNvPr id="13" name="TextBox 12"/>
          <p:cNvSpPr txBox="1"/>
          <p:nvPr/>
        </p:nvSpPr>
        <p:spPr>
          <a:xfrm>
            <a:off x="4572000" y="213836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Salingkusog tables</a:t>
            </a:r>
          </a:p>
        </p:txBody>
      </p:sp>
      <p:sp>
        <p:nvSpPr>
          <p:cNvPr id="14" name="Rectangle 13"/>
          <p:cNvSpPr/>
          <p:nvPr/>
        </p:nvSpPr>
        <p:spPr>
          <a:xfrm>
            <a:off x="8058150" y="114300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58150" y="114300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7700" y="129540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9</a:t>
            </a:r>
          </a:p>
        </p:txBody>
      </p:sp>
      <p:sp>
        <p:nvSpPr>
          <p:cNvPr id="17" name="TextBox 16"/>
          <p:cNvSpPr txBox="1"/>
          <p:nvPr/>
        </p:nvSpPr>
        <p:spPr>
          <a:xfrm>
            <a:off x="8267700" y="213836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statistics tables</a:t>
            </a:r>
          </a:p>
        </p:txBody>
      </p:sp>
      <p:sp>
        <p:nvSpPr>
          <p:cNvPr id="18" name="Rectangle 17"/>
          <p:cNvSpPr/>
          <p:nvPr/>
        </p:nvSpPr>
        <p:spPr>
          <a:xfrm>
            <a:off x="666750" y="318135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66750" y="318135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6300" y="333375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19</a:t>
            </a:r>
          </a:p>
        </p:txBody>
      </p:sp>
      <p:sp>
        <p:nvSpPr>
          <p:cNvPr id="21" name="TextBox 20"/>
          <p:cNvSpPr txBox="1"/>
          <p:nvPr/>
        </p:nvSpPr>
        <p:spPr>
          <a:xfrm>
            <a:off x="876300" y="417671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enums</a:t>
            </a:r>
          </a:p>
        </p:txBody>
      </p:sp>
      <p:sp>
        <p:nvSpPr>
          <p:cNvPr id="22" name="Rectangle 21"/>
          <p:cNvSpPr/>
          <p:nvPr/>
        </p:nvSpPr>
        <p:spPr>
          <a:xfrm>
            <a:off x="4362450" y="318135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62450" y="318135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333375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60</a:t>
            </a:r>
          </a:p>
        </p:txBody>
      </p:sp>
      <p:sp>
        <p:nvSpPr>
          <p:cNvPr id="25" name="TextBox 24"/>
          <p:cNvSpPr txBox="1"/>
          <p:nvPr/>
        </p:nvSpPr>
        <p:spPr>
          <a:xfrm>
            <a:off x="4572000" y="417671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indexes</a:t>
            </a:r>
          </a:p>
        </p:txBody>
      </p:sp>
      <p:sp>
        <p:nvSpPr>
          <p:cNvPr id="26" name="Rectangle 25"/>
          <p:cNvSpPr/>
          <p:nvPr/>
        </p:nvSpPr>
        <p:spPr>
          <a:xfrm>
            <a:off x="8058150" y="3181350"/>
            <a:ext cx="3467100" cy="1809750"/>
          </a:xfrm>
          <a:prstGeom prst="rect">
            <a:avLst/>
          </a:prstGeom>
          <a:solidFill>
            <a:srgbClr val="FFFFFF"/>
          </a:solid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58150" y="3181350"/>
            <a:ext cx="57150" cy="180975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7700" y="3333750"/>
            <a:ext cx="3124200" cy="868680"/>
          </a:xfrm>
          <a:prstGeom prst="rect">
            <a:avLst/>
          </a:prstGeom>
          <a:noFill/>
        </p:spPr>
        <p:txBody>
          <a:bodyPr wrap="square" lIns="19050" rIns="19050" tIns="0" bIns="0" anchor="t">
            <a:spAutoFit/>
          </a:bodyPr>
          <a:lstStyle/>
          <a:p>
            <a:pPr algn="l">
              <a:lnSpc>
                <a:spcPct val="115000"/>
              </a:lnSpc>
            </a:pPr>
            <a:r>
              <a:rPr sz="4000" b="1">
                <a:solidFill>
                  <a:srgbClr val="0F2A1A"/>
                </a:solidFill>
                <a:latin typeface="Arial"/>
              </a:rPr>
              <a:t>3</a:t>
            </a:r>
          </a:p>
        </p:txBody>
      </p:sp>
      <p:sp>
        <p:nvSpPr>
          <p:cNvPr id="29" name="TextBox 28"/>
          <p:cNvSpPr txBox="1"/>
          <p:nvPr/>
        </p:nvSpPr>
        <p:spPr>
          <a:xfrm>
            <a:off x="8267700" y="4176712"/>
            <a:ext cx="3124200" cy="760095"/>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storage buckets</a:t>
            </a:r>
          </a:p>
        </p:txBody>
      </p:sp>
      <p:sp>
        <p:nvSpPr>
          <p:cNvPr id="30" name="TextBox 29"/>
          <p:cNvSpPr txBox="1"/>
          <p:nvPr/>
        </p:nvSpPr>
        <p:spPr>
          <a:xfrm>
            <a:off x="666750" y="5905500"/>
            <a:ext cx="10858500" cy="381000"/>
          </a:xfrm>
          <a:prstGeom prst="rect">
            <a:avLst/>
          </a:prstGeom>
          <a:noFill/>
        </p:spPr>
        <p:txBody>
          <a:bodyPr wrap="square" lIns="19050" rIns="19050" tIns="0" bIns="0" anchor="t">
            <a:spAutoFit/>
          </a:bodyPr>
          <a:lstStyle/>
          <a:p>
            <a:pPr algn="l">
              <a:lnSpc>
                <a:spcPct val="115000"/>
              </a:lnSpc>
            </a:pPr>
            <a:r>
              <a:rPr sz="1500" b="0">
                <a:solidFill>
                  <a:srgbClr val="556058"/>
                </a:solidFill>
                <a:latin typeface="Arial"/>
              </a:rPr>
              <a:t>schema.sql · salingkusog.sql · stats.sql — all re-runnable, applied twice in tests</a:t>
            </a:r>
          </a:p>
        </p:txBody>
      </p:sp>
      <p:sp>
        <p:nvSpPr>
          <p:cNvPr id="31" name="TextBox 30"/>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Technical Deep-Dive</a:t>
            </a:r>
          </a:p>
        </p:txBody>
      </p:sp>
      <p:sp>
        <p:nvSpPr>
          <p:cNvPr id="32" name="TextBox 31"/>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Design principles</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3NF for transactional tables; enums for states</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Denormalisations maintained by triggers or generated columns</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Computed results are views, never stored</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Private helpers in schema app with search_path = ''</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Technical Deep-Dive</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Content core</a:t>
            </a:r>
          </a:p>
        </p:txBody>
      </p:sp>
      <p:pic>
        <p:nvPicPr>
          <p:cNvPr id="6" name="Picture 5" descr="slide-content.png"/>
          <p:cNvPicPr>
            <a:picLocks noChangeAspect="1"/>
          </p:cNvPicPr>
          <p:nvPr/>
        </p:nvPicPr>
        <p:blipFill>
          <a:blip r:embed="rId2"/>
          <a:stretch>
            <a:fillRect/>
          </a:stretch>
        </p:blipFill>
        <p:spPr>
          <a:xfrm>
            <a:off x="1652295" y="1143000"/>
            <a:ext cx="8887408" cy="4838700"/>
          </a:xfrm>
          <a:prstGeom prst="rect">
            <a:avLst/>
          </a:prstGeom>
        </p:spPr>
      </p:pic>
      <p:sp>
        <p:nvSpPr>
          <p:cNvPr id="7" name="Rectangle 6"/>
          <p:cNvSpPr/>
          <p:nvPr/>
        </p:nvSpPr>
        <p:spPr>
          <a:xfrm>
            <a:off x="1652295" y="1143000"/>
            <a:ext cx="8887408" cy="4838700"/>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6750" y="6038850"/>
            <a:ext cx="10858500" cy="285750"/>
          </a:xfrm>
          <a:prstGeom prst="rect">
            <a:avLst/>
          </a:prstGeom>
          <a:noFill/>
        </p:spPr>
        <p:txBody>
          <a:bodyPr wrap="square" lIns="19050" rIns="19050" tIns="0" bIns="0" anchor="t">
            <a:spAutoFit/>
          </a:bodyPr>
          <a:lstStyle/>
          <a:p>
            <a:pPr algn="ctr">
              <a:lnSpc>
                <a:spcPct val="115000"/>
              </a:lnSpc>
            </a:pPr>
            <a:r>
              <a:rPr sz="1300" b="0">
                <a:solidFill>
                  <a:srgbClr val="556058"/>
                </a:solidFill>
                <a:latin typeface="Arial"/>
              </a:rPr>
              <a:t>Simplified from ERD-1 (generated from schema.sql; full diagram in AMR-DOC-05)</a:t>
            </a:r>
          </a:p>
        </p:txBody>
      </p:sp>
      <p:sp>
        <p:nvSpPr>
          <p:cNvPr id="9" name="TextBox 8"/>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Technical Deep-Dive</a:t>
            </a:r>
          </a:p>
        </p:txBody>
      </p:sp>
      <p:sp>
        <p:nvSpPr>
          <p:cNvPr id="10" name="TextBox 9"/>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 y="2857500"/>
            <a:ext cx="1143000" cy="762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7250" y="3048000"/>
            <a:ext cx="10477500" cy="1333500"/>
          </a:xfrm>
          <a:prstGeom prst="rect">
            <a:avLst/>
          </a:prstGeom>
          <a:noFill/>
        </p:spPr>
        <p:txBody>
          <a:bodyPr wrap="square" lIns="19050" rIns="19050" tIns="0" bIns="0" anchor="t">
            <a:spAutoFit/>
          </a:bodyPr>
          <a:lstStyle/>
          <a:p>
            <a:pPr algn="l">
              <a:lnSpc>
                <a:spcPct val="115000"/>
              </a:lnSpc>
            </a:pPr>
            <a:r>
              <a:rPr sz="4000" b="1">
                <a:solidFill>
                  <a:srgbClr val="FFFFFF"/>
                </a:solidFill>
                <a:latin typeface="Arial"/>
              </a:rPr>
              <a:t>RLS and RBAC</a:t>
            </a:r>
          </a:p>
        </p:txBody>
      </p:sp>
      <p:sp>
        <p:nvSpPr>
          <p:cNvPr id="5" name="TextBox 4"/>
          <p:cNvSpPr txBox="1"/>
          <p:nvPr/>
        </p:nvSpPr>
        <p:spPr>
          <a:xfrm>
            <a:off x="857250" y="4476750"/>
            <a:ext cx="10477500" cy="762000"/>
          </a:xfrm>
          <a:prstGeom prst="rect">
            <a:avLst/>
          </a:prstGeom>
          <a:noFill/>
        </p:spPr>
        <p:txBody>
          <a:bodyPr wrap="square" lIns="19050" rIns="19050" tIns="0" bIns="0" anchor="t">
            <a:spAutoFit/>
          </a:bodyPr>
          <a:lstStyle/>
          <a:p>
            <a:pPr algn="l">
              <a:lnSpc>
                <a:spcPct val="115000"/>
              </a:lnSpc>
            </a:pPr>
            <a:r>
              <a:rPr sz="2000" b="0">
                <a:solidFill>
                  <a:srgbClr val="D9E8B0"/>
                </a:solidFill>
                <a:latin typeface="Arial"/>
              </a:rPr>
              <a:t>97 policies · role helpers · triggers</a:t>
            </a:r>
          </a:p>
        </p:txBody>
      </p:sp>
      <p:sp>
        <p:nvSpPr>
          <p:cNvPr id="6" name="TextBox 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Technical Deep-Dive</a:t>
            </a:r>
          </a:p>
        </p:txBody>
      </p:sp>
      <p:sp>
        <p:nvSpPr>
          <p:cNvPr id="7" name="TextBox 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Role helpers</a:t>
            </a:r>
          </a:p>
        </p:txBody>
      </p:sp>
      <p:graphicFrame>
        <p:nvGraphicFramePr>
          <p:cNvPr id="6" name="Table 5"/>
          <p:cNvGraphicFramePr>
            <a:graphicFrameLocks noGrp="1"/>
          </p:cNvGraphicFramePr>
          <p:nvPr/>
        </p:nvGraphicFramePr>
        <p:xfrm>
          <a:off x="666750" y="1143000"/>
          <a:ext cx="10858499" cy="3943350"/>
        </p:xfrm>
        <a:graphic>
          <a:graphicData uri="http://schemas.openxmlformats.org/drawingml/2006/table">
            <a:tbl>
              <a:tblPr firstRow="1" bandRow="1">
                <a:tableStyleId>{5C22544A-7EE6-4342-B048-85BDC9FD1C3A}</a:tableStyleId>
              </a:tblPr>
              <a:tblGrid>
                <a:gridCol w="4721086"/>
                <a:gridCol w="6137413"/>
              </a:tblGrid>
              <a:tr h="438150">
                <a:tc>
                  <a:txBody>
                    <a:bodyPr wrap="square"/>
                    <a:lstStyle/>
                    <a:p>
                      <a:r>
                        <a:rPr sz="2000" b="1">
                          <a:solidFill>
                            <a:srgbClr val="14361F"/>
                          </a:solidFill>
                          <a:latin typeface="Arial"/>
                        </a:rPr>
                        <a:t>Helper</a:t>
                      </a:r>
                    </a:p>
                  </a:txBody>
                  <a:tcPr marL="76200" marR="76200" marT="57150" marB="57150">
                    <a:solidFill>
                      <a:srgbClr val="E8F1E9"/>
                    </a:solidFill>
                  </a:tcPr>
                </a:tc>
                <a:tc>
                  <a:txBody>
                    <a:bodyPr wrap="square"/>
                    <a:lstStyle/>
                    <a:p>
                      <a:r>
                        <a:rPr sz="2000" b="1">
                          <a:solidFill>
                            <a:srgbClr val="14361F"/>
                          </a:solidFill>
                          <a:latin typeface="Arial"/>
                        </a:rPr>
                        <a:t>True for</a:t>
                      </a:r>
                    </a:p>
                  </a:txBody>
                  <a:tcPr marL="76200" marR="76200" marT="57150" marB="57150">
                    <a:solidFill>
                      <a:srgbClr val="E8F1E9"/>
                    </a:solidFill>
                  </a:tcPr>
                </a:tc>
              </a:tr>
              <a:tr h="438150">
                <a:tc>
                  <a:txBody>
                    <a:bodyPr wrap="square"/>
                    <a:lstStyle/>
                    <a:p>
                      <a:r>
                        <a:rPr sz="2000" b="0">
                          <a:solidFill>
                            <a:srgbClr val="111A14"/>
                          </a:solidFill>
                          <a:latin typeface="Arial"/>
                        </a:rPr>
                        <a:t>is_staff()</a:t>
                      </a:r>
                    </a:p>
                  </a:txBody>
                  <a:tcPr marL="76200" marR="76200" marT="57150" marB="57150">
                    <a:solidFill>
                      <a:srgbClr val="FFFFFF"/>
                    </a:solidFill>
                  </a:tcPr>
                </a:tc>
                <a:tc>
                  <a:txBody>
                    <a:bodyPr wrap="square"/>
                    <a:lstStyle/>
                    <a:p>
                      <a:r>
                        <a:rPr sz="2000" b="0">
                          <a:solidFill>
                            <a:srgbClr val="111A14"/>
                          </a:solidFill>
                          <a:latin typeface="Arial"/>
                        </a:rPr>
                        <a:t>any active role</a:t>
                      </a:r>
                    </a:p>
                  </a:txBody>
                  <a:tcPr marL="76200" marR="76200" marT="57150" marB="57150">
                    <a:solidFill>
                      <a:srgbClr val="FFFFFF"/>
                    </a:solidFill>
                  </a:tcPr>
                </a:tc>
              </a:tr>
              <a:tr h="438150">
                <a:tc>
                  <a:txBody>
                    <a:bodyPr wrap="square"/>
                    <a:lstStyle/>
                    <a:p>
                      <a:r>
                        <a:rPr sz="2000" b="0">
                          <a:solidFill>
                            <a:srgbClr val="111A14"/>
                          </a:solidFill>
                          <a:latin typeface="Arial"/>
                        </a:rPr>
                        <a:t>is_admin()</a:t>
                      </a:r>
                    </a:p>
                  </a:txBody>
                  <a:tcPr marL="76200" marR="76200" marT="57150" marB="57150">
                    <a:solidFill>
                      <a:srgbClr val="FFFFFF"/>
                    </a:solidFill>
                  </a:tcPr>
                </a:tc>
                <a:tc>
                  <a:txBody>
                    <a:bodyPr wrap="square"/>
                    <a:lstStyle/>
                    <a:p>
                      <a:r>
                        <a:rPr sz="2000" b="0">
                          <a:solidFill>
                            <a:srgbClr val="111A14"/>
                          </a:solidFill>
                          <a:latin typeface="Arial"/>
                        </a:rPr>
                        <a:t>SA, EE</a:t>
                      </a:r>
                    </a:p>
                  </a:txBody>
                  <a:tcPr marL="76200" marR="76200" marT="57150" marB="57150">
                    <a:solidFill>
                      <a:srgbClr val="FFFFFF"/>
                    </a:solidFill>
                  </a:tcPr>
                </a:tc>
              </a:tr>
              <a:tr h="438150">
                <a:tc>
                  <a:txBody>
                    <a:bodyPr wrap="square"/>
                    <a:lstStyle/>
                    <a:p>
                      <a:r>
                        <a:rPr sz="2000" b="0">
                          <a:solidFill>
                            <a:srgbClr val="111A14"/>
                          </a:solidFill>
                          <a:latin typeface="Arial"/>
                        </a:rPr>
                        <a:t>can_publish()</a:t>
                      </a:r>
                    </a:p>
                  </a:txBody>
                  <a:tcPr marL="76200" marR="76200" marT="57150" marB="57150">
                    <a:solidFill>
                      <a:srgbClr val="FFFFFF"/>
                    </a:solidFill>
                  </a:tcPr>
                </a:tc>
                <a:tc>
                  <a:txBody>
                    <a:bodyPr wrap="square"/>
                    <a:lstStyle/>
                    <a:p>
                      <a:r>
                        <a:rPr sz="2000" b="0">
                          <a:solidFill>
                            <a:srgbClr val="111A14"/>
                          </a:solidFill>
                          <a:latin typeface="Arial"/>
                        </a:rPr>
                        <a:t>SA, EE, ME</a:t>
                      </a:r>
                    </a:p>
                  </a:txBody>
                  <a:tcPr marL="76200" marR="76200" marT="57150" marB="57150">
                    <a:solidFill>
                      <a:srgbClr val="FFFFFF"/>
                    </a:solidFill>
                  </a:tcPr>
                </a:tc>
              </a:tr>
              <a:tr h="438150">
                <a:tc>
                  <a:txBody>
                    <a:bodyPr wrap="square"/>
                    <a:lstStyle/>
                    <a:p>
                      <a:r>
                        <a:rPr sz="2000" b="0">
                          <a:solidFill>
                            <a:srgbClr val="111A14"/>
                          </a:solidFill>
                          <a:latin typeface="Arial"/>
                        </a:rPr>
                        <a:t>can_publish_articles()</a:t>
                      </a:r>
                    </a:p>
                  </a:txBody>
                  <a:tcPr marL="76200" marR="76200" marT="57150" marB="57150">
                    <a:solidFill>
                      <a:srgbClr val="FFFFFF"/>
                    </a:solidFill>
                  </a:tcPr>
                </a:tc>
                <a:tc>
                  <a:txBody>
                    <a:bodyPr wrap="square"/>
                    <a:lstStyle/>
                    <a:p>
                      <a:r>
                        <a:rPr sz="2000" b="0">
                          <a:solidFill>
                            <a:srgbClr val="111A14"/>
                          </a:solidFill>
                          <a:latin typeface="Arial"/>
                        </a:rPr>
                        <a:t>+ BM, + granted staff</a:t>
                      </a:r>
                    </a:p>
                  </a:txBody>
                  <a:tcPr marL="76200" marR="76200" marT="57150" marB="57150">
                    <a:solidFill>
                      <a:srgbClr val="FFFFFF"/>
                    </a:solidFill>
                  </a:tcPr>
                </a:tc>
              </a:tr>
              <a:tr h="438150">
                <a:tc>
                  <a:txBody>
                    <a:bodyPr wrap="square"/>
                    <a:lstStyle/>
                    <a:p>
                      <a:r>
                        <a:rPr sz="2000" b="0">
                          <a:solidFill>
                            <a:srgbClr val="111A14"/>
                          </a:solidFill>
                          <a:latin typeface="Arial"/>
                        </a:rPr>
                        <a:t>is_editor()</a:t>
                      </a:r>
                    </a:p>
                  </a:txBody>
                  <a:tcPr marL="76200" marR="76200" marT="57150" marB="57150">
                    <a:solidFill>
                      <a:srgbClr val="FFFFFF"/>
                    </a:solidFill>
                  </a:tcPr>
                </a:tc>
                <a:tc>
                  <a:txBody>
                    <a:bodyPr wrap="square"/>
                    <a:lstStyle/>
                    <a:p>
                      <a:r>
                        <a:rPr sz="2000" b="0">
                          <a:solidFill>
                            <a:srgbClr val="111A14"/>
                          </a:solidFill>
                          <a:latin typeface="Arial"/>
                        </a:rPr>
                        <a:t>SA, EE, ME, SE</a:t>
                      </a:r>
                    </a:p>
                  </a:txBody>
                  <a:tcPr marL="76200" marR="76200" marT="57150" marB="57150">
                    <a:solidFill>
                      <a:srgbClr val="FFFFFF"/>
                    </a:solidFill>
                  </a:tcPr>
                </a:tc>
              </a:tr>
              <a:tr h="438150">
                <a:tc>
                  <a:txBody>
                    <a:bodyPr wrap="square"/>
                    <a:lstStyle/>
                    <a:p>
                      <a:r>
                        <a:rPr sz="2000" b="0">
                          <a:solidFill>
                            <a:srgbClr val="111A14"/>
                          </a:solidFill>
                          <a:latin typeface="Arial"/>
                        </a:rPr>
                        <a:t>can_edit_section(s)</a:t>
                      </a:r>
                    </a:p>
                  </a:txBody>
                  <a:tcPr marL="76200" marR="76200" marT="57150" marB="57150">
                    <a:solidFill>
                      <a:srgbClr val="FFFFFF"/>
                    </a:solidFill>
                  </a:tcPr>
                </a:tc>
                <a:tc>
                  <a:txBody>
                    <a:bodyPr wrap="square"/>
                    <a:lstStyle/>
                    <a:p>
                      <a:r>
                        <a:rPr sz="2000" b="0">
                          <a:solidFill>
                            <a:srgbClr val="111A14"/>
                          </a:solidFill>
                          <a:latin typeface="Arial"/>
                        </a:rPr>
                        <a:t>can_publish or assigned SE</a:t>
                      </a:r>
                    </a:p>
                  </a:txBody>
                  <a:tcPr marL="76200" marR="76200" marT="57150" marB="57150">
                    <a:solidFill>
                      <a:srgbClr val="FFFFFF"/>
                    </a:solidFill>
                  </a:tcPr>
                </a:tc>
              </a:tr>
              <a:tr h="438150">
                <a:tc>
                  <a:txBody>
                    <a:bodyPr wrap="square"/>
                    <a:lstStyle/>
                    <a:p>
                      <a:r>
                        <a:rPr sz="2000" b="0">
                          <a:solidFill>
                            <a:srgbClr val="111A14"/>
                          </a:solidFill>
                          <a:latin typeface="Arial"/>
                        </a:rPr>
                        <a:t>can_view_stats()</a:t>
                      </a:r>
                    </a:p>
                  </a:txBody>
                  <a:tcPr marL="76200" marR="76200" marT="57150" marB="57150">
                    <a:solidFill>
                      <a:srgbClr val="FFFFFF"/>
                    </a:solidFill>
                  </a:tcPr>
                </a:tc>
                <a:tc>
                  <a:txBody>
                    <a:bodyPr wrap="square"/>
                    <a:lstStyle/>
                    <a:p>
                      <a:r>
                        <a:rPr sz="2000" b="0">
                          <a:solidFill>
                            <a:srgbClr val="111A14"/>
                          </a:solidFill>
                          <a:latin typeface="Arial"/>
                        </a:rPr>
                        <a:t>SA, EE, ME</a:t>
                      </a:r>
                    </a:p>
                  </a:txBody>
                  <a:tcPr marL="76200" marR="76200" marT="57150" marB="57150">
                    <a:solidFill>
                      <a:srgbClr val="FFFFFF"/>
                    </a:solidFill>
                  </a:tcPr>
                </a:tc>
              </a:tr>
              <a:tr h="438150">
                <a:tc>
                  <a:txBody>
                    <a:bodyPr wrap="square"/>
                    <a:lstStyle/>
                    <a:p>
                      <a:r>
                        <a:rPr sz="2000" b="0">
                          <a:solidFill>
                            <a:srgbClr val="111A14"/>
                          </a:solidFill>
                          <a:latin typeface="Arial"/>
                        </a:rPr>
                        <a:t>can_edit_sk()</a:t>
                      </a:r>
                    </a:p>
                  </a:txBody>
                  <a:tcPr marL="76200" marR="76200" marT="57150" marB="57150">
                    <a:solidFill>
                      <a:srgbClr val="FFFFFF"/>
                    </a:solidFill>
                  </a:tcPr>
                </a:tc>
                <a:tc>
                  <a:txBody>
                    <a:bodyPr wrap="square"/>
                    <a:lstStyle/>
                    <a:p>
                      <a:r>
                        <a:rPr sz="2000" b="0">
                          <a:solidFill>
                            <a:srgbClr val="111A14"/>
                          </a:solidFill>
                          <a:latin typeface="Arial"/>
                        </a:rPr>
                        <a:t>SA, EE, ME + sk_team</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Technical Deep-Dive</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How a rule is enforced</a:t>
            </a:r>
          </a:p>
        </p:txBody>
      </p:sp>
      <p:graphicFrame>
        <p:nvGraphicFramePr>
          <p:cNvPr id="6" name="Table 5"/>
          <p:cNvGraphicFramePr>
            <a:graphicFrameLocks noGrp="1"/>
          </p:cNvGraphicFramePr>
          <p:nvPr/>
        </p:nvGraphicFramePr>
        <p:xfrm>
          <a:off x="666750" y="1143000"/>
          <a:ext cx="10858499" cy="2628900"/>
        </p:xfrm>
        <a:graphic>
          <a:graphicData uri="http://schemas.openxmlformats.org/drawingml/2006/table">
            <a:tbl>
              <a:tblPr firstRow="1" bandRow="1">
                <a:tableStyleId>{5C22544A-7EE6-4342-B048-85BDC9FD1C3A}</a:tableStyleId>
              </a:tblPr>
              <a:tblGrid>
                <a:gridCol w="2585357"/>
                <a:gridCol w="8273142"/>
              </a:tblGrid>
              <a:tr h="438150">
                <a:tc>
                  <a:txBody>
                    <a:bodyPr wrap="square"/>
                    <a:lstStyle/>
                    <a:p>
                      <a:r>
                        <a:rPr sz="2000" b="1">
                          <a:solidFill>
                            <a:srgbClr val="14361F"/>
                          </a:solidFill>
                          <a:latin typeface="Arial"/>
                        </a:rPr>
                        <a:t>Layer</a:t>
                      </a:r>
                    </a:p>
                  </a:txBody>
                  <a:tcPr marL="76200" marR="76200" marT="57150" marB="57150">
                    <a:solidFill>
                      <a:srgbClr val="E8F1E9"/>
                    </a:solidFill>
                  </a:tcPr>
                </a:tc>
                <a:tc>
                  <a:txBody>
                    <a:bodyPr wrap="square"/>
                    <a:lstStyle/>
                    <a:p>
                      <a:r>
                        <a:rPr sz="2000" b="1">
                          <a:solidFill>
                            <a:srgbClr val="14361F"/>
                          </a:solidFill>
                          <a:latin typeface="Arial"/>
                        </a:rPr>
                        <a:t>Example: “writers cannot publish”</a:t>
                      </a:r>
                    </a:p>
                  </a:txBody>
                  <a:tcPr marL="76200" marR="76200" marT="57150" marB="57150">
                    <a:solidFill>
                      <a:srgbClr val="E8F1E9"/>
                    </a:solidFill>
                  </a:tcPr>
                </a:tc>
              </a:tr>
              <a:tr h="438150">
                <a:tc>
                  <a:txBody>
                    <a:bodyPr wrap="square"/>
                    <a:lstStyle/>
                    <a:p>
                      <a:r>
                        <a:rPr sz="2000" b="0">
                          <a:solidFill>
                            <a:srgbClr val="111A14"/>
                          </a:solidFill>
                          <a:latin typeface="Arial"/>
                        </a:rPr>
                        <a:t>RLS</a:t>
                      </a:r>
                    </a:p>
                  </a:txBody>
                  <a:tcPr marL="76200" marR="76200" marT="57150" marB="57150">
                    <a:solidFill>
                      <a:srgbClr val="FFFFFF"/>
                    </a:solidFill>
                  </a:tcPr>
                </a:tc>
                <a:tc>
                  <a:txBody>
                    <a:bodyPr wrap="square"/>
                    <a:lstStyle/>
                    <a:p>
                      <a:r>
                        <a:rPr sz="2000" b="0">
                          <a:solidFill>
                            <a:srgbClr val="111A14"/>
                          </a:solidFill>
                          <a:latin typeface="Arial"/>
                        </a:rPr>
                        <a:t>articles update: owner, co-author or section editor</a:t>
                      </a:r>
                    </a:p>
                  </a:txBody>
                  <a:tcPr marL="76200" marR="76200" marT="57150" marB="57150">
                    <a:solidFill>
                      <a:srgbClr val="FFFFFF"/>
                    </a:solidFill>
                  </a:tcPr>
                </a:tc>
              </a:tr>
              <a:tr h="438150">
                <a:tc>
                  <a:txBody>
                    <a:bodyPr wrap="square"/>
                    <a:lstStyle/>
                    <a:p>
                      <a:r>
                        <a:rPr sz="2000" b="0">
                          <a:solidFill>
                            <a:srgbClr val="111A14"/>
                          </a:solidFill>
                          <a:latin typeface="Arial"/>
                        </a:rPr>
                        <a:t>Trigger</a:t>
                      </a:r>
                    </a:p>
                  </a:txBody>
                  <a:tcPr marL="76200" marR="76200" marT="57150" marB="57150">
                    <a:solidFill>
                      <a:srgbClr val="FFFFFF"/>
                    </a:solidFill>
                  </a:tcPr>
                </a:tc>
                <a:tc>
                  <a:txBody>
                    <a:bodyPr wrap="square"/>
                    <a:lstStyle/>
                    <a:p>
                      <a:r>
                        <a:rPr sz="2000" b="0">
                          <a:solidFill>
                            <a:srgbClr val="111A14"/>
                          </a:solidFill>
                          <a:latin typeface="Arial"/>
                        </a:rPr>
                        <a:t>article_before_write: to published requires can_publish_articles()</a:t>
                      </a:r>
                    </a:p>
                  </a:txBody>
                  <a:tcPr marL="76200" marR="76200" marT="57150" marB="57150">
                    <a:solidFill>
                      <a:srgbClr val="FFFFFF"/>
                    </a:solidFill>
                  </a:tcPr>
                </a:tc>
              </a:tr>
              <a:tr h="438150">
                <a:tc>
                  <a:txBody>
                    <a:bodyPr wrap="square"/>
                    <a:lstStyle/>
                    <a:p>
                      <a:r>
                        <a:rPr sz="2000" b="0">
                          <a:solidFill>
                            <a:srgbClr val="111A14"/>
                          </a:solidFill>
                          <a:latin typeface="Arial"/>
                        </a:rPr>
                        <a:t>RPC</a:t>
                      </a:r>
                    </a:p>
                  </a:txBody>
                  <a:tcPr marL="76200" marR="76200" marT="57150" marB="57150">
                    <a:solidFill>
                      <a:srgbClr val="FFFFFF"/>
                    </a:solidFill>
                  </a:tcPr>
                </a:tc>
                <a:tc>
                  <a:txBody>
                    <a:bodyPr wrap="square"/>
                    <a:lstStyle/>
                    <a:p>
                      <a:r>
                        <a:rPr sz="2000" b="0">
                          <a:solidFill>
                            <a:srgbClr val="111A14"/>
                          </a:solidFill>
                          <a:latin typeface="Arial"/>
                        </a:rPr>
                        <a:t>transition_article passes a note; RLS applies (invoker)</a:t>
                      </a:r>
                    </a:p>
                  </a:txBody>
                  <a:tcPr marL="76200" marR="76200" marT="57150" marB="57150">
                    <a:solidFill>
                      <a:srgbClr val="FFFFFF"/>
                    </a:solidFill>
                  </a:tcPr>
                </a:tc>
              </a:tr>
              <a:tr h="438150">
                <a:tc>
                  <a:txBody>
                    <a:bodyPr wrap="square"/>
                    <a:lstStyle/>
                    <a:p>
                      <a:r>
                        <a:rPr sz="2000" b="0">
                          <a:solidFill>
                            <a:srgbClr val="111A14"/>
                          </a:solidFill>
                          <a:latin typeface="Arial"/>
                        </a:rPr>
                        <a:t>UI mirror</a:t>
                      </a:r>
                    </a:p>
                  </a:txBody>
                  <a:tcPr marL="76200" marR="76200" marT="57150" marB="57150">
                    <a:solidFill>
                      <a:srgbClr val="FFFFFF"/>
                    </a:solidFill>
                  </a:tcPr>
                </a:tc>
                <a:tc>
                  <a:txBody>
                    <a:bodyPr wrap="square"/>
                    <a:lstStyle/>
                    <a:p>
                      <a:r>
                        <a:rPr sz="2000" b="0">
                          <a:solidFill>
                            <a:srgbClr val="111A14"/>
                          </a:solidFill>
                          <a:latin typeface="Arial"/>
                        </a:rPr>
                        <a:t>permissions.ts hides the Publish button</a:t>
                      </a:r>
                    </a:p>
                  </a:txBody>
                  <a:tcPr marL="76200" marR="76200" marT="57150" marB="57150">
                    <a:solidFill>
                      <a:srgbClr val="FFFFFF"/>
                    </a:solidFill>
                  </a:tcPr>
                </a:tc>
              </a:tr>
              <a:tr h="438150">
                <a:tc>
                  <a:txBody>
                    <a:bodyPr wrap="square"/>
                    <a:lstStyle/>
                    <a:p>
                      <a:r>
                        <a:rPr sz="2000" b="0">
                          <a:solidFill>
                            <a:srgbClr val="111A14"/>
                          </a:solidFill>
                          <a:latin typeface="Arial"/>
                        </a:rPr>
                        <a:t>Test</a:t>
                      </a:r>
                    </a:p>
                  </a:txBody>
                  <a:tcPr marL="76200" marR="76200" marT="57150" marB="57150">
                    <a:solidFill>
                      <a:srgbClr val="FFFFFF"/>
                    </a:solidFill>
                  </a:tcPr>
                </a:tc>
                <a:tc>
                  <a:txBody>
                    <a:bodyPr wrap="square"/>
                    <a:lstStyle/>
                    <a:p>
                      <a:r>
                        <a:rPr sz="2000" b="0">
                          <a:solidFill>
                            <a:srgbClr val="111A14"/>
                          </a:solidFill>
                          <a:latin typeface="Arial"/>
                        </a:rPr>
                        <a:t>workflow.test.sql: “writer cannot publish own draft”</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Technical Deep-Dive</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Article lifecycle</a:t>
            </a:r>
          </a:p>
        </p:txBody>
      </p:sp>
      <p:pic>
        <p:nvPicPr>
          <p:cNvPr id="6" name="Picture 5" descr="state-1-article.png"/>
          <p:cNvPicPr>
            <a:picLocks noChangeAspect="1"/>
          </p:cNvPicPr>
          <p:nvPr/>
        </p:nvPicPr>
        <p:blipFill>
          <a:blip r:embed="rId2"/>
          <a:stretch>
            <a:fillRect/>
          </a:stretch>
        </p:blipFill>
        <p:spPr>
          <a:xfrm>
            <a:off x="2551839" y="1143000"/>
            <a:ext cx="7088321" cy="4838700"/>
          </a:xfrm>
          <a:prstGeom prst="rect">
            <a:avLst/>
          </a:prstGeom>
        </p:spPr>
      </p:pic>
      <p:sp>
        <p:nvSpPr>
          <p:cNvPr id="7" name="Rectangle 6"/>
          <p:cNvSpPr/>
          <p:nvPr/>
        </p:nvSpPr>
        <p:spPr>
          <a:xfrm>
            <a:off x="2551839" y="1143000"/>
            <a:ext cx="7088321" cy="4838700"/>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6750" y="6038850"/>
            <a:ext cx="10858500" cy="285750"/>
          </a:xfrm>
          <a:prstGeom prst="rect">
            <a:avLst/>
          </a:prstGeom>
          <a:noFill/>
        </p:spPr>
        <p:txBody>
          <a:bodyPr wrap="square" lIns="19050" rIns="19050" tIns="0" bIns="0" anchor="t">
            <a:spAutoFit/>
          </a:bodyPr>
          <a:lstStyle/>
          <a:p>
            <a:pPr algn="ctr">
              <a:lnSpc>
                <a:spcPct val="115000"/>
              </a:lnSpc>
            </a:pPr>
            <a:r>
              <a:rPr sz="1300" b="0">
                <a:solidFill>
                  <a:srgbClr val="556058"/>
                </a:solidFill>
                <a:latin typeface="Arial"/>
              </a:rPr>
              <a:t>STATE-1: enforced by app.article_before_write</a:t>
            </a:r>
          </a:p>
        </p:txBody>
      </p:sp>
      <p:sp>
        <p:nvSpPr>
          <p:cNvPr id="9" name="TextBox 8"/>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Technical Deep-Dive</a:t>
            </a:r>
          </a:p>
        </p:txBody>
      </p:sp>
      <p:sp>
        <p:nvSpPr>
          <p:cNvPr id="10" name="TextBox 9"/>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 y="2857500"/>
            <a:ext cx="1143000" cy="762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7250" y="3048000"/>
            <a:ext cx="10477500" cy="1333500"/>
          </a:xfrm>
          <a:prstGeom prst="rect">
            <a:avLst/>
          </a:prstGeom>
          <a:noFill/>
        </p:spPr>
        <p:txBody>
          <a:bodyPr wrap="square" lIns="19050" rIns="19050" tIns="0" bIns="0" anchor="t">
            <a:spAutoFit/>
          </a:bodyPr>
          <a:lstStyle/>
          <a:p>
            <a:pPr algn="l">
              <a:lnSpc>
                <a:spcPct val="115000"/>
              </a:lnSpc>
            </a:pPr>
            <a:r>
              <a:rPr sz="4000" b="1">
                <a:solidFill>
                  <a:srgbClr val="FFFFFF"/>
                </a:solidFill>
                <a:latin typeface="Arial"/>
              </a:rPr>
              <a:t>The medal computation</a:t>
            </a:r>
          </a:p>
        </p:txBody>
      </p:sp>
      <p:sp>
        <p:nvSpPr>
          <p:cNvPr id="5" name="TextBox 4"/>
          <p:cNvSpPr txBox="1"/>
          <p:nvPr/>
        </p:nvSpPr>
        <p:spPr>
          <a:xfrm>
            <a:off x="857250" y="4476750"/>
            <a:ext cx="10477500" cy="762000"/>
          </a:xfrm>
          <a:prstGeom prst="rect">
            <a:avLst/>
          </a:prstGeom>
          <a:noFill/>
        </p:spPr>
        <p:txBody>
          <a:bodyPr wrap="square" lIns="19050" rIns="19050" tIns="0" bIns="0" anchor="t">
            <a:spAutoFit/>
          </a:bodyPr>
          <a:lstStyle/>
          <a:p>
            <a:pPr algn="l">
              <a:lnSpc>
                <a:spcPct val="115000"/>
              </a:lnSpc>
            </a:pPr>
            <a:r>
              <a:rPr sz="2000" b="0">
                <a:solidFill>
                  <a:srgbClr val="D9E8B0"/>
                </a:solidFill>
                <a:latin typeface="Arial"/>
              </a:rPr>
              <a:t>From placements to rank</a:t>
            </a:r>
          </a:p>
        </p:txBody>
      </p:sp>
      <p:sp>
        <p:nvSpPr>
          <p:cNvPr id="6" name="TextBox 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Technical Deep-Dive</a:t>
            </a:r>
          </a:p>
        </p:txBody>
      </p:sp>
      <p:sp>
        <p:nvSpPr>
          <p:cNvPr id="7" name="TextBox 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sk_medal_table — worked example (5 / 3 / 1)</a:t>
            </a:r>
          </a:p>
        </p:txBody>
      </p:sp>
      <p:sp>
        <p:nvSpPr>
          <p:cNvPr id="6" name="TextBox 5"/>
          <p:cNvSpPr txBox="1"/>
          <p:nvPr/>
        </p:nvSpPr>
        <p:spPr>
          <a:xfrm>
            <a:off x="762000" y="1143000"/>
            <a:ext cx="10668000" cy="285750"/>
          </a:xfrm>
          <a:prstGeom prst="rect">
            <a:avLst/>
          </a:prstGeom>
          <a:noFill/>
        </p:spPr>
        <p:txBody>
          <a:bodyPr wrap="square" lIns="19050" rIns="19050" tIns="0" bIns="0" anchor="t">
            <a:spAutoFit/>
          </a:bodyPr>
          <a:lstStyle/>
          <a:p>
            <a:pPr algn="l">
              <a:lnSpc>
                <a:spcPct val="115000"/>
              </a:lnSpc>
            </a:pPr>
            <a:r>
              <a:rPr sz="1600" b="0">
                <a:solidFill>
                  <a:srgbClr val="556058"/>
                </a:solidFill>
                <a:latin typeface="Arial"/>
              </a:rPr>
              <a:t>rank() over (order by points desc, gold desc, silver desc)</a:t>
            </a:r>
          </a:p>
        </p:txBody>
      </p:sp>
      <p:graphicFrame>
        <p:nvGraphicFramePr>
          <p:cNvPr id="7" name="Table 6"/>
          <p:cNvGraphicFramePr>
            <a:graphicFrameLocks noGrp="1"/>
          </p:cNvGraphicFramePr>
          <p:nvPr/>
        </p:nvGraphicFramePr>
        <p:xfrm>
          <a:off x="666750" y="1524000"/>
          <a:ext cx="10858500" cy="2190750"/>
        </p:xfrm>
        <a:graphic>
          <a:graphicData uri="http://schemas.openxmlformats.org/drawingml/2006/table">
            <a:tbl>
              <a:tblPr firstRow="1" bandRow="1">
                <a:tableStyleId>{5C22544A-7EE6-4342-B048-85BDC9FD1C3A}</a:tableStyleId>
              </a:tblPr>
              <a:tblGrid>
                <a:gridCol w="1809750"/>
                <a:gridCol w="1809750"/>
                <a:gridCol w="1809750"/>
                <a:gridCol w="1809750"/>
                <a:gridCol w="1809750"/>
                <a:gridCol w="1809750"/>
              </a:tblGrid>
              <a:tr h="438150">
                <a:tc>
                  <a:txBody>
                    <a:bodyPr wrap="square"/>
                    <a:lstStyle/>
                    <a:p>
                      <a:r>
                        <a:rPr sz="2000" b="1">
                          <a:solidFill>
                            <a:srgbClr val="14361F"/>
                          </a:solidFill>
                          <a:latin typeface="Arial"/>
                        </a:rPr>
                        <a:t>Faction</a:t>
                      </a:r>
                    </a:p>
                  </a:txBody>
                  <a:tcPr marL="76200" marR="76200" marT="57150" marB="57150">
                    <a:solidFill>
                      <a:srgbClr val="E8F1E9"/>
                    </a:solidFill>
                  </a:tcPr>
                </a:tc>
                <a:tc>
                  <a:txBody>
                    <a:bodyPr wrap="square"/>
                    <a:lstStyle/>
                    <a:p>
                      <a:r>
                        <a:rPr sz="2000" b="1">
                          <a:solidFill>
                            <a:srgbClr val="14361F"/>
                          </a:solidFill>
                          <a:latin typeface="Arial"/>
                        </a:rPr>
                        <a:t>Gold</a:t>
                      </a:r>
                    </a:p>
                  </a:txBody>
                  <a:tcPr marL="76200" marR="76200" marT="57150" marB="57150">
                    <a:solidFill>
                      <a:srgbClr val="E8F1E9"/>
                    </a:solidFill>
                  </a:tcPr>
                </a:tc>
                <a:tc>
                  <a:txBody>
                    <a:bodyPr wrap="square"/>
                    <a:lstStyle/>
                    <a:p>
                      <a:r>
                        <a:rPr sz="2000" b="1">
                          <a:solidFill>
                            <a:srgbClr val="14361F"/>
                          </a:solidFill>
                          <a:latin typeface="Arial"/>
                        </a:rPr>
                        <a:t>Silver</a:t>
                      </a:r>
                    </a:p>
                  </a:txBody>
                  <a:tcPr marL="76200" marR="76200" marT="57150" marB="57150">
                    <a:solidFill>
                      <a:srgbClr val="E8F1E9"/>
                    </a:solidFill>
                  </a:tcPr>
                </a:tc>
                <a:tc>
                  <a:txBody>
                    <a:bodyPr wrap="square"/>
                    <a:lstStyle/>
                    <a:p>
                      <a:r>
                        <a:rPr sz="2000" b="1">
                          <a:solidFill>
                            <a:srgbClr val="14361F"/>
                          </a:solidFill>
                          <a:latin typeface="Arial"/>
                        </a:rPr>
                        <a:t>Bronze</a:t>
                      </a:r>
                    </a:p>
                  </a:txBody>
                  <a:tcPr marL="76200" marR="76200" marT="57150" marB="57150">
                    <a:solidFill>
                      <a:srgbClr val="E8F1E9"/>
                    </a:solidFill>
                  </a:tcPr>
                </a:tc>
                <a:tc>
                  <a:txBody>
                    <a:bodyPr wrap="square"/>
                    <a:lstStyle/>
                    <a:p>
                      <a:r>
                        <a:rPr sz="2000" b="1">
                          <a:solidFill>
                            <a:srgbClr val="14361F"/>
                          </a:solidFill>
                          <a:latin typeface="Arial"/>
                        </a:rPr>
                        <a:t>Points</a:t>
                      </a:r>
                    </a:p>
                  </a:txBody>
                  <a:tcPr marL="76200" marR="76200" marT="57150" marB="57150">
                    <a:solidFill>
                      <a:srgbClr val="E8F1E9"/>
                    </a:solidFill>
                  </a:tcPr>
                </a:tc>
                <a:tc>
                  <a:txBody>
                    <a:bodyPr wrap="square"/>
                    <a:lstStyle/>
                    <a:p>
                      <a:r>
                        <a:rPr sz="2000" b="1">
                          <a:solidFill>
                            <a:srgbClr val="14361F"/>
                          </a:solidFill>
                          <a:latin typeface="Arial"/>
                        </a:rPr>
                        <a:t>Rank</a:t>
                      </a:r>
                    </a:p>
                  </a:txBody>
                  <a:tcPr marL="76200" marR="76200" marT="57150" marB="57150">
                    <a:solidFill>
                      <a:srgbClr val="E8F1E9"/>
                    </a:solidFill>
                  </a:tcPr>
                </a:tc>
              </a:tr>
              <a:tr h="438150">
                <a:tc>
                  <a:txBody>
                    <a:bodyPr wrap="square"/>
                    <a:lstStyle/>
                    <a:p>
                      <a:r>
                        <a:rPr sz="2000" b="0">
                          <a:solidFill>
                            <a:srgbClr val="111A14"/>
                          </a:solidFill>
                          <a:latin typeface="Arial"/>
                        </a:rPr>
                        <a:t>Faction A</a:t>
                      </a:r>
                    </a:p>
                  </a:txBody>
                  <a:tcPr marL="76200" marR="76200" marT="57150" marB="57150">
                    <a:solidFill>
                      <a:srgbClr val="FFFFFF"/>
                    </a:solidFill>
                  </a:tcPr>
                </a:tc>
                <a:tc>
                  <a:txBody>
                    <a:bodyPr wrap="square"/>
                    <a:lstStyle/>
                    <a:p>
                      <a:r>
                        <a:rPr sz="2000" b="0">
                          <a:solidFill>
                            <a:srgbClr val="111A14"/>
                          </a:solidFill>
                          <a:latin typeface="Arial"/>
                        </a:rPr>
                        <a:t>2</a:t>
                      </a:r>
                    </a:p>
                  </a:txBody>
                  <a:tcPr marL="76200" marR="76200" marT="57150" marB="57150">
                    <a:solidFill>
                      <a:srgbClr val="FFFFFF"/>
                    </a:solidFill>
                  </a:tcPr>
                </a:tc>
                <a:tc>
                  <a:txBody>
                    <a:bodyPr wrap="square"/>
                    <a:lstStyle/>
                    <a:p>
                      <a:r>
                        <a:rPr sz="2000" b="0">
                          <a:solidFill>
                            <a:srgbClr val="111A14"/>
                          </a:solidFill>
                          <a:latin typeface="Arial"/>
                        </a:rPr>
                        <a:t>0</a:t>
                      </a:r>
                    </a:p>
                  </a:txBody>
                  <a:tcPr marL="76200" marR="76200" marT="57150" marB="57150">
                    <a:solidFill>
                      <a:srgbClr val="FFFFFF"/>
                    </a:solidFill>
                  </a:tcPr>
                </a:tc>
                <a:tc>
                  <a:txBody>
                    <a:bodyPr wrap="square"/>
                    <a:lstStyle/>
                    <a:p>
                      <a:r>
                        <a:rPr sz="2000" b="0">
                          <a:solidFill>
                            <a:srgbClr val="111A14"/>
                          </a:solidFill>
                          <a:latin typeface="Arial"/>
                        </a:rPr>
                        <a:t>1</a:t>
                      </a:r>
                    </a:p>
                  </a:txBody>
                  <a:tcPr marL="76200" marR="76200" marT="57150" marB="57150">
                    <a:solidFill>
                      <a:srgbClr val="FFFFFF"/>
                    </a:solidFill>
                  </a:tcPr>
                </a:tc>
                <a:tc>
                  <a:txBody>
                    <a:bodyPr wrap="square"/>
                    <a:lstStyle/>
                    <a:p>
                      <a:r>
                        <a:rPr sz="2000" b="0">
                          <a:solidFill>
                            <a:srgbClr val="111A14"/>
                          </a:solidFill>
                          <a:latin typeface="Arial"/>
                        </a:rPr>
                        <a:t>11</a:t>
                      </a:r>
                    </a:p>
                  </a:txBody>
                  <a:tcPr marL="76200" marR="76200" marT="57150" marB="57150">
                    <a:solidFill>
                      <a:srgbClr val="FFFFFF"/>
                    </a:solidFill>
                  </a:tcPr>
                </a:tc>
                <a:tc>
                  <a:txBody>
                    <a:bodyPr wrap="square"/>
                    <a:lstStyle/>
                    <a:p>
                      <a:r>
                        <a:rPr sz="2000" b="0">
                          <a:solidFill>
                            <a:srgbClr val="111A14"/>
                          </a:solidFill>
                          <a:latin typeface="Arial"/>
                        </a:rPr>
                        <a:t>1</a:t>
                      </a:r>
                    </a:p>
                  </a:txBody>
                  <a:tcPr marL="76200" marR="76200" marT="57150" marB="57150">
                    <a:solidFill>
                      <a:srgbClr val="FFFFFF"/>
                    </a:solidFill>
                  </a:tcPr>
                </a:tc>
              </a:tr>
              <a:tr h="438150">
                <a:tc>
                  <a:txBody>
                    <a:bodyPr wrap="square"/>
                    <a:lstStyle/>
                    <a:p>
                      <a:r>
                        <a:rPr sz="2000" b="0">
                          <a:solidFill>
                            <a:srgbClr val="111A14"/>
                          </a:solidFill>
                          <a:latin typeface="Arial"/>
                        </a:rPr>
                        <a:t>Faction B</a:t>
                      </a:r>
                    </a:p>
                  </a:txBody>
                  <a:tcPr marL="76200" marR="76200" marT="57150" marB="57150">
                    <a:solidFill>
                      <a:srgbClr val="FFFFFF"/>
                    </a:solidFill>
                  </a:tcPr>
                </a:tc>
                <a:tc>
                  <a:txBody>
                    <a:bodyPr wrap="square"/>
                    <a:lstStyle/>
                    <a:p>
                      <a:r>
                        <a:rPr sz="2000" b="0">
                          <a:solidFill>
                            <a:srgbClr val="111A14"/>
                          </a:solidFill>
                          <a:latin typeface="Arial"/>
                        </a:rPr>
                        <a:t>1</a:t>
                      </a:r>
                    </a:p>
                  </a:txBody>
                  <a:tcPr marL="76200" marR="76200" marT="57150" marB="57150">
                    <a:solidFill>
                      <a:srgbClr val="FFFFFF"/>
                    </a:solidFill>
                  </a:tcPr>
                </a:tc>
                <a:tc>
                  <a:txBody>
                    <a:bodyPr wrap="square"/>
                    <a:lstStyle/>
                    <a:p>
                      <a:r>
                        <a:rPr sz="2000" b="0">
                          <a:solidFill>
                            <a:srgbClr val="111A14"/>
                          </a:solidFill>
                          <a:latin typeface="Arial"/>
                        </a:rPr>
                        <a:t>2</a:t>
                      </a:r>
                    </a:p>
                  </a:txBody>
                  <a:tcPr marL="76200" marR="76200" marT="57150" marB="57150">
                    <a:solidFill>
                      <a:srgbClr val="FFFFFF"/>
                    </a:solidFill>
                  </a:tcPr>
                </a:tc>
                <a:tc>
                  <a:txBody>
                    <a:bodyPr wrap="square"/>
                    <a:lstStyle/>
                    <a:p>
                      <a:r>
                        <a:rPr sz="2000" b="0">
                          <a:solidFill>
                            <a:srgbClr val="111A14"/>
                          </a:solidFill>
                          <a:latin typeface="Arial"/>
                        </a:rPr>
                        <a:t>0</a:t>
                      </a:r>
                    </a:p>
                  </a:txBody>
                  <a:tcPr marL="76200" marR="76200" marT="57150" marB="57150">
                    <a:solidFill>
                      <a:srgbClr val="FFFFFF"/>
                    </a:solidFill>
                  </a:tcPr>
                </a:tc>
                <a:tc>
                  <a:txBody>
                    <a:bodyPr wrap="square"/>
                    <a:lstStyle/>
                    <a:p>
                      <a:r>
                        <a:rPr sz="2000" b="0">
                          <a:solidFill>
                            <a:srgbClr val="111A14"/>
                          </a:solidFill>
                          <a:latin typeface="Arial"/>
                        </a:rPr>
                        <a:t>11</a:t>
                      </a:r>
                    </a:p>
                  </a:txBody>
                  <a:tcPr marL="76200" marR="76200" marT="57150" marB="57150">
                    <a:solidFill>
                      <a:srgbClr val="FFFFFF"/>
                    </a:solidFill>
                  </a:tcPr>
                </a:tc>
                <a:tc>
                  <a:txBody>
                    <a:bodyPr wrap="square"/>
                    <a:lstStyle/>
                    <a:p>
                      <a:r>
                        <a:rPr sz="2000" b="0">
                          <a:solidFill>
                            <a:srgbClr val="111A14"/>
                          </a:solidFill>
                          <a:latin typeface="Arial"/>
                        </a:rPr>
                        <a:t>2</a:t>
                      </a:r>
                    </a:p>
                  </a:txBody>
                  <a:tcPr marL="76200" marR="76200" marT="57150" marB="57150">
                    <a:solidFill>
                      <a:srgbClr val="FFFFFF"/>
                    </a:solidFill>
                  </a:tcPr>
                </a:tc>
              </a:tr>
              <a:tr h="438150">
                <a:tc>
                  <a:txBody>
                    <a:bodyPr wrap="square"/>
                    <a:lstStyle/>
                    <a:p>
                      <a:r>
                        <a:rPr sz="2000" b="0">
                          <a:solidFill>
                            <a:srgbClr val="111A14"/>
                          </a:solidFill>
                          <a:latin typeface="Arial"/>
                        </a:rPr>
                        <a:t>Faction C</a:t>
                      </a:r>
                    </a:p>
                  </a:txBody>
                  <a:tcPr marL="76200" marR="76200" marT="57150" marB="57150">
                    <a:solidFill>
                      <a:srgbClr val="FFFFFF"/>
                    </a:solidFill>
                  </a:tcPr>
                </a:tc>
                <a:tc>
                  <a:txBody>
                    <a:bodyPr wrap="square"/>
                    <a:lstStyle/>
                    <a:p>
                      <a:r>
                        <a:rPr sz="2000" b="0">
                          <a:solidFill>
                            <a:srgbClr val="111A14"/>
                          </a:solidFill>
                          <a:latin typeface="Arial"/>
                        </a:rPr>
                        <a:t>0</a:t>
                      </a:r>
                    </a:p>
                  </a:txBody>
                  <a:tcPr marL="76200" marR="76200" marT="57150" marB="57150">
                    <a:solidFill>
                      <a:srgbClr val="FFFFFF"/>
                    </a:solidFill>
                  </a:tcPr>
                </a:tc>
                <a:tc>
                  <a:txBody>
                    <a:bodyPr wrap="square"/>
                    <a:lstStyle/>
                    <a:p>
                      <a:r>
                        <a:rPr sz="2000" b="0">
                          <a:solidFill>
                            <a:srgbClr val="111A14"/>
                          </a:solidFill>
                          <a:latin typeface="Arial"/>
                        </a:rPr>
                        <a:t>1</a:t>
                      </a:r>
                    </a:p>
                  </a:txBody>
                  <a:tcPr marL="76200" marR="76200" marT="57150" marB="57150">
                    <a:solidFill>
                      <a:srgbClr val="FFFFFF"/>
                    </a:solidFill>
                  </a:tcPr>
                </a:tc>
                <a:tc>
                  <a:txBody>
                    <a:bodyPr wrap="square"/>
                    <a:lstStyle/>
                    <a:p>
                      <a:r>
                        <a:rPr sz="2000" b="0">
                          <a:solidFill>
                            <a:srgbClr val="111A14"/>
                          </a:solidFill>
                          <a:latin typeface="Arial"/>
                        </a:rPr>
                        <a:t>2</a:t>
                      </a:r>
                    </a:p>
                  </a:txBody>
                  <a:tcPr marL="76200" marR="76200" marT="57150" marB="57150">
                    <a:solidFill>
                      <a:srgbClr val="FFFFFF"/>
                    </a:solidFill>
                  </a:tcPr>
                </a:tc>
                <a:tc>
                  <a:txBody>
                    <a:bodyPr wrap="square"/>
                    <a:lstStyle/>
                    <a:p>
                      <a:r>
                        <a:rPr sz="2000" b="0">
                          <a:solidFill>
                            <a:srgbClr val="111A14"/>
                          </a:solidFill>
                          <a:latin typeface="Arial"/>
                        </a:rPr>
                        <a:t>5</a:t>
                      </a:r>
                    </a:p>
                  </a:txBody>
                  <a:tcPr marL="76200" marR="76200" marT="57150" marB="57150">
                    <a:solidFill>
                      <a:srgbClr val="FFFFFF"/>
                    </a:solidFill>
                  </a:tcPr>
                </a:tc>
                <a:tc>
                  <a:txBody>
                    <a:bodyPr wrap="square"/>
                    <a:lstStyle/>
                    <a:p>
                      <a:r>
                        <a:rPr sz="2000" b="0">
                          <a:solidFill>
                            <a:srgbClr val="111A14"/>
                          </a:solidFill>
                          <a:latin typeface="Arial"/>
                        </a:rPr>
                        <a:t>3</a:t>
                      </a:r>
                    </a:p>
                  </a:txBody>
                  <a:tcPr marL="76200" marR="76200" marT="57150" marB="57150">
                    <a:solidFill>
                      <a:srgbClr val="FFFFFF"/>
                    </a:solidFill>
                  </a:tcPr>
                </a:tc>
              </a:tr>
              <a:tr h="438150">
                <a:tc>
                  <a:txBody>
                    <a:bodyPr wrap="square"/>
                    <a:lstStyle/>
                    <a:p>
                      <a:r>
                        <a:rPr sz="2000" b="0">
                          <a:solidFill>
                            <a:srgbClr val="111A14"/>
                          </a:solidFill>
                          <a:latin typeface="Arial"/>
                        </a:rPr>
                        <a:t>Faction D</a:t>
                      </a:r>
                    </a:p>
                  </a:txBody>
                  <a:tcPr marL="76200" marR="76200" marT="57150" marB="57150">
                    <a:solidFill>
                      <a:srgbClr val="FFFFFF"/>
                    </a:solidFill>
                  </a:tcPr>
                </a:tc>
                <a:tc>
                  <a:txBody>
                    <a:bodyPr wrap="square"/>
                    <a:lstStyle/>
                    <a:p>
                      <a:r>
                        <a:rPr sz="2000" b="0">
                          <a:solidFill>
                            <a:srgbClr val="111A14"/>
                          </a:solidFill>
                          <a:latin typeface="Arial"/>
                        </a:rPr>
                        <a:t>0</a:t>
                      </a:r>
                    </a:p>
                  </a:txBody>
                  <a:tcPr marL="76200" marR="76200" marT="57150" marB="57150">
                    <a:solidFill>
                      <a:srgbClr val="FFFFFF"/>
                    </a:solidFill>
                  </a:tcPr>
                </a:tc>
                <a:tc>
                  <a:txBody>
                    <a:bodyPr wrap="square"/>
                    <a:lstStyle/>
                    <a:p>
                      <a:r>
                        <a:rPr sz="2000" b="0">
                          <a:solidFill>
                            <a:srgbClr val="111A14"/>
                          </a:solidFill>
                          <a:latin typeface="Arial"/>
                        </a:rPr>
                        <a:t>0</a:t>
                      </a:r>
                    </a:p>
                  </a:txBody>
                  <a:tcPr marL="76200" marR="76200" marT="57150" marB="57150">
                    <a:solidFill>
                      <a:srgbClr val="FFFFFF"/>
                    </a:solidFill>
                  </a:tcPr>
                </a:tc>
                <a:tc>
                  <a:txBody>
                    <a:bodyPr wrap="square"/>
                    <a:lstStyle/>
                    <a:p>
                      <a:r>
                        <a:rPr sz="2000" b="0">
                          <a:solidFill>
                            <a:srgbClr val="111A14"/>
                          </a:solidFill>
                          <a:latin typeface="Arial"/>
                        </a:rPr>
                        <a:t>0</a:t>
                      </a:r>
                    </a:p>
                  </a:txBody>
                  <a:tcPr marL="76200" marR="76200" marT="57150" marB="57150">
                    <a:solidFill>
                      <a:srgbClr val="FFFFFF"/>
                    </a:solidFill>
                  </a:tcPr>
                </a:tc>
                <a:tc>
                  <a:txBody>
                    <a:bodyPr wrap="square"/>
                    <a:lstStyle/>
                    <a:p>
                      <a:r>
                        <a:rPr sz="2000" b="0">
                          <a:solidFill>
                            <a:srgbClr val="111A14"/>
                          </a:solidFill>
                          <a:latin typeface="Arial"/>
                        </a:rPr>
                        <a:t>0</a:t>
                      </a:r>
                    </a:p>
                  </a:txBody>
                  <a:tcPr marL="76200" marR="76200" marT="57150" marB="57150">
                    <a:solidFill>
                      <a:srgbClr val="FFFFFF"/>
                    </a:solidFill>
                  </a:tcPr>
                </a:tc>
                <a:tc>
                  <a:txBody>
                    <a:bodyPr wrap="square"/>
                    <a:lstStyle/>
                    <a:p>
                      <a:r>
                        <a:rPr sz="2000" b="0">
                          <a:solidFill>
                            <a:srgbClr val="111A14"/>
                          </a:solidFill>
                          <a:latin typeface="Arial"/>
                        </a:rPr>
                        <a:t>4</a:t>
                      </a:r>
                    </a:p>
                  </a:txBody>
                  <a:tcPr marL="76200" marR="76200" marT="57150" marB="57150">
                    <a:solidFill>
                      <a:srgbClr val="FFFFFF"/>
                    </a:solidFill>
                  </a:tcPr>
                </a:tc>
              </a:tr>
            </a:tbl>
          </a:graphicData>
        </a:graphic>
      </p:graphicFrame>
      <p:sp>
        <p:nvSpPr>
          <p:cNvPr id="8" name="TextBox 7"/>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Technical Deep-Dive</a:t>
            </a:r>
          </a:p>
        </p:txBody>
      </p:sp>
      <p:sp>
        <p:nvSpPr>
          <p:cNvPr id="9" name="TextBox 8"/>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Automatic advancement</a:t>
            </a:r>
          </a:p>
        </p:txBody>
      </p:sp>
      <p:pic>
        <p:nvPicPr>
          <p:cNvPr id="6" name="Picture 5" descr="slide-flow.png"/>
          <p:cNvPicPr>
            <a:picLocks noChangeAspect="1"/>
          </p:cNvPicPr>
          <p:nvPr/>
        </p:nvPicPr>
        <p:blipFill>
          <a:blip r:embed="rId2"/>
          <a:stretch>
            <a:fillRect/>
          </a:stretch>
        </p:blipFill>
        <p:spPr>
          <a:xfrm>
            <a:off x="666750" y="1396729"/>
            <a:ext cx="10858500" cy="1111791"/>
          </a:xfrm>
          <a:prstGeom prst="rect">
            <a:avLst/>
          </a:prstGeom>
        </p:spPr>
      </p:pic>
      <p:sp>
        <p:nvSpPr>
          <p:cNvPr id="7" name="Rectangle 6"/>
          <p:cNvSpPr/>
          <p:nvPr/>
        </p:nvSpPr>
        <p:spPr>
          <a:xfrm>
            <a:off x="800100" y="317093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7750" y="304800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Generated games store sources: seed, winner, loser, rank</a:t>
            </a:r>
          </a:p>
        </p:txBody>
      </p:sp>
      <p:sp>
        <p:nvSpPr>
          <p:cNvPr id="9" name="Rectangle 8"/>
          <p:cNvSpPr/>
          <p:nvPr/>
        </p:nvSpPr>
        <p:spPr>
          <a:xfrm>
            <a:off x="800100" y="365988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7750" y="3536950"/>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Trigger → app.sk_resolve recomputes sides idempotently</a:t>
            </a:r>
          </a:p>
        </p:txBody>
      </p:sp>
      <p:sp>
        <p:nvSpPr>
          <p:cNvPr id="11" name="Rectangle 10"/>
          <p:cNvSpPr/>
          <p:nvPr/>
        </p:nvSpPr>
        <p:spPr>
          <a:xfrm>
            <a:off x="800100" y="4148836"/>
            <a:ext cx="89408" cy="89408"/>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7750" y="4025899"/>
            <a:ext cx="10382250" cy="354329"/>
          </a:xfrm>
          <a:prstGeom prst="rect">
            <a:avLst/>
          </a:prstGeom>
          <a:noFill/>
        </p:spPr>
        <p:txBody>
          <a:bodyPr wrap="square" lIns="19050" rIns="19050" tIns="0" bIns="0" anchor="t">
            <a:spAutoFit/>
          </a:bodyPr>
          <a:lstStyle/>
          <a:p>
            <a:pPr algn="l">
              <a:lnSpc>
                <a:spcPct val="115000"/>
              </a:lnSpc>
            </a:pPr>
            <a:r>
              <a:rPr sz="2200" b="0">
                <a:solidFill>
                  <a:srgbClr val="111A14"/>
                </a:solidFill>
                <a:latin typeface="Arial"/>
              </a:rPr>
              <a:t>Started games never change; knockout ties refused</a:t>
            </a:r>
          </a:p>
        </p:txBody>
      </p:sp>
      <p:sp>
        <p:nvSpPr>
          <p:cNvPr id="13" name="TextBox 12"/>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Technical Deep-Dive</a:t>
            </a:r>
          </a:p>
        </p:txBody>
      </p:sp>
      <p:sp>
        <p:nvSpPr>
          <p:cNvPr id="14" name="TextBox 13"/>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Round robin and contests</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Standings: wins → difference → head-to-head → points → seed</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Same order in SQL (sk_rr_table) and TypeScript</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Contest = session row + entries; unit “s” → lowest wins</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Medals suggested; staff confirm via sk_set_placements</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Technical Deep-Dive</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 y="2857500"/>
            <a:ext cx="1143000" cy="762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7250" y="3048000"/>
            <a:ext cx="10477500" cy="1333500"/>
          </a:xfrm>
          <a:prstGeom prst="rect">
            <a:avLst/>
          </a:prstGeom>
          <a:noFill/>
        </p:spPr>
        <p:txBody>
          <a:bodyPr wrap="square" lIns="19050" rIns="19050" tIns="0" bIns="0" anchor="t">
            <a:spAutoFit/>
          </a:bodyPr>
          <a:lstStyle/>
          <a:p>
            <a:pPr algn="l">
              <a:lnSpc>
                <a:spcPct val="115000"/>
              </a:lnSpc>
            </a:pPr>
            <a:r>
              <a:rPr sz="4000" b="1">
                <a:solidFill>
                  <a:srgbClr val="FFFFFF"/>
                </a:solidFill>
                <a:latin typeface="Arial"/>
              </a:rPr>
              <a:t>Real-time updates</a:t>
            </a:r>
          </a:p>
        </p:txBody>
      </p:sp>
      <p:sp>
        <p:nvSpPr>
          <p:cNvPr id="5" name="TextBox 4"/>
          <p:cNvSpPr txBox="1"/>
          <p:nvPr/>
        </p:nvSpPr>
        <p:spPr>
          <a:xfrm>
            <a:off x="857250" y="4476750"/>
            <a:ext cx="10477500" cy="762000"/>
          </a:xfrm>
          <a:prstGeom prst="rect">
            <a:avLst/>
          </a:prstGeom>
          <a:noFill/>
        </p:spPr>
        <p:txBody>
          <a:bodyPr wrap="square" lIns="19050" rIns="19050" tIns="0" bIns="0" anchor="t">
            <a:spAutoFit/>
          </a:bodyPr>
          <a:lstStyle/>
          <a:p>
            <a:pPr algn="l">
              <a:lnSpc>
                <a:spcPct val="115000"/>
              </a:lnSpc>
            </a:pPr>
            <a:r>
              <a:rPr sz="2000" b="0">
                <a:solidFill>
                  <a:srgbClr val="D9E8B0"/>
                </a:solidFill>
                <a:latin typeface="Arial"/>
              </a:rPr>
              <a:t/>
            </a:r>
          </a:p>
        </p:txBody>
      </p:sp>
      <p:sp>
        <p:nvSpPr>
          <p:cNvPr id="6" name="TextBox 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Technical Deep-Dive</a:t>
            </a:r>
          </a:p>
        </p:txBody>
      </p:sp>
      <p:sp>
        <p:nvSpPr>
          <p:cNvPr id="7" name="TextBox 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Live score sequence</a:t>
            </a:r>
          </a:p>
        </p:txBody>
      </p:sp>
      <p:pic>
        <p:nvPicPr>
          <p:cNvPr id="6" name="Picture 5" descr="seq-4-live-score.png"/>
          <p:cNvPicPr>
            <a:picLocks noChangeAspect="1"/>
          </p:cNvPicPr>
          <p:nvPr/>
        </p:nvPicPr>
        <p:blipFill>
          <a:blip r:embed="rId2"/>
          <a:stretch>
            <a:fillRect/>
          </a:stretch>
        </p:blipFill>
        <p:spPr>
          <a:xfrm>
            <a:off x="666750" y="1670869"/>
            <a:ext cx="10858500" cy="3782961"/>
          </a:xfrm>
          <a:prstGeom prst="rect">
            <a:avLst/>
          </a:prstGeom>
        </p:spPr>
      </p:pic>
      <p:sp>
        <p:nvSpPr>
          <p:cNvPr id="7" name="Rectangle 6"/>
          <p:cNvSpPr/>
          <p:nvPr/>
        </p:nvSpPr>
        <p:spPr>
          <a:xfrm>
            <a:off x="666750" y="1670869"/>
            <a:ext cx="10858500" cy="3782961"/>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6750" y="6038850"/>
            <a:ext cx="10858500" cy="285750"/>
          </a:xfrm>
          <a:prstGeom prst="rect">
            <a:avLst/>
          </a:prstGeom>
          <a:noFill/>
        </p:spPr>
        <p:txBody>
          <a:bodyPr wrap="square" lIns="19050" rIns="19050" tIns="0" bIns="0" anchor="t">
            <a:spAutoFit/>
          </a:bodyPr>
          <a:lstStyle/>
          <a:p>
            <a:pPr algn="ctr">
              <a:lnSpc>
                <a:spcPct val="115000"/>
              </a:lnSpc>
            </a:pPr>
            <a:r>
              <a:rPr sz="1300" b="0">
                <a:solidFill>
                  <a:srgbClr val="556058"/>
                </a:solidFill>
                <a:latin typeface="Arial"/>
              </a:rPr>
              <a:t>SEQ-4: scorekeeper → sk_matches → triggers → Realtime → readers refetch</a:t>
            </a:r>
          </a:p>
        </p:txBody>
      </p:sp>
      <p:sp>
        <p:nvSpPr>
          <p:cNvPr id="9" name="TextBox 8"/>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Technical Deep-Dive</a:t>
            </a:r>
          </a:p>
        </p:txBody>
      </p:sp>
      <p:sp>
        <p:nvSpPr>
          <p:cNvPr id="10" name="TextBox 9"/>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7250" y="2857500"/>
            <a:ext cx="1143000" cy="762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7250" y="3048000"/>
            <a:ext cx="10477500" cy="1333500"/>
          </a:xfrm>
          <a:prstGeom prst="rect">
            <a:avLst/>
          </a:prstGeom>
          <a:noFill/>
        </p:spPr>
        <p:txBody>
          <a:bodyPr wrap="square" lIns="19050" rIns="19050" tIns="0" bIns="0" anchor="t">
            <a:spAutoFit/>
          </a:bodyPr>
          <a:lstStyle/>
          <a:p>
            <a:pPr algn="l">
              <a:lnSpc>
                <a:spcPct val="115000"/>
              </a:lnSpc>
            </a:pPr>
            <a:r>
              <a:rPr sz="4000" b="1">
                <a:solidFill>
                  <a:srgbClr val="FFFFFF"/>
                </a:solidFill>
                <a:latin typeface="Arial"/>
              </a:rPr>
              <a:t>Edge, forms and statistics</a:t>
            </a:r>
          </a:p>
        </p:txBody>
      </p:sp>
      <p:sp>
        <p:nvSpPr>
          <p:cNvPr id="5" name="TextBox 4"/>
          <p:cNvSpPr txBox="1"/>
          <p:nvPr/>
        </p:nvSpPr>
        <p:spPr>
          <a:xfrm>
            <a:off x="857250" y="4476750"/>
            <a:ext cx="10477500" cy="762000"/>
          </a:xfrm>
          <a:prstGeom prst="rect">
            <a:avLst/>
          </a:prstGeom>
          <a:noFill/>
        </p:spPr>
        <p:txBody>
          <a:bodyPr wrap="square" lIns="19050" rIns="19050" tIns="0" bIns="0" anchor="t">
            <a:spAutoFit/>
          </a:bodyPr>
          <a:lstStyle/>
          <a:p>
            <a:pPr algn="l">
              <a:lnSpc>
                <a:spcPct val="115000"/>
              </a:lnSpc>
            </a:pPr>
            <a:r>
              <a:rPr sz="2000" b="0">
                <a:solidFill>
                  <a:srgbClr val="D9E8B0"/>
                </a:solidFill>
                <a:latin typeface="Arial"/>
              </a:rPr>
              <a:t/>
            </a:r>
          </a:p>
        </p:txBody>
      </p:sp>
      <p:sp>
        <p:nvSpPr>
          <p:cNvPr id="6" name="TextBox 5"/>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Technical Deep-Dive</a:t>
            </a:r>
          </a:p>
        </p:txBody>
      </p:sp>
      <p:sp>
        <p:nvSpPr>
          <p:cNvPr id="7" name="TextBox 6"/>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Public form gateway</a:t>
            </a:r>
          </a:p>
        </p:txBody>
      </p:sp>
      <p:pic>
        <p:nvPicPr>
          <p:cNvPr id="6" name="Picture 5" descr="seq-6-public-form.png"/>
          <p:cNvPicPr>
            <a:picLocks noChangeAspect="1"/>
          </p:cNvPicPr>
          <p:nvPr/>
        </p:nvPicPr>
        <p:blipFill>
          <a:blip r:embed="rId2"/>
          <a:stretch>
            <a:fillRect/>
          </a:stretch>
        </p:blipFill>
        <p:spPr>
          <a:xfrm>
            <a:off x="2180144" y="1143000"/>
            <a:ext cx="7831710" cy="4838700"/>
          </a:xfrm>
          <a:prstGeom prst="rect">
            <a:avLst/>
          </a:prstGeom>
        </p:spPr>
      </p:pic>
      <p:sp>
        <p:nvSpPr>
          <p:cNvPr id="7" name="Rectangle 6"/>
          <p:cNvSpPr/>
          <p:nvPr/>
        </p:nvSpPr>
        <p:spPr>
          <a:xfrm>
            <a:off x="2180144" y="1143000"/>
            <a:ext cx="7831710" cy="4838700"/>
          </a:xfrm>
          <a:prstGeom prst="rect">
            <a:avLst/>
          </a:prstGeom>
          <a:noFill/>
          <a:ln w="9525">
            <a:solidFill>
              <a:srgbClr val="C9D3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6750" y="6038850"/>
            <a:ext cx="10858500" cy="285750"/>
          </a:xfrm>
          <a:prstGeom prst="rect">
            <a:avLst/>
          </a:prstGeom>
          <a:noFill/>
        </p:spPr>
        <p:txBody>
          <a:bodyPr wrap="square" lIns="19050" rIns="19050" tIns="0" bIns="0" anchor="t">
            <a:spAutoFit/>
          </a:bodyPr>
          <a:lstStyle/>
          <a:p>
            <a:pPr algn="ctr">
              <a:lnSpc>
                <a:spcPct val="115000"/>
              </a:lnSpc>
            </a:pPr>
            <a:r>
              <a:rPr sz="1300" b="0">
                <a:solidFill>
                  <a:srgbClr val="556058"/>
                </a:solidFill>
                <a:latin typeface="Arial"/>
              </a:rPr>
              <a:t>SEQ-6: Turnstile → signed upload links → HMAC ticket → service-role RPC</a:t>
            </a:r>
          </a:p>
        </p:txBody>
      </p:sp>
      <p:sp>
        <p:nvSpPr>
          <p:cNvPr id="9" name="TextBox 8"/>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Technical Deep-Dive</a:t>
            </a:r>
          </a:p>
        </p:txBody>
      </p:sp>
      <p:sp>
        <p:nvSpPr>
          <p:cNvPr id="10" name="TextBox 9"/>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Edge cache and statistics</a:t>
            </a:r>
          </a:p>
        </p:txBody>
      </p:sp>
      <p:graphicFrame>
        <p:nvGraphicFramePr>
          <p:cNvPr id="6" name="Table 5"/>
          <p:cNvGraphicFramePr>
            <a:graphicFrameLocks noGrp="1"/>
          </p:cNvGraphicFramePr>
          <p:nvPr/>
        </p:nvGraphicFramePr>
        <p:xfrm>
          <a:off x="666750" y="1143000"/>
          <a:ext cx="10858499" cy="2057400"/>
        </p:xfrm>
        <a:graphic>
          <a:graphicData uri="http://schemas.openxmlformats.org/drawingml/2006/table">
            <a:tbl>
              <a:tblPr firstRow="1" bandRow="1">
                <a:tableStyleId>{5C22544A-7EE6-4342-B048-85BDC9FD1C3A}</a:tableStyleId>
              </a:tblPr>
              <a:tblGrid>
                <a:gridCol w="2383573"/>
                <a:gridCol w="8474926"/>
              </a:tblGrid>
              <a:tr h="438150">
                <a:tc>
                  <a:txBody>
                    <a:bodyPr wrap="square"/>
                    <a:lstStyle/>
                    <a:p>
                      <a:r>
                        <a:rPr sz="2000" b="1">
                          <a:solidFill>
                            <a:srgbClr val="14361F"/>
                          </a:solidFill>
                          <a:latin typeface="Arial"/>
                        </a:rPr>
                        <a:t>Piece</a:t>
                      </a:r>
                    </a:p>
                  </a:txBody>
                  <a:tcPr marL="76200" marR="76200" marT="57150" marB="57150">
                    <a:solidFill>
                      <a:srgbClr val="E8F1E9"/>
                    </a:solidFill>
                  </a:tcPr>
                </a:tc>
                <a:tc>
                  <a:txBody>
                    <a:bodyPr wrap="square"/>
                    <a:lstStyle/>
                    <a:p>
                      <a:r>
                        <a:rPr sz="2000" b="1">
                          <a:solidFill>
                            <a:srgbClr val="14361F"/>
                          </a:solidFill>
                          <a:latin typeface="Arial"/>
                        </a:rPr>
                        <a:t>Design</a:t>
                      </a:r>
                    </a:p>
                  </a:txBody>
                  <a:tcPr marL="76200" marR="76200" marT="57150" marB="57150">
                    <a:solidFill>
                      <a:srgbClr val="E8F1E9"/>
                    </a:solidFill>
                  </a:tcPr>
                </a:tc>
              </a:tr>
              <a:tr h="742950">
                <a:tc>
                  <a:txBody>
                    <a:bodyPr wrap="square"/>
                    <a:lstStyle/>
                    <a:p>
                      <a:r>
                        <a:rPr sz="2000" b="0">
                          <a:solidFill>
                            <a:srgbClr val="111A14"/>
                          </a:solidFill>
                          <a:latin typeface="Arial"/>
                        </a:rPr>
                        <a:t>/api/r</a:t>
                      </a:r>
                    </a:p>
                  </a:txBody>
                  <a:tcPr marL="76200" marR="76200" marT="57150" marB="57150">
                    <a:solidFill>
                      <a:srgbClr val="FFFFFF"/>
                    </a:solidFill>
                  </a:tcPr>
                </a:tc>
                <a:tc>
                  <a:txBody>
                    <a:bodyPr wrap="square"/>
                    <a:lstStyle/>
                    <a:p>
                      <a:r>
                        <a:rPr sz="2000" b="0">
                          <a:solidFill>
                            <a:srgbClr val="111A14"/>
                          </a:solidFill>
                          <a:latin typeface="Arial"/>
                        </a:rPr>
                        <a:t>Anonymous GETs of slow-changing tables; CDN 60 s, stale 300 s; live data excluded</a:t>
                      </a:r>
                    </a:p>
                  </a:txBody>
                  <a:tcPr marL="76200" marR="76200" marT="57150" marB="57150">
                    <a:solidFill>
                      <a:srgbClr val="FFFFFF"/>
                    </a:solidFill>
                  </a:tcPr>
                </a:tc>
              </a:tr>
              <a:tr h="438150">
                <a:tc>
                  <a:txBody>
                    <a:bodyPr wrap="square"/>
                    <a:lstStyle/>
                    <a:p>
                      <a:r>
                        <a:rPr sz="2000" b="0">
                          <a:solidFill>
                            <a:srgbClr val="111A14"/>
                          </a:solidFill>
                          <a:latin typeface="Arial"/>
                        </a:rPr>
                        <a:t>/api/e</a:t>
                      </a:r>
                    </a:p>
                  </a:txBody>
                  <a:tcPr marL="76200" marR="76200" marT="57150" marB="57150">
                    <a:solidFill>
                      <a:srgbClr val="FFFFFF"/>
                    </a:solidFill>
                  </a:tcPr>
                </a:tc>
                <a:tc>
                  <a:txBody>
                    <a:bodyPr wrap="square"/>
                    <a:lstStyle/>
                    <a:p>
                      <a:r>
                        <a:rPr sz="2000" b="0">
                          <a:solidFill>
                            <a:srgbClr val="111A14"/>
                          </a:solidFill>
                          <a:latin typeface="Arial"/>
                        </a:rPr>
                        <a:t>Batched events; bots dropped; no IP; service-role ingest</a:t>
                      </a:r>
                    </a:p>
                  </a:txBody>
                  <a:tcPr marL="76200" marR="76200" marT="57150" marB="57150">
                    <a:solidFill>
                      <a:srgbClr val="FFFFFF"/>
                    </a:solidFill>
                  </a:tcPr>
                </a:tc>
              </a:tr>
              <a:tr h="438150">
                <a:tc>
                  <a:txBody>
                    <a:bodyPr wrap="square"/>
                    <a:lstStyle/>
                    <a:p>
                      <a:r>
                        <a:rPr sz="2000" b="0">
                          <a:solidFill>
                            <a:srgbClr val="111A14"/>
                          </a:solidFill>
                          <a:latin typeface="Arial"/>
                        </a:rPr>
                        <a:t>stats.sql</a:t>
                      </a:r>
                    </a:p>
                  </a:txBody>
                  <a:tcPr marL="76200" marR="76200" marT="57150" marB="57150">
                    <a:solidFill>
                      <a:srgbClr val="FFFFFF"/>
                    </a:solidFill>
                  </a:tcPr>
                </a:tc>
                <a:tc>
                  <a:txBody>
                    <a:bodyPr wrap="square"/>
                    <a:lstStyle/>
                    <a:p>
                      <a:r>
                        <a:rPr sz="2000" b="0">
                          <a:solidFill>
                            <a:srgbClr val="111A14"/>
                          </a:solidFill>
                          <a:latin typeface="Arial"/>
                        </a:rPr>
                        <a:t>Daily-salted hashes; dedupe 30 min; nightly rollup; 13-month retention</a:t>
                      </a:r>
                    </a:p>
                  </a:txBody>
                  <a:tcPr marL="76200" marR="76200" marT="57150" marB="57150">
                    <a:solidFill>
                      <a:srgbClr val="FFFFFF"/>
                    </a:solidFill>
                  </a:tcPr>
                </a:tc>
              </a:tr>
            </a:tbl>
          </a:graphicData>
        </a:graphic>
      </p:graphicFrame>
      <p:sp>
        <p:nvSpPr>
          <p:cNvPr id="7" name="TextBox 6"/>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Technical Deep-Dive</a:t>
            </a:r>
          </a:p>
        </p:txBody>
      </p:sp>
      <p:sp>
        <p:nvSpPr>
          <p:cNvPr id="8" name="TextBox 7"/>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57150"/>
          </a:xfrm>
          <a:prstGeom prst="rect">
            <a:avLst/>
          </a:prstGeom>
          <a:solidFill>
            <a:srgbClr val="1436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3400" y="419100"/>
            <a:ext cx="76200" cy="419100"/>
          </a:xfrm>
          <a:prstGeom prst="rect">
            <a:avLst/>
          </a:prstGeom>
          <a:solidFill>
            <a:srgbClr val="B5F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2950" y="381000"/>
            <a:ext cx="10858500" cy="514350"/>
          </a:xfrm>
          <a:prstGeom prst="rect">
            <a:avLst/>
          </a:prstGeom>
          <a:noFill/>
        </p:spPr>
        <p:txBody>
          <a:bodyPr wrap="square" lIns="19050" rIns="19050" tIns="0" bIns="0" anchor="ctr">
            <a:spAutoFit/>
          </a:bodyPr>
          <a:lstStyle/>
          <a:p>
            <a:pPr algn="l">
              <a:lnSpc>
                <a:spcPct val="115000"/>
              </a:lnSpc>
            </a:pPr>
            <a:r>
              <a:rPr sz="2800" b="1">
                <a:solidFill>
                  <a:srgbClr val="0F2A1A"/>
                </a:solidFill>
                <a:latin typeface="Arial"/>
              </a:rPr>
              <a:t>Deployment and operations</a:t>
            </a:r>
          </a:p>
        </p:txBody>
      </p:sp>
      <p:sp>
        <p:nvSpPr>
          <p:cNvPr id="6" name="Rectangle 5"/>
          <p:cNvSpPr/>
          <p:nvPr/>
        </p:nvSpPr>
        <p:spPr>
          <a:xfrm>
            <a:off x="800100" y="12771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47750" y="11430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main → Vercel production; feature branches → previews</a:t>
            </a:r>
          </a:p>
        </p:txBody>
      </p:sp>
      <p:sp>
        <p:nvSpPr>
          <p:cNvPr id="8" name="Rectangle 7"/>
          <p:cNvSpPr/>
          <p:nvPr/>
        </p:nvSpPr>
        <p:spPr>
          <a:xfrm>
            <a:off x="800100" y="1810511"/>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7750" y="16764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SQL pasted in order: schema → salingkusog → stats → seed</a:t>
            </a:r>
          </a:p>
        </p:txBody>
      </p:sp>
      <p:sp>
        <p:nvSpPr>
          <p:cNvPr id="10" name="Rectangle 9"/>
          <p:cNvSpPr/>
          <p:nvPr/>
        </p:nvSpPr>
        <p:spPr>
          <a:xfrm>
            <a:off x="800100" y="23439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7750" y="22098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Gates: npm run check + npm run db:test</a:t>
            </a:r>
          </a:p>
        </p:txBody>
      </p:sp>
      <p:sp>
        <p:nvSpPr>
          <p:cNvPr id="12" name="Rectangle 11"/>
          <p:cNvSpPr/>
          <p:nvPr/>
        </p:nvSpPr>
        <p:spPr>
          <a:xfrm>
            <a:off x="800100" y="2877312"/>
            <a:ext cx="97536" cy="97536"/>
          </a:xfrm>
          <a:prstGeom prst="rect">
            <a:avLst/>
          </a:prstGeom>
          <a:solidFill>
            <a:srgbClr val="3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7750" y="2743200"/>
            <a:ext cx="10382250" cy="384810"/>
          </a:xfrm>
          <a:prstGeom prst="rect">
            <a:avLst/>
          </a:prstGeom>
          <a:noFill/>
        </p:spPr>
        <p:txBody>
          <a:bodyPr wrap="square" lIns="19050" rIns="19050" tIns="0" bIns="0" anchor="t">
            <a:spAutoFit/>
          </a:bodyPr>
          <a:lstStyle/>
          <a:p>
            <a:pPr algn="l">
              <a:lnSpc>
                <a:spcPct val="115000"/>
              </a:lnSpc>
            </a:pPr>
            <a:r>
              <a:rPr sz="2400" b="0">
                <a:solidFill>
                  <a:srgbClr val="111A14"/>
                </a:solidFill>
                <a:latin typeface="Arial"/>
              </a:rPr>
              <a:t>Rollback: promote previous deployment; re-run old SQL</a:t>
            </a:r>
          </a:p>
        </p:txBody>
      </p:sp>
      <p:sp>
        <p:nvSpPr>
          <p:cNvPr id="14" name="TextBox 13"/>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556058"/>
                </a:solidFill>
                <a:latin typeface="Arial"/>
              </a:rPr>
              <a:t>Amaranth v2 · Technical Deep-Dive</a:t>
            </a:r>
          </a:p>
        </p:txBody>
      </p:sp>
      <p:sp>
        <p:nvSpPr>
          <p:cNvPr id="15" name="TextBox 14"/>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55605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F2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57250" y="2095500"/>
            <a:ext cx="10477500" cy="1143000"/>
          </a:xfrm>
          <a:prstGeom prst="rect">
            <a:avLst/>
          </a:prstGeom>
          <a:noFill/>
        </p:spPr>
        <p:txBody>
          <a:bodyPr wrap="square" lIns="19050" rIns="19050" tIns="0" bIns="0" anchor="t">
            <a:spAutoFit/>
          </a:bodyPr>
          <a:lstStyle/>
          <a:p>
            <a:pPr algn="l">
              <a:lnSpc>
                <a:spcPct val="115000"/>
              </a:lnSpc>
            </a:pPr>
            <a:r>
              <a:rPr sz="4400" b="1">
                <a:solidFill>
                  <a:srgbClr val="FFFFFF"/>
                </a:solidFill>
                <a:latin typeface="Arial"/>
              </a:rPr>
              <a:t>Questions on the technical design?</a:t>
            </a:r>
          </a:p>
        </p:txBody>
      </p:sp>
      <p:sp>
        <p:nvSpPr>
          <p:cNvPr id="4" name="TextBox 3"/>
          <p:cNvSpPr txBox="1"/>
          <p:nvPr/>
        </p:nvSpPr>
        <p:spPr>
          <a:xfrm>
            <a:off x="857250" y="3333750"/>
            <a:ext cx="10477500" cy="1524000"/>
          </a:xfrm>
          <a:prstGeom prst="rect">
            <a:avLst/>
          </a:prstGeom>
          <a:noFill/>
        </p:spPr>
        <p:txBody>
          <a:bodyPr wrap="square" lIns="19050" rIns="19050" tIns="0" bIns="0" anchor="t">
            <a:spAutoFit/>
          </a:bodyPr>
          <a:lstStyle/>
          <a:p>
            <a:pPr algn="l">
              <a:lnSpc>
                <a:spcPct val="115000"/>
              </a:lnSpc>
            </a:pPr>
            <a:r>
              <a:rPr sz="2200" b="0">
                <a:solidFill>
                  <a:srgbClr val="D9E8B0"/>
                </a:solidFill>
                <a:latin typeface="Arial"/>
              </a:rPr>
              <a:t>Details: AMR-DOC-03 Architecture · AMR-DOC-04 Database · AMR-DOC-07 API</a:t>
            </a:r>
          </a:p>
        </p:txBody>
      </p:sp>
      <p:sp>
        <p:nvSpPr>
          <p:cNvPr id="5" name="TextBox 4"/>
          <p:cNvSpPr txBox="1"/>
          <p:nvPr/>
        </p:nvSpPr>
        <p:spPr>
          <a:xfrm>
            <a:off x="533400" y="6534150"/>
            <a:ext cx="5715000" cy="190500"/>
          </a:xfrm>
          <a:prstGeom prst="rect">
            <a:avLst/>
          </a:prstGeom>
          <a:noFill/>
        </p:spPr>
        <p:txBody>
          <a:bodyPr wrap="square" lIns="19050" rIns="19050" tIns="0" bIns="0" anchor="t">
            <a:spAutoFit/>
          </a:bodyPr>
          <a:lstStyle/>
          <a:p>
            <a:pPr algn="l">
              <a:lnSpc>
                <a:spcPct val="115000"/>
              </a:lnSpc>
            </a:pPr>
            <a:r>
              <a:rPr sz="1000" b="0">
                <a:solidFill>
                  <a:srgbClr val="B8C7BC"/>
                </a:solidFill>
                <a:latin typeface="Arial"/>
              </a:rPr>
              <a:t>Amaranth v2 · Technical Deep-Dive</a:t>
            </a:r>
          </a:p>
        </p:txBody>
      </p:sp>
      <p:sp>
        <p:nvSpPr>
          <p:cNvPr id="6" name="TextBox 5"/>
          <p:cNvSpPr txBox="1"/>
          <p:nvPr/>
        </p:nvSpPr>
        <p:spPr>
          <a:xfrm>
            <a:off x="10706100" y="6534150"/>
            <a:ext cx="952500" cy="190500"/>
          </a:xfrm>
          <a:prstGeom prst="rect">
            <a:avLst/>
          </a:prstGeom>
          <a:noFill/>
        </p:spPr>
        <p:txBody>
          <a:bodyPr wrap="square" lIns="19050" rIns="19050" tIns="0" bIns="0" anchor="t">
            <a:spAutoFit/>
          </a:bodyPr>
          <a:lstStyle/>
          <a:p>
            <a:pPr algn="r">
              <a:lnSpc>
                <a:spcPct val="115000"/>
              </a:lnSpc>
            </a:pPr>
            <a:r>
              <a:rPr sz="1000" b="0">
                <a:solidFill>
                  <a:srgbClr val="B8C7BC"/>
                </a:solidFill>
                <a:latin typeface="Arial"/>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
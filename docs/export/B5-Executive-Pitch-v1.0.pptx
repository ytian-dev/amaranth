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short presentation is for the administration and other stakeholders. It explains what Amaranth version 2 delivers, why it matters, what it costs and what we need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Amaranth now runs its whole editorial process in one system with clear responsibilities. Students and the community get fast, accessible news on their phones. Salingkusog results are live and computed automatically, and the system was designed with accountability and data privacy in mind.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Concretely: twelve site sections each with its own layout, seven staff roles whose permissions are enforced by the database, seventy-four Salingkusog events already configured for the 2026 games, and an accessibility score of one hundred.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Readers get a modern news site that works well on phones, with search and archives, safe forms to submit stories and report events, and live Salingkusog results.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newsroom, every article follows a clear review path with notes and history, only authorised people can publish, and every change to access is recorded. Editors have a media library, moderation tools and privacy-friendly statistics.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intramural games, brackets fill themselves in, scores come live from scorekeepers’ phones, and the medal table is computed by the system. Every medal is confirmed by a person before it counts, which protects the official result.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runs on managed cloud services with free or low-cost tiers, and all libraries are open source. Exact plan costs and the domain are to be confirmed. The main resource is people: student developers, the editorial board and the adviser.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managed: permissions are enforced by the database, more than five hundred automated checks pass, there is a runbook for backups and incidents, and data privacy is respected by collecting only minimal athlete data and using no tracking cookies.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ask for support on five next steps: a privacy notice and consent process for athletes, two-factor sign-in for administrators, a confirmed hosting plan and backups, a continuous testing pipeline, and a handover plan so next year’s staff can maintain the system.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Amaranth version 2 is ready for the Salingkusog 2026 games and for the years ahead. We welcome your questions and your support for the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1450" cy="68580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7250" y="1428750"/>
            <a:ext cx="9525000" cy="285750"/>
          </a:xfrm>
          <a:prstGeom prst="rect">
            <a:avLst/>
          </a:prstGeom>
          <a:noFill/>
        </p:spPr>
        <p:txBody>
          <a:bodyPr wrap="square" lIns="19050" rIns="19050" tIns="0" bIns="0" anchor="t">
            <a:spAutoFit/>
          </a:bodyPr>
          <a:lstStyle/>
          <a:p>
            <a:pPr algn="l">
              <a:lnSpc>
                <a:spcPct val="115000"/>
              </a:lnSpc>
            </a:pPr>
            <a:r>
              <a:rPr sz="1400" b="1">
                <a:solidFill>
                  <a:srgbClr val="B5F000"/>
                </a:solidFill>
                <a:latin typeface="Arial"/>
              </a:rPr>
              <a:t>AMARANTH · FOR STAKEHOLDERS</a:t>
            </a:r>
          </a:p>
        </p:txBody>
      </p:sp>
      <p:sp>
        <p:nvSpPr>
          <p:cNvPr id="5" name="TextBox 4"/>
          <p:cNvSpPr txBox="1"/>
          <p:nvPr/>
        </p:nvSpPr>
        <p:spPr>
          <a:xfrm>
            <a:off x="857250" y="1905000"/>
            <a:ext cx="10477500" cy="1809750"/>
          </a:xfrm>
          <a:prstGeom prst="rect">
            <a:avLst/>
          </a:prstGeom>
          <a:noFill/>
        </p:spPr>
        <p:txBody>
          <a:bodyPr wrap="square" lIns="19050" rIns="19050" tIns="0" bIns="0" anchor="t">
            <a:spAutoFit/>
          </a:bodyPr>
          <a:lstStyle/>
          <a:p>
            <a:pPr algn="l">
              <a:lnSpc>
                <a:spcPct val="115000"/>
              </a:lnSpc>
            </a:pPr>
            <a:r>
              <a:rPr sz="4400" b="1">
                <a:solidFill>
                  <a:srgbClr val="FFFFFF"/>
                </a:solidFill>
                <a:latin typeface="Arial"/>
              </a:rPr>
              <a:t>Amaranth v2</a:t>
            </a:r>
          </a:p>
        </p:txBody>
      </p:sp>
      <p:sp>
        <p:nvSpPr>
          <p:cNvPr id="6" name="TextBox 5"/>
          <p:cNvSpPr txBox="1"/>
          <p:nvPr/>
        </p:nvSpPr>
        <p:spPr>
          <a:xfrm>
            <a:off x="857250" y="3810000"/>
            <a:ext cx="10477500" cy="857250"/>
          </a:xfrm>
          <a:prstGeom prst="rect">
            <a:avLst/>
          </a:prstGeom>
          <a:noFill/>
        </p:spPr>
        <p:txBody>
          <a:bodyPr wrap="square" lIns="19050" rIns="19050" tIns="0" bIns="0" anchor="t">
            <a:spAutoFit/>
          </a:bodyPr>
          <a:lstStyle/>
          <a:p>
            <a:pPr algn="l">
              <a:lnSpc>
                <a:spcPct val="115000"/>
              </a:lnSpc>
            </a:pPr>
            <a:r>
              <a:rPr sz="2200" b="0">
                <a:solidFill>
                  <a:srgbClr val="D9E8B0"/>
                </a:solidFill>
                <a:latin typeface="Arial"/>
              </a:rPr>
              <a:t>A modern newsroom and live sports-results platform for VSU’s official student publication</a:t>
            </a:r>
          </a:p>
        </p:txBody>
      </p:sp>
      <p:sp>
        <p:nvSpPr>
          <p:cNvPr id="7" name="TextBox 6"/>
          <p:cNvSpPr txBox="1"/>
          <p:nvPr/>
        </p:nvSpPr>
        <p:spPr>
          <a:xfrm>
            <a:off x="857250" y="5334000"/>
            <a:ext cx="10477500" cy="666750"/>
          </a:xfrm>
          <a:prstGeom prst="rect">
            <a:avLst/>
          </a:prstGeom>
          <a:noFill/>
        </p:spPr>
        <p:txBody>
          <a:bodyPr wrap="square" lIns="19050" rIns="19050" tIns="0" bIns="0" anchor="t">
            <a:spAutoFit/>
          </a:bodyPr>
          <a:lstStyle/>
          <a:p>
            <a:pPr algn="l">
              <a:lnSpc>
                <a:spcPct val="115000"/>
              </a:lnSpc>
            </a:pPr>
            <a:r>
              <a:rPr sz="1400" b="0">
                <a:solidFill>
                  <a:srgbClr val="B8C7BC"/>
                </a:solidFill>
                <a:latin typeface="Arial"/>
              </a:rPr>
              <a:t>Version 1.0 · 2026-10-19 · [TO CONFIRM: audience and date]</a:t>
            </a:r>
          </a:p>
        </p:txBody>
      </p:sp>
      <p:sp>
        <p:nvSpPr>
          <p:cNvPr id="8" name="TextBox 7"/>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Executive Pitch</a:t>
            </a:r>
          </a:p>
        </p:txBody>
      </p:sp>
      <p:sp>
        <p:nvSpPr>
          <p:cNvPr id="9" name="TextBox 8"/>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Why it matters</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The publication now runs its whole editorial process online</a:t>
            </a:r>
          </a:p>
        </p:txBody>
      </p:sp>
      <p:sp>
        <p:nvSpPr>
          <p:cNvPr id="8" name="Rectangle 7"/>
          <p:cNvSpPr/>
          <p:nvPr/>
        </p:nvSpPr>
        <p:spPr>
          <a:xfrm>
            <a:off x="800100" y="18105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764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Readers get fast, accessible news on their phones</a:t>
            </a:r>
          </a:p>
        </p:txBody>
      </p:sp>
      <p:sp>
        <p:nvSpPr>
          <p:cNvPr id="10" name="Rectangle 9"/>
          <p:cNvSpPr/>
          <p:nvPr/>
        </p:nvSpPr>
        <p:spPr>
          <a:xfrm>
            <a:off x="800100" y="23439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2098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Salingkusog results are live and official</a:t>
            </a:r>
          </a:p>
        </p:txBody>
      </p:sp>
      <p:sp>
        <p:nvSpPr>
          <p:cNvPr id="12" name="Rectangle 11"/>
          <p:cNvSpPr/>
          <p:nvPr/>
        </p:nvSpPr>
        <p:spPr>
          <a:xfrm>
            <a:off x="800100" y="28773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27432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Built for accountability and privacy</a:t>
            </a:r>
          </a:p>
        </p:txBody>
      </p:sp>
      <p:sp>
        <p:nvSpPr>
          <p:cNvPr id="14" name="TextBox 13"/>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Executive Pitch</a:t>
            </a:r>
          </a:p>
        </p:txBody>
      </p:sp>
      <p:sp>
        <p:nvSpPr>
          <p:cNvPr id="15" name="TextBox 14"/>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What was delivered</a:t>
            </a:r>
          </a:p>
        </p:txBody>
      </p:sp>
      <p:sp>
        <p:nvSpPr>
          <p:cNvPr id="6" name="Rectangle 5"/>
          <p:cNvSpPr/>
          <p:nvPr/>
        </p:nvSpPr>
        <p:spPr>
          <a:xfrm>
            <a:off x="666750" y="1143000"/>
            <a:ext cx="2543175"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6750" y="114300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6300" y="1295400"/>
            <a:ext cx="2200275"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12</a:t>
            </a:r>
          </a:p>
        </p:txBody>
      </p:sp>
      <p:sp>
        <p:nvSpPr>
          <p:cNvPr id="9" name="TextBox 8"/>
          <p:cNvSpPr txBox="1"/>
          <p:nvPr/>
        </p:nvSpPr>
        <p:spPr>
          <a:xfrm>
            <a:off x="876300" y="2138362"/>
            <a:ext cx="2200275"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site sections with their own layouts</a:t>
            </a:r>
          </a:p>
        </p:txBody>
      </p:sp>
      <p:sp>
        <p:nvSpPr>
          <p:cNvPr id="10" name="Rectangle 9"/>
          <p:cNvSpPr/>
          <p:nvPr/>
        </p:nvSpPr>
        <p:spPr>
          <a:xfrm>
            <a:off x="3438525" y="1143000"/>
            <a:ext cx="2543175"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38525" y="114300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48075" y="1295400"/>
            <a:ext cx="2200275"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7</a:t>
            </a:r>
          </a:p>
        </p:txBody>
      </p:sp>
      <p:sp>
        <p:nvSpPr>
          <p:cNvPr id="13" name="TextBox 12"/>
          <p:cNvSpPr txBox="1"/>
          <p:nvPr/>
        </p:nvSpPr>
        <p:spPr>
          <a:xfrm>
            <a:off x="3648075" y="2138362"/>
            <a:ext cx="2200275"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staff roles enforced by the database</a:t>
            </a:r>
          </a:p>
        </p:txBody>
      </p:sp>
      <p:sp>
        <p:nvSpPr>
          <p:cNvPr id="14" name="Rectangle 13"/>
          <p:cNvSpPr/>
          <p:nvPr/>
        </p:nvSpPr>
        <p:spPr>
          <a:xfrm>
            <a:off x="6210300" y="1143000"/>
            <a:ext cx="2543175"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0300" y="114300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850" y="1295400"/>
            <a:ext cx="2200275"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74</a:t>
            </a:r>
          </a:p>
        </p:txBody>
      </p:sp>
      <p:sp>
        <p:nvSpPr>
          <p:cNvPr id="17" name="TextBox 16"/>
          <p:cNvSpPr txBox="1"/>
          <p:nvPr/>
        </p:nvSpPr>
        <p:spPr>
          <a:xfrm>
            <a:off x="6419850" y="2138362"/>
            <a:ext cx="2200275"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Salingkusog 2026 events set up</a:t>
            </a:r>
          </a:p>
        </p:txBody>
      </p:sp>
      <p:sp>
        <p:nvSpPr>
          <p:cNvPr id="18" name="Rectangle 17"/>
          <p:cNvSpPr/>
          <p:nvPr/>
        </p:nvSpPr>
        <p:spPr>
          <a:xfrm>
            <a:off x="8982075" y="1143000"/>
            <a:ext cx="2543175"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82075" y="114300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91625" y="1295400"/>
            <a:ext cx="2200275"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100</a:t>
            </a:r>
          </a:p>
        </p:txBody>
      </p:sp>
      <p:sp>
        <p:nvSpPr>
          <p:cNvPr id="21" name="TextBox 20"/>
          <p:cNvSpPr txBox="1"/>
          <p:nvPr/>
        </p:nvSpPr>
        <p:spPr>
          <a:xfrm>
            <a:off x="9191625" y="2138362"/>
            <a:ext cx="2200275"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accessibility score (Lighthouse)</a:t>
            </a:r>
          </a:p>
        </p:txBody>
      </p:sp>
      <p:sp>
        <p:nvSpPr>
          <p:cNvPr id="22" name="TextBox 21"/>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Executive Pitch</a:t>
            </a:r>
          </a:p>
        </p:txBody>
      </p:sp>
      <p:sp>
        <p:nvSpPr>
          <p:cNvPr id="23" name="TextBox 22"/>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For readers</a:t>
            </a:r>
          </a:p>
        </p:txBody>
      </p:sp>
      <p:sp>
        <p:nvSpPr>
          <p:cNvPr id="6" name="Rectangle 5"/>
          <p:cNvSpPr/>
          <p:nvPr/>
        </p:nvSpPr>
        <p:spPr>
          <a:xfrm>
            <a:off x="704850" y="1254759"/>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2500" y="1143000"/>
            <a:ext cx="5810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News, features, literary, opinion, sports</a:t>
            </a:r>
          </a:p>
        </p:txBody>
      </p:sp>
      <p:sp>
        <p:nvSpPr>
          <p:cNvPr id="8" name="Rectangle 7"/>
          <p:cNvSpPr/>
          <p:nvPr/>
        </p:nvSpPr>
        <p:spPr>
          <a:xfrm>
            <a:off x="704850" y="16992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2500" y="1587500"/>
            <a:ext cx="5810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Search and archives</a:t>
            </a:r>
          </a:p>
        </p:txBody>
      </p:sp>
      <p:sp>
        <p:nvSpPr>
          <p:cNvPr id="10" name="Rectangle 9"/>
          <p:cNvSpPr/>
          <p:nvPr/>
        </p:nvSpPr>
        <p:spPr>
          <a:xfrm>
            <a:off x="704850" y="21437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2500" y="2032000"/>
            <a:ext cx="5810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Submit stories and report events</a:t>
            </a:r>
          </a:p>
        </p:txBody>
      </p:sp>
      <p:sp>
        <p:nvSpPr>
          <p:cNvPr id="12" name="Rectangle 11"/>
          <p:cNvSpPr/>
          <p:nvPr/>
        </p:nvSpPr>
        <p:spPr>
          <a:xfrm>
            <a:off x="704850" y="25882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2500" y="2476500"/>
            <a:ext cx="5810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Follow Salingkusog live</a:t>
            </a:r>
          </a:p>
        </p:txBody>
      </p:sp>
      <p:pic>
        <p:nvPicPr>
          <p:cNvPr id="14" name="Picture 13" descr="pub-home-mobile.png"/>
          <p:cNvPicPr>
            <a:picLocks noChangeAspect="1"/>
          </p:cNvPicPr>
          <p:nvPr/>
        </p:nvPicPr>
        <p:blipFill>
          <a:blip r:embed="rId2"/>
          <a:stretch>
            <a:fillRect/>
          </a:stretch>
        </p:blipFill>
        <p:spPr>
          <a:xfrm>
            <a:off x="8089704" y="1143000"/>
            <a:ext cx="2394341" cy="5181600"/>
          </a:xfrm>
          <a:prstGeom prst="rect">
            <a:avLst/>
          </a:prstGeom>
        </p:spPr>
      </p:pic>
      <p:sp>
        <p:nvSpPr>
          <p:cNvPr id="15" name="Rectangle 14"/>
          <p:cNvSpPr/>
          <p:nvPr/>
        </p:nvSpPr>
        <p:spPr>
          <a:xfrm>
            <a:off x="8089704" y="1143000"/>
            <a:ext cx="2394341" cy="5181600"/>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Executive Pitch</a:t>
            </a:r>
          </a:p>
        </p:txBody>
      </p:sp>
      <p:sp>
        <p:nvSpPr>
          <p:cNvPr id="17" name="TextBox 16"/>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For the newsroom</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Draft → review → publish with notes and history</a:t>
            </a:r>
          </a:p>
        </p:txBody>
      </p:sp>
      <p:sp>
        <p:nvSpPr>
          <p:cNvPr id="8" name="Rectangle 7"/>
          <p:cNvSpPr/>
          <p:nvPr/>
        </p:nvSpPr>
        <p:spPr>
          <a:xfrm>
            <a:off x="800100" y="18105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764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Only authorised people publish — audited</a:t>
            </a:r>
          </a:p>
        </p:txBody>
      </p:sp>
      <p:sp>
        <p:nvSpPr>
          <p:cNvPr id="10" name="Rectangle 9"/>
          <p:cNvSpPr/>
          <p:nvPr/>
        </p:nvSpPr>
        <p:spPr>
          <a:xfrm>
            <a:off x="800100" y="23439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2098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Media library, moderation, statistics</a:t>
            </a:r>
          </a:p>
        </p:txBody>
      </p:sp>
      <p:sp>
        <p:nvSpPr>
          <p:cNvPr id="12" name="Rectangle 11"/>
          <p:cNvSpPr/>
          <p:nvPr/>
        </p:nvSpPr>
        <p:spPr>
          <a:xfrm>
            <a:off x="800100" y="28773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27432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Staff trained with manuals</a:t>
            </a:r>
          </a:p>
        </p:txBody>
      </p:sp>
      <p:sp>
        <p:nvSpPr>
          <p:cNvPr id="14" name="TextBox 13"/>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Executive Pitch</a:t>
            </a:r>
          </a:p>
        </p:txBody>
      </p:sp>
      <p:sp>
        <p:nvSpPr>
          <p:cNvPr id="15" name="TextBox 14"/>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For Salingkusog</a:t>
            </a:r>
          </a:p>
        </p:txBody>
      </p:sp>
      <p:sp>
        <p:nvSpPr>
          <p:cNvPr id="6" name="Rectangle 5"/>
          <p:cNvSpPr/>
          <p:nvPr/>
        </p:nvSpPr>
        <p:spPr>
          <a:xfrm>
            <a:off x="704850" y="1254759"/>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2500" y="1143000"/>
            <a:ext cx="5810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Brackets fill in automatically</a:t>
            </a:r>
          </a:p>
        </p:txBody>
      </p:sp>
      <p:sp>
        <p:nvSpPr>
          <p:cNvPr id="8" name="Rectangle 7"/>
          <p:cNvSpPr/>
          <p:nvPr/>
        </p:nvSpPr>
        <p:spPr>
          <a:xfrm>
            <a:off x="704850" y="16992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2500" y="1587500"/>
            <a:ext cx="5810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Live scores from phones</a:t>
            </a:r>
          </a:p>
        </p:txBody>
      </p:sp>
      <p:sp>
        <p:nvSpPr>
          <p:cNvPr id="10" name="Rectangle 9"/>
          <p:cNvSpPr/>
          <p:nvPr/>
        </p:nvSpPr>
        <p:spPr>
          <a:xfrm>
            <a:off x="704850" y="21437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2500" y="2032000"/>
            <a:ext cx="5810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Official medal table, computed</a:t>
            </a:r>
          </a:p>
        </p:txBody>
      </p:sp>
      <p:sp>
        <p:nvSpPr>
          <p:cNvPr id="12" name="Rectangle 11"/>
          <p:cNvSpPr/>
          <p:nvPr/>
        </p:nvSpPr>
        <p:spPr>
          <a:xfrm>
            <a:off x="704850" y="25882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2500" y="2476500"/>
            <a:ext cx="5810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Staff confirm every medal</a:t>
            </a:r>
          </a:p>
        </p:txBody>
      </p:sp>
      <p:pic>
        <p:nvPicPr>
          <p:cNvPr id="14" name="Picture 13" descr="sk-tally-mobile.png"/>
          <p:cNvPicPr>
            <a:picLocks noChangeAspect="1"/>
          </p:cNvPicPr>
          <p:nvPr/>
        </p:nvPicPr>
        <p:blipFill>
          <a:blip r:embed="rId2"/>
          <a:stretch>
            <a:fillRect/>
          </a:stretch>
        </p:blipFill>
        <p:spPr>
          <a:xfrm>
            <a:off x="8089704" y="1143000"/>
            <a:ext cx="2394341" cy="5181600"/>
          </a:xfrm>
          <a:prstGeom prst="rect">
            <a:avLst/>
          </a:prstGeom>
        </p:spPr>
      </p:pic>
      <p:sp>
        <p:nvSpPr>
          <p:cNvPr id="15" name="Rectangle 14"/>
          <p:cNvSpPr/>
          <p:nvPr/>
        </p:nvSpPr>
        <p:spPr>
          <a:xfrm>
            <a:off x="8089704" y="1143000"/>
            <a:ext cx="2394341" cy="5181600"/>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Executive Pitch</a:t>
            </a:r>
          </a:p>
        </p:txBody>
      </p:sp>
      <p:sp>
        <p:nvSpPr>
          <p:cNvPr id="17" name="TextBox 16"/>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Costs and resources</a:t>
            </a:r>
          </a:p>
        </p:txBody>
      </p:sp>
      <p:graphicFrame>
        <p:nvGraphicFramePr>
          <p:cNvPr id="6" name="Table 5"/>
          <p:cNvGraphicFramePr>
            <a:graphicFrameLocks noGrp="1"/>
          </p:cNvGraphicFramePr>
          <p:nvPr/>
        </p:nvGraphicFramePr>
        <p:xfrm>
          <a:off x="666750" y="1143000"/>
          <a:ext cx="10858499" cy="2933700"/>
        </p:xfrm>
        <a:graphic>
          <a:graphicData uri="http://schemas.openxmlformats.org/drawingml/2006/table">
            <a:tbl>
              <a:tblPr firstRow="1" bandRow="1">
                <a:tableStyleId>{5C22544A-7EE6-4342-B048-85BDC9FD1C3A}</a:tableStyleId>
              </a:tblPr>
              <a:tblGrid>
                <a:gridCol w="6137413"/>
                <a:gridCol w="4721086"/>
              </a:tblGrid>
              <a:tr h="438150">
                <a:tc>
                  <a:txBody>
                    <a:bodyPr wrap="square"/>
                    <a:lstStyle/>
                    <a:p>
                      <a:r>
                        <a:rPr sz="2000" b="1">
                          <a:solidFill>
                            <a:srgbClr val="14361F"/>
                          </a:solidFill>
                          <a:latin typeface="Arial"/>
                        </a:rPr>
                        <a:t>Item</a:t>
                      </a:r>
                    </a:p>
                  </a:txBody>
                  <a:tcPr marL="76200" marR="76200" marT="57150" marB="57150">
                    <a:solidFill>
                      <a:srgbClr val="E8F1E9"/>
                    </a:solidFill>
                  </a:tcPr>
                </a:tc>
                <a:tc>
                  <a:txBody>
                    <a:bodyPr wrap="square"/>
                    <a:lstStyle/>
                    <a:p>
                      <a:r>
                        <a:rPr sz="2000" b="1">
                          <a:solidFill>
                            <a:srgbClr val="14361F"/>
                          </a:solidFill>
                          <a:latin typeface="Arial"/>
                        </a:rPr>
                        <a:t>Cost</a:t>
                      </a:r>
                    </a:p>
                  </a:txBody>
                  <a:tcPr marL="76200" marR="76200" marT="57150" marB="57150">
                    <a:solidFill>
                      <a:srgbClr val="E8F1E9"/>
                    </a:solidFill>
                  </a:tcPr>
                </a:tc>
              </a:tr>
              <a:tr h="438150">
                <a:tc>
                  <a:txBody>
                    <a:bodyPr wrap="square"/>
                    <a:lstStyle/>
                    <a:p>
                      <a:r>
                        <a:rPr sz="2000" b="0">
                          <a:solidFill>
                            <a:srgbClr val="111A14"/>
                          </a:solidFill>
                          <a:latin typeface="Arial"/>
                        </a:rPr>
                        <a:t>Hosting (Vercel) and database (Supabase)</a:t>
                      </a:r>
                    </a:p>
                  </a:txBody>
                  <a:tcPr marL="76200" marR="76200" marT="57150" marB="57150">
                    <a:solidFill>
                      <a:srgbClr val="FFFFFF"/>
                    </a:solidFill>
                  </a:tcPr>
                </a:tc>
                <a:tc>
                  <a:txBody>
                    <a:bodyPr wrap="square"/>
                    <a:lstStyle/>
                    <a:p>
                      <a:r>
                        <a:rPr sz="2000" b="0">
                          <a:solidFill>
                            <a:srgbClr val="111A14"/>
                          </a:solidFill>
                          <a:latin typeface="Arial"/>
                        </a:rPr>
                        <a:t>[TO CONFIRM plan]</a:t>
                      </a:r>
                    </a:p>
                  </a:txBody>
                  <a:tcPr marL="76200" marR="76200" marT="57150" marB="57150">
                    <a:solidFill>
                      <a:srgbClr val="FFFFFF"/>
                    </a:solidFill>
                  </a:tcPr>
                </a:tc>
              </a:tr>
              <a:tr h="438150">
                <a:tc>
                  <a:txBody>
                    <a:bodyPr wrap="square"/>
                    <a:lstStyle/>
                    <a:p>
                      <a:r>
                        <a:rPr sz="2000" b="0">
                          <a:solidFill>
                            <a:srgbClr val="111A14"/>
                          </a:solidFill>
                          <a:latin typeface="Arial"/>
                        </a:rPr>
                        <a:t>CAPTCHA (Cloudflare Turnstile)</a:t>
                      </a:r>
                    </a:p>
                  </a:txBody>
                  <a:tcPr marL="76200" marR="76200" marT="57150" marB="57150">
                    <a:solidFill>
                      <a:srgbClr val="FFFFFF"/>
                    </a:solidFill>
                  </a:tcPr>
                </a:tc>
                <a:tc>
                  <a:txBody>
                    <a:bodyPr wrap="square"/>
                    <a:lstStyle/>
                    <a:p>
                      <a:r>
                        <a:rPr sz="2000" b="0">
                          <a:solidFill>
                            <a:srgbClr val="111A14"/>
                          </a:solidFill>
                          <a:latin typeface="Arial"/>
                        </a:rPr>
                        <a:t>Free</a:t>
                      </a:r>
                    </a:p>
                  </a:txBody>
                  <a:tcPr marL="76200" marR="76200" marT="57150" marB="57150">
                    <a:solidFill>
                      <a:srgbClr val="FFFFFF"/>
                    </a:solidFill>
                  </a:tcPr>
                </a:tc>
              </a:tr>
              <a:tr h="438150">
                <a:tc>
                  <a:txBody>
                    <a:bodyPr wrap="square"/>
                    <a:lstStyle/>
                    <a:p>
                      <a:r>
                        <a:rPr sz="2000" b="0">
                          <a:solidFill>
                            <a:srgbClr val="111A14"/>
                          </a:solidFill>
                          <a:latin typeface="Arial"/>
                        </a:rPr>
                        <a:t>Software libraries</a:t>
                      </a:r>
                    </a:p>
                  </a:txBody>
                  <a:tcPr marL="76200" marR="76200" marT="57150" marB="57150">
                    <a:solidFill>
                      <a:srgbClr val="FFFFFF"/>
                    </a:solidFill>
                  </a:tcPr>
                </a:tc>
                <a:tc>
                  <a:txBody>
                    <a:bodyPr wrap="square"/>
                    <a:lstStyle/>
                    <a:p>
                      <a:r>
                        <a:rPr sz="2000" b="0">
                          <a:solidFill>
                            <a:srgbClr val="111A14"/>
                          </a:solidFill>
                          <a:latin typeface="Arial"/>
                        </a:rPr>
                        <a:t>Open source, free</a:t>
                      </a:r>
                    </a:p>
                  </a:txBody>
                  <a:tcPr marL="76200" marR="76200" marT="57150" marB="57150">
                    <a:solidFill>
                      <a:srgbClr val="FFFFFF"/>
                    </a:solidFill>
                  </a:tcPr>
                </a:tc>
              </a:tr>
              <a:tr h="438150">
                <a:tc>
                  <a:txBody>
                    <a:bodyPr wrap="square"/>
                    <a:lstStyle/>
                    <a:p>
                      <a:r>
                        <a:rPr sz="2000" b="0">
                          <a:solidFill>
                            <a:srgbClr val="111A14"/>
                          </a:solidFill>
                          <a:latin typeface="Arial"/>
                        </a:rPr>
                        <a:t>Domain</a:t>
                      </a:r>
                    </a:p>
                  </a:txBody>
                  <a:tcPr marL="76200" marR="76200" marT="57150" marB="57150">
                    <a:solidFill>
                      <a:srgbClr val="FFFFFF"/>
                    </a:solidFill>
                  </a:tcPr>
                </a:tc>
                <a:tc>
                  <a:txBody>
                    <a:bodyPr wrap="square"/>
                    <a:lstStyle/>
                    <a:p>
                      <a:r>
                        <a:rPr sz="2000" b="0">
                          <a:solidFill>
                            <a:srgbClr val="111A14"/>
                          </a:solidFill>
                          <a:latin typeface="Arial"/>
                        </a:rPr>
                        <a:t>[TO CONFIRM]</a:t>
                      </a:r>
                    </a:p>
                  </a:txBody>
                  <a:tcPr marL="76200" marR="76200" marT="57150" marB="57150">
                    <a:solidFill>
                      <a:srgbClr val="FFFFFF"/>
                    </a:solidFill>
                  </a:tcPr>
                </a:tc>
              </a:tr>
              <a:tr h="742950">
                <a:tc>
                  <a:txBody>
                    <a:bodyPr wrap="square"/>
                    <a:lstStyle/>
                    <a:p>
                      <a:r>
                        <a:rPr sz="2000" b="0">
                          <a:solidFill>
                            <a:srgbClr val="111A14"/>
                          </a:solidFill>
                          <a:latin typeface="Arial"/>
                        </a:rPr>
                        <a:t>People</a:t>
                      </a:r>
                    </a:p>
                  </a:txBody>
                  <a:tcPr marL="76200" marR="76200" marT="57150" marB="57150">
                    <a:solidFill>
                      <a:srgbClr val="FFFFFF"/>
                    </a:solidFill>
                  </a:tcPr>
                </a:tc>
                <a:tc>
                  <a:txBody>
                    <a:bodyPr wrap="square"/>
                    <a:lstStyle/>
                    <a:p>
                      <a:r>
                        <a:rPr sz="2000" b="0">
                          <a:solidFill>
                            <a:srgbClr val="111A14"/>
                          </a:solidFill>
                          <a:latin typeface="Arial"/>
                        </a:rPr>
                        <a:t>Student developers, editorial board, adviser</a:t>
                      </a:r>
                    </a:p>
                  </a:txBody>
                  <a:tcPr marL="76200" marR="76200" marT="57150" marB="57150">
                    <a:solidFill>
                      <a:srgbClr val="FFFFFF"/>
                    </a:solidFill>
                  </a:tcPr>
                </a:tc>
              </a:tr>
            </a:tbl>
          </a:graphicData>
        </a:graphic>
      </p:graphicFrame>
      <p:sp>
        <p:nvSpPr>
          <p:cNvPr id="7" name="TextBox 6"/>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Executive Pitch</a:t>
            </a:r>
          </a:p>
        </p:txBody>
      </p:sp>
      <p:sp>
        <p:nvSpPr>
          <p:cNvPr id="8" name="TextBox 7"/>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Risks and safeguards</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Permissions enforced by the database</a:t>
            </a:r>
          </a:p>
        </p:txBody>
      </p:sp>
      <p:sp>
        <p:nvSpPr>
          <p:cNvPr id="8" name="Rectangle 7"/>
          <p:cNvSpPr/>
          <p:nvPr/>
        </p:nvSpPr>
        <p:spPr>
          <a:xfrm>
            <a:off x="800100" y="18105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764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Automated tests: 255 + 278 checks passing</a:t>
            </a:r>
          </a:p>
        </p:txBody>
      </p:sp>
      <p:sp>
        <p:nvSpPr>
          <p:cNvPr id="10" name="Rectangle 9"/>
          <p:cNvSpPr/>
          <p:nvPr/>
        </p:nvSpPr>
        <p:spPr>
          <a:xfrm>
            <a:off x="800100" y="23439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2098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Backups and a runbook for incidents</a:t>
            </a:r>
          </a:p>
        </p:txBody>
      </p:sp>
      <p:sp>
        <p:nvSpPr>
          <p:cNvPr id="12" name="Rectangle 11"/>
          <p:cNvSpPr/>
          <p:nvPr/>
        </p:nvSpPr>
        <p:spPr>
          <a:xfrm>
            <a:off x="800100" y="28773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27432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Privacy: minimal athlete data, no reader tracking cookies</a:t>
            </a:r>
          </a:p>
        </p:txBody>
      </p:sp>
      <p:sp>
        <p:nvSpPr>
          <p:cNvPr id="14" name="TextBox 13"/>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Executive Pitch</a:t>
            </a:r>
          </a:p>
        </p:txBody>
      </p:sp>
      <p:sp>
        <p:nvSpPr>
          <p:cNvPr id="15" name="TextBox 14"/>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Next steps — what we need</a:t>
            </a:r>
          </a:p>
        </p:txBody>
      </p:sp>
      <p:graphicFrame>
        <p:nvGraphicFramePr>
          <p:cNvPr id="6" name="Table 5"/>
          <p:cNvGraphicFramePr>
            <a:graphicFrameLocks noGrp="1"/>
          </p:cNvGraphicFramePr>
          <p:nvPr/>
        </p:nvGraphicFramePr>
        <p:xfrm>
          <a:off x="666750" y="1143000"/>
          <a:ext cx="10858500" cy="2628900"/>
        </p:xfrm>
        <a:graphic>
          <a:graphicData uri="http://schemas.openxmlformats.org/drawingml/2006/table">
            <a:tbl>
              <a:tblPr firstRow="1" bandRow="1">
                <a:tableStyleId>{5C22544A-7EE6-4342-B048-85BDC9FD1C3A}</a:tableStyleId>
              </a:tblPr>
              <a:tblGrid>
                <a:gridCol w="6515100"/>
                <a:gridCol w="4343400"/>
              </a:tblGrid>
              <a:tr h="438150">
                <a:tc>
                  <a:txBody>
                    <a:bodyPr wrap="square"/>
                    <a:lstStyle/>
                    <a:p>
                      <a:r>
                        <a:rPr sz="2000" b="1">
                          <a:solidFill>
                            <a:srgbClr val="14361F"/>
                          </a:solidFill>
                          <a:latin typeface="Arial"/>
                        </a:rPr>
                        <a:t>Step</a:t>
                      </a:r>
                    </a:p>
                  </a:txBody>
                  <a:tcPr marL="76200" marR="76200" marT="57150" marB="57150">
                    <a:solidFill>
                      <a:srgbClr val="E8F1E9"/>
                    </a:solidFill>
                  </a:tcPr>
                </a:tc>
                <a:tc>
                  <a:txBody>
                    <a:bodyPr wrap="square"/>
                    <a:lstStyle/>
                    <a:p>
                      <a:r>
                        <a:rPr sz="2000" b="1">
                          <a:solidFill>
                            <a:srgbClr val="14361F"/>
                          </a:solidFill>
                          <a:latin typeface="Arial"/>
                        </a:rPr>
                        <a:t>Owner</a:t>
                      </a:r>
                    </a:p>
                  </a:txBody>
                  <a:tcPr marL="76200" marR="76200" marT="57150" marB="57150">
                    <a:solidFill>
                      <a:srgbClr val="E8F1E9"/>
                    </a:solidFill>
                  </a:tcPr>
                </a:tc>
              </a:tr>
              <a:tr h="438150">
                <a:tc>
                  <a:txBody>
                    <a:bodyPr wrap="square"/>
                    <a:lstStyle/>
                    <a:p>
                      <a:r>
                        <a:rPr sz="2000" b="0">
                          <a:solidFill>
                            <a:srgbClr val="111A14"/>
                          </a:solidFill>
                          <a:latin typeface="Arial"/>
                        </a:rPr>
                        <a:t>Privacy notice for athletes; photo consent process</a:t>
                      </a:r>
                    </a:p>
                  </a:txBody>
                  <a:tcPr marL="76200" marR="76200" marT="57150" marB="57150">
                    <a:solidFill>
                      <a:srgbClr val="FFFFFF"/>
                    </a:solidFill>
                  </a:tcPr>
                </a:tc>
                <a:tc>
                  <a:txBody>
                    <a:bodyPr wrap="square"/>
                    <a:lstStyle/>
                    <a:p>
                      <a:r>
                        <a:rPr sz="2000" b="0">
                          <a:solidFill>
                            <a:srgbClr val="111A14"/>
                          </a:solidFill>
                          <a:latin typeface="Arial"/>
                        </a:rPr>
                        <a:t>Editorial board, organisers</a:t>
                      </a:r>
                    </a:p>
                  </a:txBody>
                  <a:tcPr marL="76200" marR="76200" marT="57150" marB="57150">
                    <a:solidFill>
                      <a:srgbClr val="FFFFFF"/>
                    </a:solidFill>
                  </a:tcPr>
                </a:tc>
              </a:tr>
              <a:tr h="438150">
                <a:tc>
                  <a:txBody>
                    <a:bodyPr wrap="square"/>
                    <a:lstStyle/>
                    <a:p>
                      <a:r>
                        <a:rPr sz="2000" b="0">
                          <a:solidFill>
                            <a:srgbClr val="111A14"/>
                          </a:solidFill>
                          <a:latin typeface="Arial"/>
                        </a:rPr>
                        <a:t>Two-factor sign-in for administrators</a:t>
                      </a:r>
                    </a:p>
                  </a:txBody>
                  <a:tcPr marL="76200" marR="76200" marT="57150" marB="57150">
                    <a:solidFill>
                      <a:srgbClr val="FFFFFF"/>
                    </a:solidFill>
                  </a:tcPr>
                </a:tc>
                <a:tc>
                  <a:txBody>
                    <a:bodyPr wrap="square"/>
                    <a:lstStyle/>
                    <a:p>
                      <a:r>
                        <a:rPr sz="2000" b="0">
                          <a:solidFill>
                            <a:srgbClr val="111A14"/>
                          </a:solidFill>
                          <a:latin typeface="Arial"/>
                        </a:rPr>
                        <a:t>Technical lead</a:t>
                      </a:r>
                    </a:p>
                  </a:txBody>
                  <a:tcPr marL="76200" marR="76200" marT="57150" marB="57150">
                    <a:solidFill>
                      <a:srgbClr val="FFFFFF"/>
                    </a:solidFill>
                  </a:tcPr>
                </a:tc>
              </a:tr>
              <a:tr h="438150">
                <a:tc>
                  <a:txBody>
                    <a:bodyPr wrap="square"/>
                    <a:lstStyle/>
                    <a:p>
                      <a:r>
                        <a:rPr sz="2000" b="0">
                          <a:solidFill>
                            <a:srgbClr val="111A14"/>
                          </a:solidFill>
                          <a:latin typeface="Arial"/>
                        </a:rPr>
                        <a:t>Confirm hosting plan, domain and backups</a:t>
                      </a:r>
                    </a:p>
                  </a:txBody>
                  <a:tcPr marL="76200" marR="76200" marT="57150" marB="57150">
                    <a:solidFill>
                      <a:srgbClr val="FFFFFF"/>
                    </a:solidFill>
                  </a:tcPr>
                </a:tc>
                <a:tc>
                  <a:txBody>
                    <a:bodyPr wrap="square"/>
                    <a:lstStyle/>
                    <a:p>
                      <a:r>
                        <a:rPr sz="2000" b="0">
                          <a:solidFill>
                            <a:srgbClr val="111A14"/>
                          </a:solidFill>
                          <a:latin typeface="Arial"/>
                        </a:rPr>
                        <a:t>Administration</a:t>
                      </a:r>
                    </a:p>
                  </a:txBody>
                  <a:tcPr marL="76200" marR="76200" marT="57150" marB="57150">
                    <a:solidFill>
                      <a:srgbClr val="FFFFFF"/>
                    </a:solidFill>
                  </a:tcPr>
                </a:tc>
              </a:tr>
              <a:tr h="438150">
                <a:tc>
                  <a:txBody>
                    <a:bodyPr wrap="square"/>
                    <a:lstStyle/>
                    <a:p>
                      <a:r>
                        <a:rPr sz="2000" b="0">
                          <a:solidFill>
                            <a:srgbClr val="111A14"/>
                          </a:solidFill>
                          <a:latin typeface="Arial"/>
                        </a:rPr>
                        <a:t>Continuous testing pipeline</a:t>
                      </a:r>
                    </a:p>
                  </a:txBody>
                  <a:tcPr marL="76200" marR="76200" marT="57150" marB="57150">
                    <a:solidFill>
                      <a:srgbClr val="FFFFFF"/>
                    </a:solidFill>
                  </a:tcPr>
                </a:tc>
                <a:tc>
                  <a:txBody>
                    <a:bodyPr wrap="square"/>
                    <a:lstStyle/>
                    <a:p>
                      <a:r>
                        <a:rPr sz="2000" b="0">
                          <a:solidFill>
                            <a:srgbClr val="111A14"/>
                          </a:solidFill>
                          <a:latin typeface="Arial"/>
                        </a:rPr>
                        <a:t>Technical lead</a:t>
                      </a:r>
                    </a:p>
                  </a:txBody>
                  <a:tcPr marL="76200" marR="76200" marT="57150" marB="57150">
                    <a:solidFill>
                      <a:srgbClr val="FFFFFF"/>
                    </a:solidFill>
                  </a:tcPr>
                </a:tc>
              </a:tr>
              <a:tr h="438150">
                <a:tc>
                  <a:txBody>
                    <a:bodyPr wrap="square"/>
                    <a:lstStyle/>
                    <a:p>
                      <a:r>
                        <a:rPr sz="2000" b="0">
                          <a:solidFill>
                            <a:srgbClr val="111A14"/>
                          </a:solidFill>
                          <a:latin typeface="Arial"/>
                        </a:rPr>
                        <a:t>Handover to next year’s staff</a:t>
                      </a:r>
                    </a:p>
                  </a:txBody>
                  <a:tcPr marL="76200" marR="76200" marT="57150" marB="57150">
                    <a:solidFill>
                      <a:srgbClr val="FFFFFF"/>
                    </a:solidFill>
                  </a:tcPr>
                </a:tc>
                <a:tc>
                  <a:txBody>
                    <a:bodyPr wrap="square"/>
                    <a:lstStyle/>
                    <a:p>
                      <a:r>
                        <a:rPr sz="2000" b="0">
                          <a:solidFill>
                            <a:srgbClr val="111A14"/>
                          </a:solidFill>
                          <a:latin typeface="Arial"/>
                        </a:rPr>
                        <a:t>Adviser</a:t>
                      </a:r>
                    </a:p>
                  </a:txBody>
                  <a:tcPr marL="76200" marR="76200" marT="57150" marB="57150">
                    <a:solidFill>
                      <a:srgbClr val="FFFFFF"/>
                    </a:solidFill>
                  </a:tcPr>
                </a:tc>
              </a:tr>
            </a:tbl>
          </a:graphicData>
        </a:graphic>
      </p:graphicFrame>
      <p:sp>
        <p:nvSpPr>
          <p:cNvPr id="7" name="TextBox 6"/>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Executive Pitch</a:t>
            </a:r>
          </a:p>
        </p:txBody>
      </p:sp>
      <p:sp>
        <p:nvSpPr>
          <p:cNvPr id="8" name="TextBox 7"/>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7250" y="2095500"/>
            <a:ext cx="10477500" cy="1143000"/>
          </a:xfrm>
          <a:prstGeom prst="rect">
            <a:avLst/>
          </a:prstGeom>
          <a:noFill/>
        </p:spPr>
        <p:txBody>
          <a:bodyPr wrap="square" lIns="19050" rIns="19050" tIns="0" bIns="0" anchor="t">
            <a:spAutoFit/>
          </a:bodyPr>
          <a:lstStyle/>
          <a:p>
            <a:pPr algn="l">
              <a:lnSpc>
                <a:spcPct val="115000"/>
              </a:lnSpc>
            </a:pPr>
            <a:r>
              <a:rPr sz="4400" b="1">
                <a:solidFill>
                  <a:srgbClr val="FFFFFF"/>
                </a:solidFill>
                <a:latin typeface="Arial"/>
              </a:rPr>
              <a:t>Thank you</a:t>
            </a:r>
          </a:p>
        </p:txBody>
      </p:sp>
      <p:sp>
        <p:nvSpPr>
          <p:cNvPr id="4" name="TextBox 3"/>
          <p:cNvSpPr txBox="1"/>
          <p:nvPr/>
        </p:nvSpPr>
        <p:spPr>
          <a:xfrm>
            <a:off x="857250" y="3333750"/>
            <a:ext cx="10477500" cy="1524000"/>
          </a:xfrm>
          <a:prstGeom prst="rect">
            <a:avLst/>
          </a:prstGeom>
          <a:noFill/>
        </p:spPr>
        <p:txBody>
          <a:bodyPr wrap="square" lIns="19050" rIns="19050" tIns="0" bIns="0" anchor="t">
            <a:spAutoFit/>
          </a:bodyPr>
          <a:lstStyle/>
          <a:p>
            <a:pPr algn="l">
              <a:lnSpc>
                <a:spcPct val="115000"/>
              </a:lnSpc>
            </a:pPr>
            <a:r>
              <a:rPr sz="2200" b="0">
                <a:solidFill>
                  <a:srgbClr val="D9E8B0"/>
                </a:solidFill>
                <a:latin typeface="Arial"/>
              </a:rPr>
              <a:t>Amaranth v2 — ready for Salingkusog 2026 and beyond.</a:t>
            </a:r>
          </a:p>
          <a:p>
            <a:pPr algn="l">
              <a:lnSpc>
                <a:spcPct val="115000"/>
              </a:lnSpc>
            </a:pPr>
            <a:r>
              <a:rPr sz="2200" b="0">
                <a:solidFill>
                  <a:srgbClr val="D9E8B0"/>
                </a:solidFill>
                <a:latin typeface="Arial"/>
              </a:rPr>
              <a:t>Questions and support?</a:t>
            </a:r>
          </a:p>
        </p:txBody>
      </p:sp>
      <p:sp>
        <p:nvSpPr>
          <p:cNvPr id="5" name="TextBox 4"/>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Executive Pitch</a:t>
            </a:r>
          </a:p>
        </p:txBody>
      </p:sp>
      <p:sp>
        <p:nvSpPr>
          <p:cNvPr id="6" name="TextBox 5"/>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
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We present Amaranth version 2, the web newsroom and publishing system we built for Amaranth, the official student publication of Visayas State University. It runs the editorial process for staff, the public news site for readers, and the Salingkusog intramurals results, all in one system.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flow. We start with the problem we found in the old site and the objectives we set. Then we show the architecture and features, do a short live demo, explain the database, security and privacy design, show how we tested it, and finish with honest limitations and our roadmap.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start with the problem: what the first version of the site could and could not do for the publication.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came from our audit of the first website. The styling was a frozen export, each section page was hand-copied, there were no tests, some database functions were exposed to the public API, and there was no editorial workflow at all. Lighthouse measured 56 for mobile performance and 91 for accessibility. And Salingkusog results were not managed online.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set six main objectives. Run the editorial workflow inside the system; enforce permissions in the database, not only in the interface; give readers a fast accessible site; accept public input safely; run the Salingkusog games end to end; and compute the medal table and rankings automatically. Two more objectives cover privacy-friendly statistics and maintainable code.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people the system serves. There are seven account roles stored in the database enum app_role, a Salingkusog team group that any staff member can be added to, and anonymous readers who need no account.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solution: one system that combines the public site, the newsroom and the Salingkusog module.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context. Readers, newsroom staff and the Salingkusog team all use one web application. Data, authentication, files and realtime updates live in Supabase. Vercel hosts the app and runs a few small server functions. Cloudflare Turnstile protects the public forms.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architecture has five layers. The React app calls Supabase directly using the signed-in user token. Because every table has row level security and triggers, the database is the security boundary, so bypassing the interface does not help an attacker. Vercel functions exist only where secrets or caching are needed.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choice has a reason. Supabase gave us a real relational database with row level security, plus authentication, storage and realtime in one free tier. Vercel removed server operations. TipTap replaced the unmaintained Quill editor. Turnstile stops bots without tracking readers.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the key features, grouped into the newsroom, the public site and Salingkusog.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editorial workflow is a state machine enforced by a database trigger. Writers draft and submit; section editors review, return or reject with notes; publishers publish now or schedule for later. Scheduled articles go live by themselves when the time passes. The editor autosaves and keeps the last fifty revisions.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editor. The workflow panel on the right shows only the actions the current user is allowed to take. Below it are notes, the activity history and revisions that can be restored.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Executive Editor asked that regular staff only draft and submit. So publishing is limited to four roles, plus any staff member explicitly granted access. Only the three managing roles can grant it, every change is recorded in the audit log, and the database function can_publish_articles enforces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readers there is the home page, twelve sections with their own layouts, articles, full-text search and archives, and forms to submit stories, report events and contact desks. The look follows the Brand 2026 design approved by the Executive Editor, and every screen works on a 375 pixel phone.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Salingkusog is the intramural games. The team builds brackets or round robins once and only enters scores; winners move on by themselves. Contests handle events where all factions compete together. Scores reach readers in real time and the medal table and points race are computed by the database.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activity diagram shows the full flow. Games come from a CSV import, Build schedule, or a contest. The scorekeeper starts, scores and finishes a game; a trigger fills the next games. When an event is complete the system suggests the podium, staff confirm it, and the medal table updates for everyone.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will now demonstrate four flows using fictional test accounts on a demo edition. If the network fails we have the offline fixture screens and screenshots ready. Please watch especially how the final fills itself in and how the medal tally changes only after staff confirm the medals.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technical foundations: how the database is designed and how security and privacy are built 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database has fifty tables and four hundred forty-eight columns. Ninety-seven row level security policies and forty triggers enforce the rules, and six views compute things like the medal table. The schema is delivered as three re-runnable SQL files, which our test runner applies twice to prove they are safe to re-run.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entity relationship diagram is generated from the SQL. Everything hangs off an edition. Matches can be two-sided games or contest sessions with entries. Placements are the official places, and the medal table is computed from them, never typed.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used a STRIDE threat model. Every major threat maps to a control in the code. The most important point: permissions are enforced by the database, so a writer calling the API directly is refused exactly like in the interface. Public forms go through a server gateway with CAPTCHA and signed uploads.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Data Privacy Act we practise data minimisation. Athletes have only a name, program and optional photo; no birth dates or student numbers are stored. Statistics use no cookies and never store IP addresses. We are honest about open items: the privacy page needs a section on athletes, photo consent, and retention rules for form data.</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 we know it works? Here is how we tested the system and what the results are.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255 unit and component tests and all 278 database checks pass as of October 19. Our traceability matrix covers all 115 requirements: 98 have automated tests and 17 have manual cases that are scheduled but not yet run. Accessibility scored 100 on production, and a sweep of 53 screens found no layout issues.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want to be honest about limitations. Tests run locally, not in a CI pipeline, and we have no browser end-to-end tests yet. Multi-factor authentication is not enforced and the content security policy is still in report-only mode. For sports we support straight finals and one entry per faction, and the system needs an internet connection.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roadmap is prioritised. Before and during the games: the athlete privacy section, photo consent, MFA for admins and running the manual tests. Next: continuous integration, enforcing the CSP, a history of score edits and retention jobs. Later: end-to-end tests and notifications, and eventually heats, judges score sheets and offline scoring.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summarise: Amaranth version 2 runs the newsroom and the public site with every permission enforced by the database, turns Salingkusog scores into an official medal table automatically and in real time, and treats readers and athletes data with care. Thank you. We welcome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F2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1450" cy="68580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7250" y="1428750"/>
            <a:ext cx="9525000" cy="285750"/>
          </a:xfrm>
          <a:prstGeom prst="rect">
            <a:avLst/>
          </a:prstGeom>
          <a:noFill/>
        </p:spPr>
        <p:txBody>
          <a:bodyPr wrap="square" lIns="19050" rIns="19050" tIns="0" bIns="0" anchor="t">
            <a:spAutoFit/>
          </a:bodyPr>
          <a:lstStyle/>
          <a:p>
            <a:pPr algn="l">
              <a:lnSpc>
                <a:spcPct val="115000"/>
              </a:lnSpc>
            </a:pPr>
            <a:r>
              <a:rPr sz="1400" b="1">
                <a:solidFill>
                  <a:srgbClr val="B5F000"/>
                </a:solidFill>
                <a:latin typeface="Arial"/>
              </a:rPr>
              <a:t>AMARANTH · VISAYAS STATE UNIVERSITY</a:t>
            </a:r>
          </a:p>
        </p:txBody>
      </p:sp>
      <p:sp>
        <p:nvSpPr>
          <p:cNvPr id="5" name="TextBox 4"/>
          <p:cNvSpPr txBox="1"/>
          <p:nvPr/>
        </p:nvSpPr>
        <p:spPr>
          <a:xfrm>
            <a:off x="857250" y="1905000"/>
            <a:ext cx="10477500" cy="1809750"/>
          </a:xfrm>
          <a:prstGeom prst="rect">
            <a:avLst/>
          </a:prstGeom>
          <a:noFill/>
        </p:spPr>
        <p:txBody>
          <a:bodyPr wrap="square" lIns="19050" rIns="19050" tIns="0" bIns="0" anchor="t">
            <a:spAutoFit/>
          </a:bodyPr>
          <a:lstStyle/>
          <a:p>
            <a:pPr algn="l">
              <a:lnSpc>
                <a:spcPct val="115000"/>
              </a:lnSpc>
            </a:pPr>
            <a:r>
              <a:rPr sz="4400" b="1">
                <a:solidFill>
                  <a:srgbClr val="FFFFFF"/>
                </a:solidFill>
                <a:latin typeface="Arial"/>
              </a:rPr>
              <a:t>Amaranth v2</a:t>
            </a:r>
          </a:p>
        </p:txBody>
      </p:sp>
      <p:sp>
        <p:nvSpPr>
          <p:cNvPr id="6" name="TextBox 5"/>
          <p:cNvSpPr txBox="1"/>
          <p:nvPr/>
        </p:nvSpPr>
        <p:spPr>
          <a:xfrm>
            <a:off x="857250" y="3810000"/>
            <a:ext cx="10477500" cy="857250"/>
          </a:xfrm>
          <a:prstGeom prst="rect">
            <a:avLst/>
          </a:prstGeom>
          <a:noFill/>
        </p:spPr>
        <p:txBody>
          <a:bodyPr wrap="square" lIns="19050" rIns="19050" tIns="0" bIns="0" anchor="t">
            <a:spAutoFit/>
          </a:bodyPr>
          <a:lstStyle/>
          <a:p>
            <a:pPr algn="l">
              <a:lnSpc>
                <a:spcPct val="115000"/>
              </a:lnSpc>
            </a:pPr>
            <a:r>
              <a:rPr sz="2200" b="0">
                <a:solidFill>
                  <a:srgbClr val="D9E8B0"/>
                </a:solidFill>
                <a:latin typeface="Arial"/>
              </a:rPr>
              <a:t>The newsroom and publishing system of Amaranth, the official student publication of VSU — with live Salingkusog results</a:t>
            </a:r>
          </a:p>
        </p:txBody>
      </p:sp>
      <p:sp>
        <p:nvSpPr>
          <p:cNvPr id="7" name="TextBox 6"/>
          <p:cNvSpPr txBox="1"/>
          <p:nvPr/>
        </p:nvSpPr>
        <p:spPr>
          <a:xfrm>
            <a:off x="857250" y="5334000"/>
            <a:ext cx="10477500" cy="666750"/>
          </a:xfrm>
          <a:prstGeom prst="rect">
            <a:avLst/>
          </a:prstGeom>
          <a:noFill/>
        </p:spPr>
        <p:txBody>
          <a:bodyPr wrap="square" lIns="19050" rIns="19050" tIns="0" bIns="0" anchor="t">
            <a:spAutoFit/>
          </a:bodyPr>
          <a:lstStyle/>
          <a:p>
            <a:pPr algn="l">
              <a:lnSpc>
                <a:spcPct val="115000"/>
              </a:lnSpc>
            </a:pPr>
            <a:r>
              <a:rPr sz="1400" b="0">
                <a:solidFill>
                  <a:srgbClr val="B8C7BC"/>
                </a:solidFill>
                <a:latin typeface="Arial"/>
              </a:rPr>
              <a:t>Visayas State University · Baybay City, Leyte · Version 1.0 · [TO CONFIRM: team, adviser, date]</a:t>
            </a:r>
          </a:p>
        </p:txBody>
      </p:sp>
      <p:sp>
        <p:nvSpPr>
          <p:cNvPr id="8" name="TextBox 7"/>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B8C7BC"/>
                </a:solidFill>
                <a:latin typeface="Arial"/>
              </a:rPr>
              <a:t>Amaranth v2 · Main System Defense</a:t>
            </a:r>
          </a:p>
        </p:txBody>
      </p:sp>
      <p:sp>
        <p:nvSpPr>
          <p:cNvPr id="9" name="TextBox 8"/>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B8C7BC"/>
                </a:solidFill>
                <a:latin typeface="Aria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Agenda</a:t>
            </a:r>
          </a:p>
        </p:txBody>
      </p:sp>
      <p:sp>
        <p:nvSpPr>
          <p:cNvPr id="6" name="Rectangle 5"/>
          <p:cNvSpPr/>
          <p:nvPr/>
        </p:nvSpPr>
        <p:spPr>
          <a:xfrm>
            <a:off x="800100" y="1277111"/>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7750" y="11430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Problem and objectives</a:t>
            </a:r>
          </a:p>
        </p:txBody>
      </p:sp>
      <p:sp>
        <p:nvSpPr>
          <p:cNvPr id="8" name="Rectangle 7"/>
          <p:cNvSpPr/>
          <p:nvPr/>
        </p:nvSpPr>
        <p:spPr>
          <a:xfrm>
            <a:off x="800100" y="1810511"/>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7750" y="16764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Solution and architecture</a:t>
            </a:r>
          </a:p>
        </p:txBody>
      </p:sp>
      <p:sp>
        <p:nvSpPr>
          <p:cNvPr id="10" name="Rectangle 9"/>
          <p:cNvSpPr/>
          <p:nvPr/>
        </p:nvSpPr>
        <p:spPr>
          <a:xfrm>
            <a:off x="800100" y="2343912"/>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7750" y="22098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Key features and live demo</a:t>
            </a:r>
          </a:p>
        </p:txBody>
      </p:sp>
      <p:sp>
        <p:nvSpPr>
          <p:cNvPr id="12" name="Rectangle 11"/>
          <p:cNvSpPr/>
          <p:nvPr/>
        </p:nvSpPr>
        <p:spPr>
          <a:xfrm>
            <a:off x="800100" y="2877312"/>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47750" y="27432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Database, security and privacy</a:t>
            </a:r>
          </a:p>
        </p:txBody>
      </p:sp>
      <p:sp>
        <p:nvSpPr>
          <p:cNvPr id="14" name="Rectangle 13"/>
          <p:cNvSpPr/>
          <p:nvPr/>
        </p:nvSpPr>
        <p:spPr>
          <a:xfrm>
            <a:off x="800100" y="3410712"/>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47750" y="32766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Testing and results</a:t>
            </a:r>
          </a:p>
        </p:txBody>
      </p:sp>
      <p:sp>
        <p:nvSpPr>
          <p:cNvPr id="16" name="Rectangle 15"/>
          <p:cNvSpPr/>
          <p:nvPr/>
        </p:nvSpPr>
        <p:spPr>
          <a:xfrm>
            <a:off x="800100" y="3944112"/>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47750" y="38100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Limitations, future work, Q&amp;A</a:t>
            </a:r>
          </a:p>
        </p:txBody>
      </p:sp>
      <p:sp>
        <p:nvSpPr>
          <p:cNvPr id="18" name="TextBox 17"/>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Main System Defense</a:t>
            </a:r>
          </a:p>
        </p:txBody>
      </p:sp>
      <p:sp>
        <p:nvSpPr>
          <p:cNvPr id="19" name="TextBox 18"/>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F2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7250" y="2857500"/>
            <a:ext cx="1143000" cy="762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7250" y="3048000"/>
            <a:ext cx="10477500" cy="1333500"/>
          </a:xfrm>
          <a:prstGeom prst="rect">
            <a:avLst/>
          </a:prstGeom>
          <a:noFill/>
        </p:spPr>
        <p:txBody>
          <a:bodyPr wrap="square" lIns="19050" rIns="19050" tIns="0" bIns="0" anchor="t">
            <a:spAutoFit/>
          </a:bodyPr>
          <a:lstStyle/>
          <a:p>
            <a:pPr algn="l">
              <a:lnSpc>
                <a:spcPct val="115000"/>
              </a:lnSpc>
            </a:pPr>
            <a:r>
              <a:rPr sz="4000" b="1">
                <a:solidFill>
                  <a:srgbClr val="FFFFFF"/>
                </a:solidFill>
                <a:latin typeface="Arial"/>
              </a:rPr>
              <a:t>The problem</a:t>
            </a:r>
          </a:p>
        </p:txBody>
      </p:sp>
      <p:sp>
        <p:nvSpPr>
          <p:cNvPr id="5" name="TextBox 4"/>
          <p:cNvSpPr txBox="1"/>
          <p:nvPr/>
        </p:nvSpPr>
        <p:spPr>
          <a:xfrm>
            <a:off x="857250" y="4476750"/>
            <a:ext cx="10477500" cy="762000"/>
          </a:xfrm>
          <a:prstGeom prst="rect">
            <a:avLst/>
          </a:prstGeom>
          <a:noFill/>
        </p:spPr>
        <p:txBody>
          <a:bodyPr wrap="square" lIns="19050" rIns="19050" tIns="0" bIns="0" anchor="t">
            <a:spAutoFit/>
          </a:bodyPr>
          <a:lstStyle/>
          <a:p>
            <a:pPr algn="l">
              <a:lnSpc>
                <a:spcPct val="115000"/>
              </a:lnSpc>
            </a:pPr>
            <a:r>
              <a:rPr sz="2000" b="0">
                <a:solidFill>
                  <a:srgbClr val="D9E8B0"/>
                </a:solidFill>
                <a:latin typeface="Arial"/>
              </a:rPr>
              <a:t>What the v1 site could not do</a:t>
            </a:r>
          </a:p>
        </p:txBody>
      </p:sp>
      <p:sp>
        <p:nvSpPr>
          <p:cNvPr id="6" name="TextBox 5"/>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B8C7BC"/>
                </a:solidFill>
                <a:latin typeface="Arial"/>
              </a:rPr>
              <a:t>Amaranth v2 · Main System Defense</a:t>
            </a:r>
          </a:p>
        </p:txBody>
      </p:sp>
      <p:sp>
        <p:nvSpPr>
          <p:cNvPr id="7" name="TextBox 6"/>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B8C7BC"/>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Problems in the old site (v1)</a:t>
            </a:r>
          </a:p>
        </p:txBody>
      </p:sp>
      <p:graphicFrame>
        <p:nvGraphicFramePr>
          <p:cNvPr id="6" name="Table 5"/>
          <p:cNvGraphicFramePr>
            <a:graphicFrameLocks noGrp="1"/>
          </p:cNvGraphicFramePr>
          <p:nvPr/>
        </p:nvGraphicFramePr>
        <p:xfrm>
          <a:off x="666750" y="1143000"/>
          <a:ext cx="10858499" cy="3505200"/>
        </p:xfrm>
        <a:graphic>
          <a:graphicData uri="http://schemas.openxmlformats.org/drawingml/2006/table">
            <a:tbl>
              <a:tblPr firstRow="1" bandRow="1">
                <a:tableStyleId>{5C22544A-7EE6-4342-B048-85BDC9FD1C3A}</a:tableStyleId>
              </a:tblPr>
              <a:tblGrid>
                <a:gridCol w="5687785"/>
                <a:gridCol w="5170714"/>
              </a:tblGrid>
              <a:tr h="438150">
                <a:tc>
                  <a:txBody>
                    <a:bodyPr wrap="square"/>
                    <a:lstStyle/>
                    <a:p>
                      <a:r>
                        <a:rPr sz="2000" b="1">
                          <a:solidFill>
                            <a:srgbClr val="14361F"/>
                          </a:solidFill>
                          <a:latin typeface="Arial"/>
                        </a:rPr>
                        <a:t>Problem</a:t>
                      </a:r>
                    </a:p>
                  </a:txBody>
                  <a:tcPr marL="76200" marR="76200" marT="57150" marB="57150">
                    <a:solidFill>
                      <a:srgbClr val="E8F1E9"/>
                    </a:solidFill>
                  </a:tcPr>
                </a:tc>
                <a:tc>
                  <a:txBody>
                    <a:bodyPr wrap="square"/>
                    <a:lstStyle/>
                    <a:p>
                      <a:r>
                        <a:rPr sz="2000" b="1">
                          <a:solidFill>
                            <a:srgbClr val="14361F"/>
                          </a:solidFill>
                          <a:latin typeface="Arial"/>
                        </a:rPr>
                        <a:t>Consequence</a:t>
                      </a:r>
                    </a:p>
                  </a:txBody>
                  <a:tcPr marL="76200" marR="76200" marT="57150" marB="57150">
                    <a:solidFill>
                      <a:srgbClr val="E8F1E9"/>
                    </a:solidFill>
                  </a:tcPr>
                </a:tc>
              </a:tr>
              <a:tr h="438150">
                <a:tc>
                  <a:txBody>
                    <a:bodyPr wrap="square"/>
                    <a:lstStyle/>
                    <a:p>
                      <a:r>
                        <a:rPr sz="2000" b="0">
                          <a:solidFill>
                            <a:srgbClr val="111A14"/>
                          </a:solidFill>
                          <a:latin typeface="Arial"/>
                        </a:rPr>
                        <a:t>Pre-compiled CSS export, no styling tool</a:t>
                      </a:r>
                    </a:p>
                  </a:txBody>
                  <a:tcPr marL="76200" marR="76200" marT="57150" marB="57150">
                    <a:solidFill>
                      <a:srgbClr val="FFFFFF"/>
                    </a:solidFill>
                  </a:tcPr>
                </a:tc>
                <a:tc>
                  <a:txBody>
                    <a:bodyPr wrap="square"/>
                    <a:lstStyle/>
                    <a:p>
                      <a:r>
                        <a:rPr sz="2000" b="0">
                          <a:solidFill>
                            <a:srgbClr val="111A14"/>
                          </a:solidFill>
                          <a:latin typeface="Arial"/>
                        </a:rPr>
                        <a:t>New styles could not be added safely</a:t>
                      </a:r>
                    </a:p>
                  </a:txBody>
                  <a:tcPr marL="76200" marR="76200" marT="57150" marB="57150">
                    <a:solidFill>
                      <a:srgbClr val="FFFFFF"/>
                    </a:solidFill>
                  </a:tcPr>
                </a:tc>
              </a:tr>
              <a:tr h="438150">
                <a:tc>
                  <a:txBody>
                    <a:bodyPr wrap="square"/>
                    <a:lstStyle/>
                    <a:p>
                      <a:r>
                        <a:rPr sz="2000" b="0">
                          <a:solidFill>
                            <a:srgbClr val="111A14"/>
                          </a:solidFill>
                          <a:latin typeface="Arial"/>
                        </a:rPr>
                        <a:t>15 near-identical section pages</a:t>
                      </a:r>
                    </a:p>
                  </a:txBody>
                  <a:tcPr marL="76200" marR="76200" marT="57150" marB="57150">
                    <a:solidFill>
                      <a:srgbClr val="FFFFFF"/>
                    </a:solidFill>
                  </a:tcPr>
                </a:tc>
                <a:tc>
                  <a:txBody>
                    <a:bodyPr wrap="square"/>
                    <a:lstStyle/>
                    <a:p>
                      <a:r>
                        <a:rPr sz="2000" b="0">
                          <a:solidFill>
                            <a:srgbClr val="111A14"/>
                          </a:solidFill>
                          <a:latin typeface="Arial"/>
                        </a:rPr>
                        <a:t>Every change made 15 times</a:t>
                      </a:r>
                    </a:p>
                  </a:txBody>
                  <a:tcPr marL="76200" marR="76200" marT="57150" marB="57150">
                    <a:solidFill>
                      <a:srgbClr val="FFFFFF"/>
                    </a:solidFill>
                  </a:tcPr>
                </a:tc>
              </a:tr>
              <a:tr h="438150">
                <a:tc>
                  <a:txBody>
                    <a:bodyPr wrap="square"/>
                    <a:lstStyle/>
                    <a:p>
                      <a:r>
                        <a:rPr sz="2000" b="0">
                          <a:solidFill>
                            <a:srgbClr val="111A14"/>
                          </a:solidFill>
                          <a:latin typeface="Arial"/>
                        </a:rPr>
                        <a:t>No lint, type-check or tests</a:t>
                      </a:r>
                    </a:p>
                  </a:txBody>
                  <a:tcPr marL="76200" marR="76200" marT="57150" marB="57150">
                    <a:solidFill>
                      <a:srgbClr val="FFFFFF"/>
                    </a:solidFill>
                  </a:tcPr>
                </a:tc>
                <a:tc>
                  <a:txBody>
                    <a:bodyPr wrap="square"/>
                    <a:lstStyle/>
                    <a:p>
                      <a:r>
                        <a:rPr sz="2000" b="0">
                          <a:solidFill>
                            <a:srgbClr val="111A14"/>
                          </a:solidFill>
                          <a:latin typeface="Arial"/>
                        </a:rPr>
                        <a:t>Regressions went unnoticed</a:t>
                      </a:r>
                    </a:p>
                  </a:txBody>
                  <a:tcPr marL="76200" marR="76200" marT="57150" marB="57150">
                    <a:solidFill>
                      <a:srgbClr val="FFFFFF"/>
                    </a:solidFill>
                  </a:tcPr>
                </a:tc>
              </a:tr>
              <a:tr h="438150">
                <a:tc>
                  <a:txBody>
                    <a:bodyPr wrap="square"/>
                    <a:lstStyle/>
                    <a:p>
                      <a:r>
                        <a:rPr sz="2000" b="0">
                          <a:solidFill>
                            <a:srgbClr val="111A14"/>
                          </a:solidFill>
                          <a:latin typeface="Arial"/>
                        </a:rPr>
                        <a:t>Helpers exposed in the API; open file deletes</a:t>
                      </a:r>
                    </a:p>
                  </a:txBody>
                  <a:tcPr marL="76200" marR="76200" marT="57150" marB="57150">
                    <a:solidFill>
                      <a:srgbClr val="FFFFFF"/>
                    </a:solidFill>
                  </a:tcPr>
                </a:tc>
                <a:tc>
                  <a:txBody>
                    <a:bodyPr wrap="square"/>
                    <a:lstStyle/>
                    <a:p>
                      <a:r>
                        <a:rPr sz="2000" b="0">
                          <a:solidFill>
                            <a:srgbClr val="111A14"/>
                          </a:solidFill>
                          <a:latin typeface="Arial"/>
                        </a:rPr>
                        <a:t>Security risks</a:t>
                      </a:r>
                    </a:p>
                  </a:txBody>
                  <a:tcPr marL="76200" marR="76200" marT="57150" marB="57150">
                    <a:solidFill>
                      <a:srgbClr val="FFFFFF"/>
                    </a:solidFill>
                  </a:tcPr>
                </a:tc>
              </a:tr>
              <a:tr h="438150">
                <a:tc>
                  <a:txBody>
                    <a:bodyPr wrap="square"/>
                    <a:lstStyle/>
                    <a:p>
                      <a:r>
                        <a:rPr sz="2000" b="0">
                          <a:solidFill>
                            <a:srgbClr val="111A14"/>
                          </a:solidFill>
                          <a:latin typeface="Arial"/>
                        </a:rPr>
                        <a:t>No workflow, revisions, moderation, invites</a:t>
                      </a:r>
                    </a:p>
                  </a:txBody>
                  <a:tcPr marL="76200" marR="76200" marT="57150" marB="57150">
                    <a:solidFill>
                      <a:srgbClr val="FFFFFF"/>
                    </a:solidFill>
                  </a:tcPr>
                </a:tc>
                <a:tc>
                  <a:txBody>
                    <a:bodyPr wrap="square"/>
                    <a:lstStyle/>
                    <a:p>
                      <a:r>
                        <a:rPr sz="2000" b="0">
                          <a:solidFill>
                            <a:srgbClr val="111A14"/>
                          </a:solidFill>
                          <a:latin typeface="Arial"/>
                        </a:rPr>
                        <a:t>Newsroom ran outside the system</a:t>
                      </a:r>
                    </a:p>
                  </a:txBody>
                  <a:tcPr marL="76200" marR="76200" marT="57150" marB="57150">
                    <a:solidFill>
                      <a:srgbClr val="FFFFFF"/>
                    </a:solidFill>
                  </a:tcPr>
                </a:tc>
              </a:tr>
              <a:tr h="438150">
                <a:tc>
                  <a:txBody>
                    <a:bodyPr wrap="square"/>
                    <a:lstStyle/>
                    <a:p>
                      <a:r>
                        <a:rPr sz="2000" b="0">
                          <a:solidFill>
                            <a:srgbClr val="111A14"/>
                          </a:solidFill>
                          <a:latin typeface="Arial"/>
                        </a:rPr>
                        <a:t>Mobile performance 56, accessibility 91</a:t>
                      </a:r>
                    </a:p>
                  </a:txBody>
                  <a:tcPr marL="76200" marR="76200" marT="57150" marB="57150">
                    <a:solidFill>
                      <a:srgbClr val="FFFFFF"/>
                    </a:solidFill>
                  </a:tcPr>
                </a:tc>
                <a:tc>
                  <a:txBody>
                    <a:bodyPr wrap="square"/>
                    <a:lstStyle/>
                    <a:p>
                      <a:r>
                        <a:rPr sz="2000" b="0">
                          <a:solidFill>
                            <a:srgbClr val="111A14"/>
                          </a:solidFill>
                          <a:latin typeface="Arial"/>
                        </a:rPr>
                        <a:t>Slow on campus mobile data</a:t>
                      </a:r>
                    </a:p>
                  </a:txBody>
                  <a:tcPr marL="76200" marR="76200" marT="57150" marB="57150">
                    <a:solidFill>
                      <a:srgbClr val="FFFFFF"/>
                    </a:solidFill>
                  </a:tcPr>
                </a:tc>
              </a:tr>
              <a:tr h="438150">
                <a:tc>
                  <a:txBody>
                    <a:bodyPr wrap="square"/>
                    <a:lstStyle/>
                    <a:p>
                      <a:r>
                        <a:rPr sz="2000" b="0">
                          <a:solidFill>
                            <a:srgbClr val="111A14"/>
                          </a:solidFill>
                          <a:latin typeface="Arial"/>
                        </a:rPr>
                        <a:t>No intramurals results online</a:t>
                      </a:r>
                    </a:p>
                  </a:txBody>
                  <a:tcPr marL="76200" marR="76200" marT="57150" marB="57150">
                    <a:solidFill>
                      <a:srgbClr val="FFFFFF"/>
                    </a:solidFill>
                  </a:tcPr>
                </a:tc>
                <a:tc>
                  <a:txBody>
                    <a:bodyPr wrap="square"/>
                    <a:lstStyle/>
                    <a:p>
                      <a:r>
                        <a:rPr sz="2000" b="0">
                          <a:solidFill>
                            <a:srgbClr val="111A14"/>
                          </a:solidFill>
                          <a:latin typeface="Arial"/>
                        </a:rPr>
                        <a:t>No live scores or official standings</a:t>
                      </a:r>
                    </a:p>
                  </a:txBody>
                  <a:tcPr marL="76200" marR="76200" marT="57150" marB="57150">
                    <a:solidFill>
                      <a:srgbClr val="FFFFFF"/>
                    </a:solidFill>
                  </a:tcPr>
                </a:tc>
              </a:tr>
            </a:tbl>
          </a:graphicData>
        </a:graphic>
      </p:graphicFrame>
      <p:sp>
        <p:nvSpPr>
          <p:cNvPr id="7" name="TextBox 6"/>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Main System Defense</a:t>
            </a:r>
          </a:p>
        </p:txBody>
      </p:sp>
      <p:sp>
        <p:nvSpPr>
          <p:cNvPr id="8" name="TextBox 7"/>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Objectives</a:t>
            </a:r>
          </a:p>
        </p:txBody>
      </p:sp>
      <p:sp>
        <p:nvSpPr>
          <p:cNvPr id="6" name="Rectangle 5"/>
          <p:cNvSpPr/>
          <p:nvPr/>
        </p:nvSpPr>
        <p:spPr>
          <a:xfrm>
            <a:off x="666750" y="1143000"/>
            <a:ext cx="3467100" cy="1809750"/>
          </a:xfrm>
          <a:prstGeom prst="rect">
            <a:avLst/>
          </a:prstGeom>
          <a:solidFill>
            <a:srgbClr val="FFFFFF"/>
          </a:solidFill>
          <a:ln w="9525">
            <a:solidFill>
              <a:srgbClr val="C9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66750" y="1143000"/>
            <a:ext cx="57150" cy="180975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6300" y="1295400"/>
            <a:ext cx="3124200" cy="868680"/>
          </a:xfrm>
          <a:prstGeom prst="rect">
            <a:avLst/>
          </a:prstGeom>
          <a:noFill/>
        </p:spPr>
        <p:txBody>
          <a:bodyPr wrap="square" lIns="19050" rIns="19050" tIns="0" bIns="0" anchor="t">
            <a:spAutoFit/>
          </a:bodyPr>
          <a:lstStyle/>
          <a:p>
            <a:pPr algn="l">
              <a:lnSpc>
                <a:spcPct val="115000"/>
              </a:lnSpc>
            </a:pPr>
            <a:r>
              <a:rPr sz="4000" b="1">
                <a:solidFill>
                  <a:srgbClr val="0F2A1A"/>
                </a:solidFill>
                <a:latin typeface="Arial"/>
              </a:rPr>
              <a:t>OBJ-1</a:t>
            </a:r>
          </a:p>
        </p:txBody>
      </p:sp>
      <p:sp>
        <p:nvSpPr>
          <p:cNvPr id="9" name="TextBox 8"/>
          <p:cNvSpPr txBox="1"/>
          <p:nvPr/>
        </p:nvSpPr>
        <p:spPr>
          <a:xfrm>
            <a:off x="876300" y="2138362"/>
            <a:ext cx="3124200" cy="760095"/>
          </a:xfrm>
          <a:prstGeom prst="rect">
            <a:avLst/>
          </a:prstGeom>
          <a:noFill/>
        </p:spPr>
        <p:txBody>
          <a:bodyPr wrap="square" lIns="19050" rIns="19050" tIns="0" bIns="0" anchor="t">
            <a:spAutoFit/>
          </a:bodyPr>
          <a:lstStyle/>
          <a:p>
            <a:pPr algn="l">
              <a:lnSpc>
                <a:spcPct val="115000"/>
              </a:lnSpc>
            </a:pPr>
            <a:r>
              <a:rPr sz="1500" b="0">
                <a:solidFill>
                  <a:srgbClr val="556058"/>
                </a:solidFill>
                <a:latin typeface="Arial"/>
              </a:rPr>
              <a:t>Run the whole editorial workflow in the system</a:t>
            </a:r>
          </a:p>
        </p:txBody>
      </p:sp>
      <p:sp>
        <p:nvSpPr>
          <p:cNvPr id="10" name="Rectangle 9"/>
          <p:cNvSpPr/>
          <p:nvPr/>
        </p:nvSpPr>
        <p:spPr>
          <a:xfrm>
            <a:off x="4362450" y="1143000"/>
            <a:ext cx="3467100" cy="1809750"/>
          </a:xfrm>
          <a:prstGeom prst="rect">
            <a:avLst/>
          </a:prstGeom>
          <a:solidFill>
            <a:srgbClr val="FFFFFF"/>
          </a:solidFill>
          <a:ln w="9525">
            <a:solidFill>
              <a:srgbClr val="C9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62450" y="1143000"/>
            <a:ext cx="57150" cy="180975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1295400"/>
            <a:ext cx="3124200" cy="868680"/>
          </a:xfrm>
          <a:prstGeom prst="rect">
            <a:avLst/>
          </a:prstGeom>
          <a:noFill/>
        </p:spPr>
        <p:txBody>
          <a:bodyPr wrap="square" lIns="19050" rIns="19050" tIns="0" bIns="0" anchor="t">
            <a:spAutoFit/>
          </a:bodyPr>
          <a:lstStyle/>
          <a:p>
            <a:pPr algn="l">
              <a:lnSpc>
                <a:spcPct val="115000"/>
              </a:lnSpc>
            </a:pPr>
            <a:r>
              <a:rPr sz="4000" b="1">
                <a:solidFill>
                  <a:srgbClr val="0F2A1A"/>
                </a:solidFill>
                <a:latin typeface="Arial"/>
              </a:rPr>
              <a:t>OBJ-2</a:t>
            </a:r>
          </a:p>
        </p:txBody>
      </p:sp>
      <p:sp>
        <p:nvSpPr>
          <p:cNvPr id="13" name="TextBox 12"/>
          <p:cNvSpPr txBox="1"/>
          <p:nvPr/>
        </p:nvSpPr>
        <p:spPr>
          <a:xfrm>
            <a:off x="4572000" y="2138362"/>
            <a:ext cx="3124200" cy="760095"/>
          </a:xfrm>
          <a:prstGeom prst="rect">
            <a:avLst/>
          </a:prstGeom>
          <a:noFill/>
        </p:spPr>
        <p:txBody>
          <a:bodyPr wrap="square" lIns="19050" rIns="19050" tIns="0" bIns="0" anchor="t">
            <a:spAutoFit/>
          </a:bodyPr>
          <a:lstStyle/>
          <a:p>
            <a:pPr algn="l">
              <a:lnSpc>
                <a:spcPct val="115000"/>
              </a:lnSpc>
            </a:pPr>
            <a:r>
              <a:rPr sz="1500" b="0">
                <a:solidFill>
                  <a:srgbClr val="556058"/>
                </a:solidFill>
                <a:latin typeface="Arial"/>
              </a:rPr>
              <a:t>Enforce every permission in the database</a:t>
            </a:r>
          </a:p>
        </p:txBody>
      </p:sp>
      <p:sp>
        <p:nvSpPr>
          <p:cNvPr id="14" name="Rectangle 13"/>
          <p:cNvSpPr/>
          <p:nvPr/>
        </p:nvSpPr>
        <p:spPr>
          <a:xfrm>
            <a:off x="8058150" y="1143000"/>
            <a:ext cx="3467100" cy="1809750"/>
          </a:xfrm>
          <a:prstGeom prst="rect">
            <a:avLst/>
          </a:prstGeom>
          <a:solidFill>
            <a:srgbClr val="FFFFFF"/>
          </a:solidFill>
          <a:ln w="9525">
            <a:solidFill>
              <a:srgbClr val="C9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58150" y="1143000"/>
            <a:ext cx="57150" cy="180975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67700" y="1295400"/>
            <a:ext cx="3124200" cy="868680"/>
          </a:xfrm>
          <a:prstGeom prst="rect">
            <a:avLst/>
          </a:prstGeom>
          <a:noFill/>
        </p:spPr>
        <p:txBody>
          <a:bodyPr wrap="square" lIns="19050" rIns="19050" tIns="0" bIns="0" anchor="t">
            <a:spAutoFit/>
          </a:bodyPr>
          <a:lstStyle/>
          <a:p>
            <a:pPr algn="l">
              <a:lnSpc>
                <a:spcPct val="115000"/>
              </a:lnSpc>
            </a:pPr>
            <a:r>
              <a:rPr sz="4000" b="1">
                <a:solidFill>
                  <a:srgbClr val="0F2A1A"/>
                </a:solidFill>
                <a:latin typeface="Arial"/>
              </a:rPr>
              <a:t>OBJ-3</a:t>
            </a:r>
          </a:p>
        </p:txBody>
      </p:sp>
      <p:sp>
        <p:nvSpPr>
          <p:cNvPr id="17" name="TextBox 16"/>
          <p:cNvSpPr txBox="1"/>
          <p:nvPr/>
        </p:nvSpPr>
        <p:spPr>
          <a:xfrm>
            <a:off x="8267700" y="2138362"/>
            <a:ext cx="3124200" cy="760095"/>
          </a:xfrm>
          <a:prstGeom prst="rect">
            <a:avLst/>
          </a:prstGeom>
          <a:noFill/>
        </p:spPr>
        <p:txBody>
          <a:bodyPr wrap="square" lIns="19050" rIns="19050" tIns="0" bIns="0" anchor="t">
            <a:spAutoFit/>
          </a:bodyPr>
          <a:lstStyle/>
          <a:p>
            <a:pPr algn="l">
              <a:lnSpc>
                <a:spcPct val="115000"/>
              </a:lnSpc>
            </a:pPr>
            <a:r>
              <a:rPr sz="1500" b="0">
                <a:solidFill>
                  <a:srgbClr val="556058"/>
                </a:solidFill>
                <a:latin typeface="Arial"/>
              </a:rPr>
              <a:t>Fast, accessible, mobile-first public site</a:t>
            </a:r>
          </a:p>
        </p:txBody>
      </p:sp>
      <p:sp>
        <p:nvSpPr>
          <p:cNvPr id="18" name="Rectangle 17"/>
          <p:cNvSpPr/>
          <p:nvPr/>
        </p:nvSpPr>
        <p:spPr>
          <a:xfrm>
            <a:off x="666750" y="3181350"/>
            <a:ext cx="3467100" cy="1809750"/>
          </a:xfrm>
          <a:prstGeom prst="rect">
            <a:avLst/>
          </a:prstGeom>
          <a:solidFill>
            <a:srgbClr val="FFFFFF"/>
          </a:solidFill>
          <a:ln w="9525">
            <a:solidFill>
              <a:srgbClr val="C9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66750" y="3181350"/>
            <a:ext cx="57150" cy="180975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6300" y="3333750"/>
            <a:ext cx="3124200" cy="868680"/>
          </a:xfrm>
          <a:prstGeom prst="rect">
            <a:avLst/>
          </a:prstGeom>
          <a:noFill/>
        </p:spPr>
        <p:txBody>
          <a:bodyPr wrap="square" lIns="19050" rIns="19050" tIns="0" bIns="0" anchor="t">
            <a:spAutoFit/>
          </a:bodyPr>
          <a:lstStyle/>
          <a:p>
            <a:pPr algn="l">
              <a:lnSpc>
                <a:spcPct val="115000"/>
              </a:lnSpc>
            </a:pPr>
            <a:r>
              <a:rPr sz="4000" b="1">
                <a:solidFill>
                  <a:srgbClr val="0F2A1A"/>
                </a:solidFill>
                <a:latin typeface="Arial"/>
              </a:rPr>
              <a:t>OBJ-4</a:t>
            </a:r>
          </a:p>
        </p:txBody>
      </p:sp>
      <p:sp>
        <p:nvSpPr>
          <p:cNvPr id="21" name="TextBox 20"/>
          <p:cNvSpPr txBox="1"/>
          <p:nvPr/>
        </p:nvSpPr>
        <p:spPr>
          <a:xfrm>
            <a:off x="876300" y="4176712"/>
            <a:ext cx="3124200" cy="760095"/>
          </a:xfrm>
          <a:prstGeom prst="rect">
            <a:avLst/>
          </a:prstGeom>
          <a:noFill/>
        </p:spPr>
        <p:txBody>
          <a:bodyPr wrap="square" lIns="19050" rIns="19050" tIns="0" bIns="0" anchor="t">
            <a:spAutoFit/>
          </a:bodyPr>
          <a:lstStyle/>
          <a:p>
            <a:pPr algn="l">
              <a:lnSpc>
                <a:spcPct val="115000"/>
              </a:lnSpc>
            </a:pPr>
            <a:r>
              <a:rPr sz="1500" b="0">
                <a:solidFill>
                  <a:srgbClr val="556058"/>
                </a:solidFill>
                <a:latin typeface="Arial"/>
              </a:rPr>
              <a:t>Safe public submissions and comments</a:t>
            </a:r>
          </a:p>
        </p:txBody>
      </p:sp>
      <p:sp>
        <p:nvSpPr>
          <p:cNvPr id="22" name="Rectangle 21"/>
          <p:cNvSpPr/>
          <p:nvPr/>
        </p:nvSpPr>
        <p:spPr>
          <a:xfrm>
            <a:off x="4362450" y="3181350"/>
            <a:ext cx="3467100" cy="1809750"/>
          </a:xfrm>
          <a:prstGeom prst="rect">
            <a:avLst/>
          </a:prstGeom>
          <a:solidFill>
            <a:srgbClr val="FFFFFF"/>
          </a:solidFill>
          <a:ln w="9525">
            <a:solidFill>
              <a:srgbClr val="C9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62450" y="3181350"/>
            <a:ext cx="57150" cy="180975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0" y="3333750"/>
            <a:ext cx="3124200" cy="868680"/>
          </a:xfrm>
          <a:prstGeom prst="rect">
            <a:avLst/>
          </a:prstGeom>
          <a:noFill/>
        </p:spPr>
        <p:txBody>
          <a:bodyPr wrap="square" lIns="19050" rIns="19050" tIns="0" bIns="0" anchor="t">
            <a:spAutoFit/>
          </a:bodyPr>
          <a:lstStyle/>
          <a:p>
            <a:pPr algn="l">
              <a:lnSpc>
                <a:spcPct val="115000"/>
              </a:lnSpc>
            </a:pPr>
            <a:r>
              <a:rPr sz="4000" b="1">
                <a:solidFill>
                  <a:srgbClr val="0F2A1A"/>
                </a:solidFill>
                <a:latin typeface="Arial"/>
              </a:rPr>
              <a:t>OBJ-5</a:t>
            </a:r>
          </a:p>
        </p:txBody>
      </p:sp>
      <p:sp>
        <p:nvSpPr>
          <p:cNvPr id="25" name="TextBox 24"/>
          <p:cNvSpPr txBox="1"/>
          <p:nvPr/>
        </p:nvSpPr>
        <p:spPr>
          <a:xfrm>
            <a:off x="4572000" y="4176712"/>
            <a:ext cx="3124200" cy="760095"/>
          </a:xfrm>
          <a:prstGeom prst="rect">
            <a:avLst/>
          </a:prstGeom>
          <a:noFill/>
        </p:spPr>
        <p:txBody>
          <a:bodyPr wrap="square" lIns="19050" rIns="19050" tIns="0" bIns="0" anchor="t">
            <a:spAutoFit/>
          </a:bodyPr>
          <a:lstStyle/>
          <a:p>
            <a:pPr algn="l">
              <a:lnSpc>
                <a:spcPct val="115000"/>
              </a:lnSpc>
            </a:pPr>
            <a:r>
              <a:rPr sz="1500" b="0">
                <a:solidFill>
                  <a:srgbClr val="556058"/>
                </a:solidFill>
                <a:latin typeface="Arial"/>
              </a:rPr>
              <a:t>Run Salingkusog: schedules, live scores, results</a:t>
            </a:r>
          </a:p>
        </p:txBody>
      </p:sp>
      <p:sp>
        <p:nvSpPr>
          <p:cNvPr id="26" name="Rectangle 25"/>
          <p:cNvSpPr/>
          <p:nvPr/>
        </p:nvSpPr>
        <p:spPr>
          <a:xfrm>
            <a:off x="8058150" y="3181350"/>
            <a:ext cx="3467100" cy="1809750"/>
          </a:xfrm>
          <a:prstGeom prst="rect">
            <a:avLst/>
          </a:prstGeom>
          <a:solidFill>
            <a:srgbClr val="FFFFFF"/>
          </a:solidFill>
          <a:ln w="9525">
            <a:solidFill>
              <a:srgbClr val="C9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58150" y="3181350"/>
            <a:ext cx="57150" cy="180975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67700" y="3333750"/>
            <a:ext cx="3124200" cy="868680"/>
          </a:xfrm>
          <a:prstGeom prst="rect">
            <a:avLst/>
          </a:prstGeom>
          <a:noFill/>
        </p:spPr>
        <p:txBody>
          <a:bodyPr wrap="square" lIns="19050" rIns="19050" tIns="0" bIns="0" anchor="t">
            <a:spAutoFit/>
          </a:bodyPr>
          <a:lstStyle/>
          <a:p>
            <a:pPr algn="l">
              <a:lnSpc>
                <a:spcPct val="115000"/>
              </a:lnSpc>
            </a:pPr>
            <a:r>
              <a:rPr sz="4000" b="1">
                <a:solidFill>
                  <a:srgbClr val="0F2A1A"/>
                </a:solidFill>
                <a:latin typeface="Arial"/>
              </a:rPr>
              <a:t>OBJ-6</a:t>
            </a:r>
          </a:p>
        </p:txBody>
      </p:sp>
      <p:sp>
        <p:nvSpPr>
          <p:cNvPr id="29" name="TextBox 28"/>
          <p:cNvSpPr txBox="1"/>
          <p:nvPr/>
        </p:nvSpPr>
        <p:spPr>
          <a:xfrm>
            <a:off x="8267700" y="4176712"/>
            <a:ext cx="3124200" cy="760095"/>
          </a:xfrm>
          <a:prstGeom prst="rect">
            <a:avLst/>
          </a:prstGeom>
          <a:noFill/>
        </p:spPr>
        <p:txBody>
          <a:bodyPr wrap="square" lIns="19050" rIns="19050" tIns="0" bIns="0" anchor="t">
            <a:spAutoFit/>
          </a:bodyPr>
          <a:lstStyle/>
          <a:p>
            <a:pPr algn="l">
              <a:lnSpc>
                <a:spcPct val="115000"/>
              </a:lnSpc>
            </a:pPr>
            <a:r>
              <a:rPr sz="1500" b="0">
                <a:solidFill>
                  <a:srgbClr val="556058"/>
                </a:solidFill>
                <a:latin typeface="Arial"/>
              </a:rPr>
              <a:t>Compute medals and rankings automatically</a:t>
            </a:r>
          </a:p>
        </p:txBody>
      </p:sp>
      <p:sp>
        <p:nvSpPr>
          <p:cNvPr id="30" name="TextBox 29"/>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Main System Defense</a:t>
            </a:r>
          </a:p>
        </p:txBody>
      </p:sp>
      <p:sp>
        <p:nvSpPr>
          <p:cNvPr id="31" name="TextBox 30"/>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Stakeholders and roles</a:t>
            </a:r>
          </a:p>
        </p:txBody>
      </p:sp>
      <p:graphicFrame>
        <p:nvGraphicFramePr>
          <p:cNvPr id="6" name="Table 5"/>
          <p:cNvGraphicFramePr>
            <a:graphicFrameLocks noGrp="1"/>
          </p:cNvGraphicFramePr>
          <p:nvPr/>
        </p:nvGraphicFramePr>
        <p:xfrm>
          <a:off x="666750" y="1143000"/>
          <a:ext cx="10858500" cy="3943350"/>
        </p:xfrm>
        <a:graphic>
          <a:graphicData uri="http://schemas.openxmlformats.org/drawingml/2006/table">
            <a:tbl>
              <a:tblPr firstRow="1" bandRow="1">
                <a:tableStyleId>{5C22544A-7EE6-4342-B048-85BDC9FD1C3A}</a:tableStyleId>
              </a:tblPr>
              <a:tblGrid>
                <a:gridCol w="5429250"/>
                <a:gridCol w="5429250"/>
              </a:tblGrid>
              <a:tr h="438150">
                <a:tc>
                  <a:txBody>
                    <a:bodyPr wrap="square"/>
                    <a:lstStyle/>
                    <a:p>
                      <a:r>
                        <a:rPr sz="2000" b="1">
                          <a:solidFill>
                            <a:srgbClr val="14361F"/>
                          </a:solidFill>
                          <a:latin typeface="Arial"/>
                        </a:rPr>
                        <a:t>Stakeholder</a:t>
                      </a:r>
                    </a:p>
                  </a:txBody>
                  <a:tcPr marL="76200" marR="76200" marT="57150" marB="57150">
                    <a:solidFill>
                      <a:srgbClr val="E8F1E9"/>
                    </a:solidFill>
                  </a:tcPr>
                </a:tc>
                <a:tc>
                  <a:txBody>
                    <a:bodyPr wrap="square"/>
                    <a:lstStyle/>
                    <a:p>
                      <a:r>
                        <a:rPr sz="2000" b="1">
                          <a:solidFill>
                            <a:srgbClr val="14361F"/>
                          </a:solidFill>
                          <a:latin typeface="Arial"/>
                        </a:rPr>
                        <a:t>Role in the system</a:t>
                      </a:r>
                    </a:p>
                  </a:txBody>
                  <a:tcPr marL="76200" marR="76200" marT="57150" marB="57150">
                    <a:solidFill>
                      <a:srgbClr val="E8F1E9"/>
                    </a:solidFill>
                  </a:tcPr>
                </a:tc>
              </a:tr>
              <a:tr h="438150">
                <a:tc>
                  <a:txBody>
                    <a:bodyPr wrap="square"/>
                    <a:lstStyle/>
                    <a:p>
                      <a:r>
                        <a:rPr sz="2000" b="0">
                          <a:solidFill>
                            <a:srgbClr val="111A14"/>
                          </a:solidFill>
                          <a:latin typeface="Arial"/>
                        </a:rPr>
                        <a:t>Executive Editor</a:t>
                      </a:r>
                    </a:p>
                  </a:txBody>
                  <a:tcPr marL="76200" marR="76200" marT="57150" marB="57150">
                    <a:solidFill>
                      <a:srgbClr val="FFFFFF"/>
                    </a:solidFill>
                  </a:tcPr>
                </a:tc>
                <a:tc>
                  <a:txBody>
                    <a:bodyPr wrap="square"/>
                    <a:lstStyle/>
                    <a:p>
                      <a:r>
                        <a:rPr sz="2000" b="0">
                          <a:solidFill>
                            <a:srgbClr val="111A14"/>
                          </a:solidFill>
                          <a:latin typeface="Arial"/>
                        </a:rPr>
                        <a:t>editor_in_chief</a:t>
                      </a:r>
                    </a:p>
                  </a:txBody>
                  <a:tcPr marL="76200" marR="76200" marT="57150" marB="57150">
                    <a:solidFill>
                      <a:srgbClr val="FFFFFF"/>
                    </a:solidFill>
                  </a:tcPr>
                </a:tc>
              </a:tr>
              <a:tr h="438150">
                <a:tc>
                  <a:txBody>
                    <a:bodyPr wrap="square"/>
                    <a:lstStyle/>
                    <a:p>
                      <a:r>
                        <a:rPr sz="2000" b="0">
                          <a:solidFill>
                            <a:srgbClr val="111A14"/>
                          </a:solidFill>
                          <a:latin typeface="Arial"/>
                        </a:rPr>
                        <a:t>Technical administrator</a:t>
                      </a:r>
                    </a:p>
                  </a:txBody>
                  <a:tcPr marL="76200" marR="76200" marT="57150" marB="57150">
                    <a:solidFill>
                      <a:srgbClr val="FFFFFF"/>
                    </a:solidFill>
                  </a:tcPr>
                </a:tc>
                <a:tc>
                  <a:txBody>
                    <a:bodyPr wrap="square"/>
                    <a:lstStyle/>
                    <a:p>
                      <a:r>
                        <a:rPr sz="2000" b="0">
                          <a:solidFill>
                            <a:srgbClr val="111A14"/>
                          </a:solidFill>
                          <a:latin typeface="Arial"/>
                        </a:rPr>
                        <a:t>super_admin</a:t>
                      </a:r>
                    </a:p>
                  </a:txBody>
                  <a:tcPr marL="76200" marR="76200" marT="57150" marB="57150">
                    <a:solidFill>
                      <a:srgbClr val="FFFFFF"/>
                    </a:solidFill>
                  </a:tcPr>
                </a:tc>
              </a:tr>
              <a:tr h="438150">
                <a:tc>
                  <a:txBody>
                    <a:bodyPr wrap="square"/>
                    <a:lstStyle/>
                    <a:p>
                      <a:r>
                        <a:rPr sz="2000" b="0">
                          <a:solidFill>
                            <a:srgbClr val="111A14"/>
                          </a:solidFill>
                          <a:latin typeface="Arial"/>
                        </a:rPr>
                        <a:t>Managing Editor</a:t>
                      </a:r>
                    </a:p>
                  </a:txBody>
                  <a:tcPr marL="76200" marR="76200" marT="57150" marB="57150">
                    <a:solidFill>
                      <a:srgbClr val="FFFFFF"/>
                    </a:solidFill>
                  </a:tcPr>
                </a:tc>
                <a:tc>
                  <a:txBody>
                    <a:bodyPr wrap="square"/>
                    <a:lstStyle/>
                    <a:p>
                      <a:r>
                        <a:rPr sz="2000" b="0">
                          <a:solidFill>
                            <a:srgbClr val="111A14"/>
                          </a:solidFill>
                          <a:latin typeface="Arial"/>
                        </a:rPr>
                        <a:t>managing_editor</a:t>
                      </a:r>
                    </a:p>
                  </a:txBody>
                  <a:tcPr marL="76200" marR="76200" marT="57150" marB="57150">
                    <a:solidFill>
                      <a:srgbClr val="FFFFFF"/>
                    </a:solidFill>
                  </a:tcPr>
                </a:tc>
              </a:tr>
              <a:tr h="438150">
                <a:tc>
                  <a:txBody>
                    <a:bodyPr wrap="square"/>
                    <a:lstStyle/>
                    <a:p>
                      <a:r>
                        <a:rPr sz="2000" b="0">
                          <a:solidFill>
                            <a:srgbClr val="111A14"/>
                          </a:solidFill>
                          <a:latin typeface="Arial"/>
                        </a:rPr>
                        <a:t>Business Manager</a:t>
                      </a:r>
                    </a:p>
                  </a:txBody>
                  <a:tcPr marL="76200" marR="76200" marT="57150" marB="57150">
                    <a:solidFill>
                      <a:srgbClr val="FFFFFF"/>
                    </a:solidFill>
                  </a:tcPr>
                </a:tc>
                <a:tc>
                  <a:txBody>
                    <a:bodyPr wrap="square"/>
                    <a:lstStyle/>
                    <a:p>
                      <a:r>
                        <a:rPr sz="2000" b="0">
                          <a:solidFill>
                            <a:srgbClr val="111A14"/>
                          </a:solidFill>
                          <a:latin typeface="Arial"/>
                        </a:rPr>
                        <a:t>business_manager</a:t>
                      </a:r>
                    </a:p>
                  </a:txBody>
                  <a:tcPr marL="76200" marR="76200" marT="57150" marB="57150">
                    <a:solidFill>
                      <a:srgbClr val="FFFFFF"/>
                    </a:solidFill>
                  </a:tcPr>
                </a:tc>
              </a:tr>
              <a:tr h="438150">
                <a:tc>
                  <a:txBody>
                    <a:bodyPr wrap="square"/>
                    <a:lstStyle/>
                    <a:p>
                      <a:r>
                        <a:rPr sz="2000" b="0">
                          <a:solidFill>
                            <a:srgbClr val="111A14"/>
                          </a:solidFill>
                          <a:latin typeface="Arial"/>
                        </a:rPr>
                        <a:t>Section editors</a:t>
                      </a:r>
                    </a:p>
                  </a:txBody>
                  <a:tcPr marL="76200" marR="76200" marT="57150" marB="57150">
                    <a:solidFill>
                      <a:srgbClr val="FFFFFF"/>
                    </a:solidFill>
                  </a:tcPr>
                </a:tc>
                <a:tc>
                  <a:txBody>
                    <a:bodyPr wrap="square"/>
                    <a:lstStyle/>
                    <a:p>
                      <a:r>
                        <a:rPr sz="2000" b="0">
                          <a:solidFill>
                            <a:srgbClr val="111A14"/>
                          </a:solidFill>
                          <a:latin typeface="Arial"/>
                        </a:rPr>
                        <a:t>section_editor</a:t>
                      </a:r>
                    </a:p>
                  </a:txBody>
                  <a:tcPr marL="76200" marR="76200" marT="57150" marB="57150">
                    <a:solidFill>
                      <a:srgbClr val="FFFFFF"/>
                    </a:solidFill>
                  </a:tcPr>
                </a:tc>
              </a:tr>
              <a:tr h="438150">
                <a:tc>
                  <a:txBody>
                    <a:bodyPr wrap="square"/>
                    <a:lstStyle/>
                    <a:p>
                      <a:r>
                        <a:rPr sz="2000" b="0">
                          <a:solidFill>
                            <a:srgbClr val="111A14"/>
                          </a:solidFill>
                          <a:latin typeface="Arial"/>
                        </a:rPr>
                        <a:t>Writers and contributors</a:t>
                      </a:r>
                    </a:p>
                  </a:txBody>
                  <a:tcPr marL="76200" marR="76200" marT="57150" marB="57150">
                    <a:solidFill>
                      <a:srgbClr val="FFFFFF"/>
                    </a:solidFill>
                  </a:tcPr>
                </a:tc>
                <a:tc>
                  <a:txBody>
                    <a:bodyPr wrap="square"/>
                    <a:lstStyle/>
                    <a:p>
                      <a:r>
                        <a:rPr sz="2000" b="0">
                          <a:solidFill>
                            <a:srgbClr val="111A14"/>
                          </a:solidFill>
                          <a:latin typeface="Arial"/>
                        </a:rPr>
                        <a:t>staff_writer, contributor</a:t>
                      </a:r>
                    </a:p>
                  </a:txBody>
                  <a:tcPr marL="76200" marR="76200" marT="57150" marB="57150">
                    <a:solidFill>
                      <a:srgbClr val="FFFFFF"/>
                    </a:solidFill>
                  </a:tcPr>
                </a:tc>
              </a:tr>
              <a:tr h="438150">
                <a:tc>
                  <a:txBody>
                    <a:bodyPr wrap="square"/>
                    <a:lstStyle/>
                    <a:p>
                      <a:r>
                        <a:rPr sz="2000" b="0">
                          <a:solidFill>
                            <a:srgbClr val="111A14"/>
                          </a:solidFill>
                          <a:latin typeface="Arial"/>
                        </a:rPr>
                        <a:t>Salingkusog team</a:t>
                      </a:r>
                    </a:p>
                  </a:txBody>
                  <a:tcPr marL="76200" marR="76200" marT="57150" marB="57150">
                    <a:solidFill>
                      <a:srgbClr val="FFFFFF"/>
                    </a:solidFill>
                  </a:tcPr>
                </a:tc>
                <a:tc>
                  <a:txBody>
                    <a:bodyPr wrap="square"/>
                    <a:lstStyle/>
                    <a:p>
                      <a:r>
                        <a:rPr sz="2000" b="0">
                          <a:solidFill>
                            <a:srgbClr val="111A14"/>
                          </a:solidFill>
                          <a:latin typeface="Arial"/>
                        </a:rPr>
                        <a:t>any staff in sk_team</a:t>
                      </a:r>
                    </a:p>
                  </a:txBody>
                  <a:tcPr marL="76200" marR="76200" marT="57150" marB="57150">
                    <a:solidFill>
                      <a:srgbClr val="FFFFFF"/>
                    </a:solidFill>
                  </a:tcPr>
                </a:tc>
              </a:tr>
              <a:tr h="438150">
                <a:tc>
                  <a:txBody>
                    <a:bodyPr wrap="square"/>
                    <a:lstStyle/>
                    <a:p>
                      <a:r>
                        <a:rPr sz="2000" b="0">
                          <a:solidFill>
                            <a:srgbClr val="111A14"/>
                          </a:solidFill>
                          <a:latin typeface="Arial"/>
                        </a:rPr>
                        <a:t>Readers</a:t>
                      </a:r>
                    </a:p>
                  </a:txBody>
                  <a:tcPr marL="76200" marR="76200" marT="57150" marB="57150">
                    <a:solidFill>
                      <a:srgbClr val="FFFFFF"/>
                    </a:solidFill>
                  </a:tcPr>
                </a:tc>
                <a:tc>
                  <a:txBody>
                    <a:bodyPr wrap="square"/>
                    <a:lstStyle/>
                    <a:p>
                      <a:r>
                        <a:rPr sz="2000" b="0">
                          <a:solidFill>
                            <a:srgbClr val="111A14"/>
                          </a:solidFill>
                          <a:latin typeface="Arial"/>
                        </a:rPr>
                        <a:t>anonymous</a:t>
                      </a:r>
                    </a:p>
                  </a:txBody>
                  <a:tcPr marL="76200" marR="76200" marT="57150" marB="57150">
                    <a:solidFill>
                      <a:srgbClr val="FFFFFF"/>
                    </a:solidFill>
                  </a:tcPr>
                </a:tc>
              </a:tr>
            </a:tbl>
          </a:graphicData>
        </a:graphic>
      </p:graphicFrame>
      <p:sp>
        <p:nvSpPr>
          <p:cNvPr id="7" name="TextBox 6"/>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Main System Defense</a:t>
            </a:r>
          </a:p>
        </p:txBody>
      </p:sp>
      <p:sp>
        <p:nvSpPr>
          <p:cNvPr id="8" name="TextBox 7"/>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F2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7250" y="2857500"/>
            <a:ext cx="1143000" cy="762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7250" y="3048000"/>
            <a:ext cx="10477500" cy="1333500"/>
          </a:xfrm>
          <a:prstGeom prst="rect">
            <a:avLst/>
          </a:prstGeom>
          <a:noFill/>
        </p:spPr>
        <p:txBody>
          <a:bodyPr wrap="square" lIns="19050" rIns="19050" tIns="0" bIns="0" anchor="t">
            <a:spAutoFit/>
          </a:bodyPr>
          <a:lstStyle/>
          <a:p>
            <a:pPr algn="l">
              <a:lnSpc>
                <a:spcPct val="115000"/>
              </a:lnSpc>
            </a:pPr>
            <a:r>
              <a:rPr sz="4000" b="1">
                <a:solidFill>
                  <a:srgbClr val="FFFFFF"/>
                </a:solidFill>
                <a:latin typeface="Arial"/>
              </a:rPr>
              <a:t>The solution</a:t>
            </a:r>
          </a:p>
        </p:txBody>
      </p:sp>
      <p:sp>
        <p:nvSpPr>
          <p:cNvPr id="5" name="TextBox 4"/>
          <p:cNvSpPr txBox="1"/>
          <p:nvPr/>
        </p:nvSpPr>
        <p:spPr>
          <a:xfrm>
            <a:off x="857250" y="4476750"/>
            <a:ext cx="10477500" cy="762000"/>
          </a:xfrm>
          <a:prstGeom prst="rect">
            <a:avLst/>
          </a:prstGeom>
          <a:noFill/>
        </p:spPr>
        <p:txBody>
          <a:bodyPr wrap="square" lIns="19050" rIns="19050" tIns="0" bIns="0" anchor="t">
            <a:spAutoFit/>
          </a:bodyPr>
          <a:lstStyle/>
          <a:p>
            <a:pPr algn="l">
              <a:lnSpc>
                <a:spcPct val="115000"/>
              </a:lnSpc>
            </a:pPr>
            <a:r>
              <a:rPr sz="2000" b="0">
                <a:solidFill>
                  <a:srgbClr val="D9E8B0"/>
                </a:solidFill>
                <a:latin typeface="Arial"/>
              </a:rPr>
              <a:t>One system: public site, newsroom, Salingkusog</a:t>
            </a:r>
          </a:p>
        </p:txBody>
      </p:sp>
      <p:sp>
        <p:nvSpPr>
          <p:cNvPr id="6" name="TextBox 5"/>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B8C7BC"/>
                </a:solidFill>
                <a:latin typeface="Arial"/>
              </a:rPr>
              <a:t>Amaranth v2 · Main System Defense</a:t>
            </a:r>
          </a:p>
        </p:txBody>
      </p:sp>
      <p:sp>
        <p:nvSpPr>
          <p:cNvPr id="7" name="TextBox 6"/>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B8C7BC"/>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System context</a:t>
            </a:r>
          </a:p>
        </p:txBody>
      </p:sp>
      <p:pic>
        <p:nvPicPr>
          <p:cNvPr id="6" name="Picture 5" descr="ctx-1-context.png"/>
          <p:cNvPicPr>
            <a:picLocks noChangeAspect="1"/>
          </p:cNvPicPr>
          <p:nvPr/>
        </p:nvPicPr>
        <p:blipFill>
          <a:blip r:embed="rId2"/>
          <a:stretch>
            <a:fillRect/>
          </a:stretch>
        </p:blipFill>
        <p:spPr>
          <a:xfrm>
            <a:off x="666750" y="1774873"/>
            <a:ext cx="10858500" cy="3574952"/>
          </a:xfrm>
          <a:prstGeom prst="rect">
            <a:avLst/>
          </a:prstGeom>
        </p:spPr>
      </p:pic>
      <p:sp>
        <p:nvSpPr>
          <p:cNvPr id="7" name="Rectangle 6"/>
          <p:cNvSpPr/>
          <p:nvPr/>
        </p:nvSpPr>
        <p:spPr>
          <a:xfrm>
            <a:off x="666750" y="1774873"/>
            <a:ext cx="10858500" cy="3574952"/>
          </a:xfrm>
          <a:prstGeom prst="rect">
            <a:avLst/>
          </a:prstGeom>
          <a:noFill/>
          <a:ln w="9525">
            <a:solidFill>
              <a:srgbClr val="C9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6750" y="6038850"/>
            <a:ext cx="10858500" cy="285750"/>
          </a:xfrm>
          <a:prstGeom prst="rect">
            <a:avLst/>
          </a:prstGeom>
          <a:noFill/>
        </p:spPr>
        <p:txBody>
          <a:bodyPr wrap="square" lIns="19050" rIns="19050" tIns="0" bIns="0" anchor="t">
            <a:spAutoFit/>
          </a:bodyPr>
          <a:lstStyle/>
          <a:p>
            <a:pPr algn="ctr">
              <a:lnSpc>
                <a:spcPct val="115000"/>
              </a:lnSpc>
            </a:pPr>
            <a:r>
              <a:rPr sz="1300" b="0">
                <a:solidFill>
                  <a:srgbClr val="556058"/>
                </a:solidFill>
                <a:latin typeface="Arial"/>
              </a:rPr>
              <a:t>CTX-1: readers, staff and the Salingkusog team use one web app backed by Supabase and Vercel</a:t>
            </a:r>
          </a:p>
        </p:txBody>
      </p:sp>
      <p:sp>
        <p:nvSpPr>
          <p:cNvPr id="9" name="TextBox 8"/>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Main System Defense</a:t>
            </a:r>
          </a:p>
        </p:txBody>
      </p:sp>
      <p:sp>
        <p:nvSpPr>
          <p:cNvPr id="10" name="TextBox 9"/>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Architecture</a:t>
            </a:r>
          </a:p>
        </p:txBody>
      </p:sp>
      <p:pic>
        <p:nvPicPr>
          <p:cNvPr id="6" name="Picture 5" descr="slide-arch.png"/>
          <p:cNvPicPr>
            <a:picLocks noChangeAspect="1"/>
          </p:cNvPicPr>
          <p:nvPr/>
        </p:nvPicPr>
        <p:blipFill>
          <a:blip r:embed="rId2"/>
          <a:stretch>
            <a:fillRect/>
          </a:stretch>
        </p:blipFill>
        <p:spPr>
          <a:xfrm>
            <a:off x="1736410" y="1143000"/>
            <a:ext cx="8719178" cy="2476500"/>
          </a:xfrm>
          <a:prstGeom prst="rect">
            <a:avLst/>
          </a:prstGeom>
        </p:spPr>
      </p:pic>
      <p:sp>
        <p:nvSpPr>
          <p:cNvPr id="7" name="Rectangle 6"/>
          <p:cNvSpPr/>
          <p:nvPr/>
        </p:nvSpPr>
        <p:spPr>
          <a:xfrm>
            <a:off x="800100" y="4028186"/>
            <a:ext cx="89408" cy="89408"/>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7750" y="3905250"/>
            <a:ext cx="10382250" cy="354329"/>
          </a:xfrm>
          <a:prstGeom prst="rect">
            <a:avLst/>
          </a:prstGeom>
          <a:noFill/>
        </p:spPr>
        <p:txBody>
          <a:bodyPr wrap="square" lIns="19050" rIns="19050" tIns="0" bIns="0" anchor="t">
            <a:spAutoFit/>
          </a:bodyPr>
          <a:lstStyle/>
          <a:p>
            <a:pPr algn="l">
              <a:lnSpc>
                <a:spcPct val="115000"/>
              </a:lnSpc>
            </a:pPr>
            <a:r>
              <a:rPr sz="2200" b="0">
                <a:solidFill>
                  <a:srgbClr val="111A14"/>
                </a:solidFill>
                <a:latin typeface="Arial"/>
              </a:rPr>
              <a:t>React app talks directly to Supabase with the user’s token</a:t>
            </a:r>
          </a:p>
        </p:txBody>
      </p:sp>
      <p:sp>
        <p:nvSpPr>
          <p:cNvPr id="9" name="Rectangle 8"/>
          <p:cNvSpPr/>
          <p:nvPr/>
        </p:nvSpPr>
        <p:spPr>
          <a:xfrm>
            <a:off x="800100" y="4517136"/>
            <a:ext cx="89408" cy="89408"/>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7750" y="4394200"/>
            <a:ext cx="10382250" cy="354329"/>
          </a:xfrm>
          <a:prstGeom prst="rect">
            <a:avLst/>
          </a:prstGeom>
          <a:noFill/>
        </p:spPr>
        <p:txBody>
          <a:bodyPr wrap="square" lIns="19050" rIns="19050" tIns="0" bIns="0" anchor="t">
            <a:spAutoFit/>
          </a:bodyPr>
          <a:lstStyle/>
          <a:p>
            <a:pPr algn="l">
              <a:lnSpc>
                <a:spcPct val="115000"/>
              </a:lnSpc>
            </a:pPr>
            <a:r>
              <a:rPr sz="2200" b="0">
                <a:solidFill>
                  <a:srgbClr val="111A14"/>
                </a:solidFill>
                <a:latin typeface="Arial"/>
              </a:rPr>
              <a:t>Database rules decide everything (RLS, triggers)</a:t>
            </a:r>
          </a:p>
        </p:txBody>
      </p:sp>
      <p:sp>
        <p:nvSpPr>
          <p:cNvPr id="11" name="Rectangle 10"/>
          <p:cNvSpPr/>
          <p:nvPr/>
        </p:nvSpPr>
        <p:spPr>
          <a:xfrm>
            <a:off x="800100" y="5006085"/>
            <a:ext cx="89408" cy="89408"/>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7750" y="4883150"/>
            <a:ext cx="10382250" cy="354329"/>
          </a:xfrm>
          <a:prstGeom prst="rect">
            <a:avLst/>
          </a:prstGeom>
          <a:noFill/>
        </p:spPr>
        <p:txBody>
          <a:bodyPr wrap="square" lIns="19050" rIns="19050" tIns="0" bIns="0" anchor="t">
            <a:spAutoFit/>
          </a:bodyPr>
          <a:lstStyle/>
          <a:p>
            <a:pPr algn="l">
              <a:lnSpc>
                <a:spcPct val="115000"/>
              </a:lnSpc>
            </a:pPr>
            <a:r>
              <a:rPr sz="2200" b="0">
                <a:solidFill>
                  <a:srgbClr val="111A14"/>
                </a:solidFill>
                <a:latin typeface="Arial"/>
              </a:rPr>
              <a:t>Thin Vercel layer only for secrets, caching and SEO</a:t>
            </a:r>
          </a:p>
        </p:txBody>
      </p:sp>
      <p:sp>
        <p:nvSpPr>
          <p:cNvPr id="13" name="TextBox 12"/>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Main System Defense</a:t>
            </a:r>
          </a:p>
        </p:txBody>
      </p:sp>
      <p:sp>
        <p:nvSpPr>
          <p:cNvPr id="14" name="TextBox 13"/>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Why this stack</a:t>
            </a:r>
          </a:p>
        </p:txBody>
      </p:sp>
      <p:graphicFrame>
        <p:nvGraphicFramePr>
          <p:cNvPr id="6" name="Table 5"/>
          <p:cNvGraphicFramePr>
            <a:graphicFrameLocks noGrp="1"/>
          </p:cNvGraphicFramePr>
          <p:nvPr/>
        </p:nvGraphicFramePr>
        <p:xfrm>
          <a:off x="666750" y="1143000"/>
          <a:ext cx="10858499" cy="3067050"/>
        </p:xfrm>
        <a:graphic>
          <a:graphicData uri="http://schemas.openxmlformats.org/drawingml/2006/table">
            <a:tbl>
              <a:tblPr firstRow="1" bandRow="1">
                <a:tableStyleId>{5C22544A-7EE6-4342-B048-85BDC9FD1C3A}</a:tableStyleId>
              </a:tblPr>
              <a:tblGrid>
                <a:gridCol w="3948545"/>
                <a:gridCol w="6909954"/>
              </a:tblGrid>
              <a:tr h="438150">
                <a:tc>
                  <a:txBody>
                    <a:bodyPr wrap="square"/>
                    <a:lstStyle/>
                    <a:p>
                      <a:r>
                        <a:rPr sz="2000" b="1">
                          <a:solidFill>
                            <a:srgbClr val="14361F"/>
                          </a:solidFill>
                          <a:latin typeface="Arial"/>
                        </a:rPr>
                        <a:t>Choice</a:t>
                      </a:r>
                    </a:p>
                  </a:txBody>
                  <a:tcPr marL="76200" marR="76200" marT="57150" marB="57150">
                    <a:solidFill>
                      <a:srgbClr val="E8F1E9"/>
                    </a:solidFill>
                  </a:tcPr>
                </a:tc>
                <a:tc>
                  <a:txBody>
                    <a:bodyPr wrap="square"/>
                    <a:lstStyle/>
                    <a:p>
                      <a:r>
                        <a:rPr sz="2000" b="1">
                          <a:solidFill>
                            <a:srgbClr val="14361F"/>
                          </a:solidFill>
                          <a:latin typeface="Arial"/>
                        </a:rPr>
                        <a:t>Reason</a:t>
                      </a:r>
                    </a:p>
                  </a:txBody>
                  <a:tcPr marL="76200" marR="76200" marT="57150" marB="57150">
                    <a:solidFill>
                      <a:srgbClr val="E8F1E9"/>
                    </a:solidFill>
                  </a:tcPr>
                </a:tc>
              </a:tr>
              <a:tr h="438150">
                <a:tc>
                  <a:txBody>
                    <a:bodyPr wrap="square"/>
                    <a:lstStyle/>
                    <a:p>
                      <a:r>
                        <a:rPr sz="2000" b="0">
                          <a:solidFill>
                            <a:srgbClr val="111A14"/>
                          </a:solidFill>
                          <a:latin typeface="Arial"/>
                        </a:rPr>
                        <a:t>React + Vite</a:t>
                      </a:r>
                    </a:p>
                  </a:txBody>
                  <a:tcPr marL="76200" marR="76200" marT="57150" marB="57150">
                    <a:solidFill>
                      <a:srgbClr val="FFFFFF"/>
                    </a:solidFill>
                  </a:tcPr>
                </a:tc>
                <a:tc>
                  <a:txBody>
                    <a:bodyPr wrap="square"/>
                    <a:lstStyle/>
                    <a:p>
                      <a:r>
                        <a:rPr sz="2000" b="0">
                          <a:solidFill>
                            <a:srgbClr val="111A14"/>
                          </a:solidFill>
                          <a:latin typeface="Arial"/>
                        </a:rPr>
                        <a:t>Client-rendered app; fast builds; team familiarity</a:t>
                      </a:r>
                    </a:p>
                  </a:txBody>
                  <a:tcPr marL="76200" marR="76200" marT="57150" marB="57150">
                    <a:solidFill>
                      <a:srgbClr val="FFFFFF"/>
                    </a:solidFill>
                  </a:tcPr>
                </a:tc>
              </a:tr>
              <a:tr h="438150">
                <a:tc>
                  <a:txBody>
                    <a:bodyPr wrap="square"/>
                    <a:lstStyle/>
                    <a:p>
                      <a:r>
                        <a:rPr sz="2000" b="0">
                          <a:solidFill>
                            <a:srgbClr val="111A14"/>
                          </a:solidFill>
                          <a:latin typeface="Arial"/>
                        </a:rPr>
                        <a:t>Supabase (PostgreSQL)</a:t>
                      </a:r>
                    </a:p>
                  </a:txBody>
                  <a:tcPr marL="76200" marR="76200" marT="57150" marB="57150">
                    <a:solidFill>
                      <a:srgbClr val="FFFFFF"/>
                    </a:solidFill>
                  </a:tcPr>
                </a:tc>
                <a:tc>
                  <a:txBody>
                    <a:bodyPr wrap="square"/>
                    <a:lstStyle/>
                    <a:p>
                      <a:r>
                        <a:rPr sz="2000" b="0">
                          <a:solidFill>
                            <a:srgbClr val="111A14"/>
                          </a:solidFill>
                          <a:latin typeface="Arial"/>
                        </a:rPr>
                        <a:t>Relational data, RLS, Auth, Storage, Realtime, free tier</a:t>
                      </a:r>
                    </a:p>
                  </a:txBody>
                  <a:tcPr marL="76200" marR="76200" marT="57150" marB="57150">
                    <a:solidFill>
                      <a:srgbClr val="FFFFFF"/>
                    </a:solidFill>
                  </a:tcPr>
                </a:tc>
              </a:tr>
              <a:tr h="438150">
                <a:tc>
                  <a:txBody>
                    <a:bodyPr wrap="square"/>
                    <a:lstStyle/>
                    <a:p>
                      <a:r>
                        <a:rPr sz="2000" b="0">
                          <a:solidFill>
                            <a:srgbClr val="111A14"/>
                          </a:solidFill>
                          <a:latin typeface="Arial"/>
                        </a:rPr>
                        <a:t>Vercel</a:t>
                      </a:r>
                    </a:p>
                  </a:txBody>
                  <a:tcPr marL="76200" marR="76200" marT="57150" marB="57150">
                    <a:solidFill>
                      <a:srgbClr val="FFFFFF"/>
                    </a:solidFill>
                  </a:tcPr>
                </a:tc>
                <a:tc>
                  <a:txBody>
                    <a:bodyPr wrap="square"/>
                    <a:lstStyle/>
                    <a:p>
                      <a:r>
                        <a:rPr sz="2000" b="0">
                          <a:solidFill>
                            <a:srgbClr val="111A14"/>
                          </a:solidFill>
                          <a:latin typeface="Arial"/>
                        </a:rPr>
                        <a:t>Zero-ops hosting, CDN, functions, middleware</a:t>
                      </a:r>
                    </a:p>
                  </a:txBody>
                  <a:tcPr marL="76200" marR="76200" marT="57150" marB="57150">
                    <a:solidFill>
                      <a:srgbClr val="FFFFFF"/>
                    </a:solidFill>
                  </a:tcPr>
                </a:tc>
              </a:tr>
              <a:tr h="438150">
                <a:tc>
                  <a:txBody>
                    <a:bodyPr wrap="square"/>
                    <a:lstStyle/>
                    <a:p>
                      <a:r>
                        <a:rPr sz="2000" b="0">
                          <a:solidFill>
                            <a:srgbClr val="111A14"/>
                          </a:solidFill>
                          <a:latin typeface="Arial"/>
                        </a:rPr>
                        <a:t>TanStack Query</a:t>
                      </a:r>
                    </a:p>
                  </a:txBody>
                  <a:tcPr marL="76200" marR="76200" marT="57150" marB="57150">
                    <a:solidFill>
                      <a:srgbClr val="FFFFFF"/>
                    </a:solidFill>
                  </a:tcPr>
                </a:tc>
                <a:tc>
                  <a:txBody>
                    <a:bodyPr wrap="square"/>
                    <a:lstStyle/>
                    <a:p>
                      <a:r>
                        <a:rPr sz="2000" b="0">
                          <a:solidFill>
                            <a:srgbClr val="111A14"/>
                          </a:solidFill>
                          <a:latin typeface="Arial"/>
                        </a:rPr>
                        <a:t>Caching and refresh with little code</a:t>
                      </a:r>
                    </a:p>
                  </a:txBody>
                  <a:tcPr marL="76200" marR="76200" marT="57150" marB="57150">
                    <a:solidFill>
                      <a:srgbClr val="FFFFFF"/>
                    </a:solidFill>
                  </a:tcPr>
                </a:tc>
              </a:tr>
              <a:tr h="438150">
                <a:tc>
                  <a:txBody>
                    <a:bodyPr wrap="square"/>
                    <a:lstStyle/>
                    <a:p>
                      <a:r>
                        <a:rPr sz="2000" b="0">
                          <a:solidFill>
                            <a:srgbClr val="111A14"/>
                          </a:solidFill>
                          <a:latin typeface="Arial"/>
                        </a:rPr>
                        <a:t>TipTap 3</a:t>
                      </a:r>
                    </a:p>
                  </a:txBody>
                  <a:tcPr marL="76200" marR="76200" marT="57150" marB="57150">
                    <a:solidFill>
                      <a:srgbClr val="FFFFFF"/>
                    </a:solidFill>
                  </a:tcPr>
                </a:tc>
                <a:tc>
                  <a:txBody>
                    <a:bodyPr wrap="square"/>
                    <a:lstStyle/>
                    <a:p>
                      <a:r>
                        <a:rPr sz="2000" b="0">
                          <a:solidFill>
                            <a:srgbClr val="111A14"/>
                          </a:solidFill>
                          <a:latin typeface="Arial"/>
                        </a:rPr>
                        <a:t>Maintained rich-text editor (replaced Quill)</a:t>
                      </a:r>
                    </a:p>
                  </a:txBody>
                  <a:tcPr marL="76200" marR="76200" marT="57150" marB="57150">
                    <a:solidFill>
                      <a:srgbClr val="FFFFFF"/>
                    </a:solidFill>
                  </a:tcPr>
                </a:tc>
              </a:tr>
              <a:tr h="438150">
                <a:tc>
                  <a:txBody>
                    <a:bodyPr wrap="square"/>
                    <a:lstStyle/>
                    <a:p>
                      <a:r>
                        <a:rPr sz="2000" b="0">
                          <a:solidFill>
                            <a:srgbClr val="111A14"/>
                          </a:solidFill>
                          <a:latin typeface="Arial"/>
                        </a:rPr>
                        <a:t>Cloudflare Turnstile</a:t>
                      </a:r>
                    </a:p>
                  </a:txBody>
                  <a:tcPr marL="76200" marR="76200" marT="57150" marB="57150">
                    <a:solidFill>
                      <a:srgbClr val="FFFFFF"/>
                    </a:solidFill>
                  </a:tcPr>
                </a:tc>
                <a:tc>
                  <a:txBody>
                    <a:bodyPr wrap="square"/>
                    <a:lstStyle/>
                    <a:p>
                      <a:r>
                        <a:rPr sz="2000" b="0">
                          <a:solidFill>
                            <a:srgbClr val="111A14"/>
                          </a:solidFill>
                          <a:latin typeface="Arial"/>
                        </a:rPr>
                        <a:t>Free, privacy-friendly CAPTCHA</a:t>
                      </a:r>
                    </a:p>
                  </a:txBody>
                  <a:tcPr marL="76200" marR="76200" marT="57150" marB="57150">
                    <a:solidFill>
                      <a:srgbClr val="FFFFFF"/>
                    </a:solidFill>
                  </a:tcPr>
                </a:tc>
              </a:tr>
            </a:tbl>
          </a:graphicData>
        </a:graphic>
      </p:graphicFrame>
      <p:sp>
        <p:nvSpPr>
          <p:cNvPr id="7" name="TextBox 6"/>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Main System Defense</a:t>
            </a:r>
          </a:p>
        </p:txBody>
      </p:sp>
      <p:sp>
        <p:nvSpPr>
          <p:cNvPr id="8" name="TextBox 7"/>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F2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7250" y="2857500"/>
            <a:ext cx="1143000" cy="762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7250" y="3048000"/>
            <a:ext cx="10477500" cy="1333500"/>
          </a:xfrm>
          <a:prstGeom prst="rect">
            <a:avLst/>
          </a:prstGeom>
          <a:noFill/>
        </p:spPr>
        <p:txBody>
          <a:bodyPr wrap="square" lIns="19050" rIns="19050" tIns="0" bIns="0" anchor="t">
            <a:spAutoFit/>
          </a:bodyPr>
          <a:lstStyle/>
          <a:p>
            <a:pPr algn="l">
              <a:lnSpc>
                <a:spcPct val="115000"/>
              </a:lnSpc>
            </a:pPr>
            <a:r>
              <a:rPr sz="4000" b="1">
                <a:solidFill>
                  <a:srgbClr val="FFFFFF"/>
                </a:solidFill>
                <a:latin typeface="Arial"/>
              </a:rPr>
              <a:t>Key features</a:t>
            </a:r>
          </a:p>
        </p:txBody>
      </p:sp>
      <p:sp>
        <p:nvSpPr>
          <p:cNvPr id="5" name="TextBox 4"/>
          <p:cNvSpPr txBox="1"/>
          <p:nvPr/>
        </p:nvSpPr>
        <p:spPr>
          <a:xfrm>
            <a:off x="857250" y="4476750"/>
            <a:ext cx="10477500" cy="762000"/>
          </a:xfrm>
          <a:prstGeom prst="rect">
            <a:avLst/>
          </a:prstGeom>
          <a:noFill/>
        </p:spPr>
        <p:txBody>
          <a:bodyPr wrap="square" lIns="19050" rIns="19050" tIns="0" bIns="0" anchor="t">
            <a:spAutoFit/>
          </a:bodyPr>
          <a:lstStyle/>
          <a:p>
            <a:pPr algn="l">
              <a:lnSpc>
                <a:spcPct val="115000"/>
              </a:lnSpc>
            </a:pPr>
            <a:r>
              <a:rPr sz="2000" b="0">
                <a:solidFill>
                  <a:srgbClr val="D9E8B0"/>
                </a:solidFill>
                <a:latin typeface="Arial"/>
              </a:rPr>
              <a:t>Newsroom · public site · Salingkusog</a:t>
            </a:r>
          </a:p>
        </p:txBody>
      </p:sp>
      <p:sp>
        <p:nvSpPr>
          <p:cNvPr id="6" name="TextBox 5"/>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B8C7BC"/>
                </a:solidFill>
                <a:latin typeface="Arial"/>
              </a:rPr>
              <a:t>Amaranth v2 · Main System Defense</a:t>
            </a:r>
          </a:p>
        </p:txBody>
      </p:sp>
      <p:sp>
        <p:nvSpPr>
          <p:cNvPr id="7" name="TextBox 6"/>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B8C7BC"/>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Editorial workflow</a:t>
            </a:r>
          </a:p>
        </p:txBody>
      </p:sp>
      <p:pic>
        <p:nvPicPr>
          <p:cNvPr id="6" name="Picture 5" descr="slide-workflow.png"/>
          <p:cNvPicPr>
            <a:picLocks noChangeAspect="1"/>
          </p:cNvPicPr>
          <p:nvPr/>
        </p:nvPicPr>
        <p:blipFill>
          <a:blip r:embed="rId2"/>
          <a:stretch>
            <a:fillRect/>
          </a:stretch>
        </p:blipFill>
        <p:spPr>
          <a:xfrm>
            <a:off x="840797" y="1143000"/>
            <a:ext cx="10510404" cy="1619250"/>
          </a:xfrm>
          <a:prstGeom prst="rect">
            <a:avLst/>
          </a:prstGeom>
        </p:spPr>
      </p:pic>
      <p:sp>
        <p:nvSpPr>
          <p:cNvPr id="7" name="Rectangle 6"/>
          <p:cNvSpPr/>
          <p:nvPr/>
        </p:nvSpPr>
        <p:spPr>
          <a:xfrm>
            <a:off x="800100" y="3170936"/>
            <a:ext cx="89408" cy="89408"/>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7750" y="3048000"/>
            <a:ext cx="10382250" cy="354329"/>
          </a:xfrm>
          <a:prstGeom prst="rect">
            <a:avLst/>
          </a:prstGeom>
          <a:noFill/>
        </p:spPr>
        <p:txBody>
          <a:bodyPr wrap="square" lIns="19050" rIns="19050" tIns="0" bIns="0" anchor="t">
            <a:spAutoFit/>
          </a:bodyPr>
          <a:lstStyle/>
          <a:p>
            <a:pPr algn="l">
              <a:lnSpc>
                <a:spcPct val="115000"/>
              </a:lnSpc>
            </a:pPr>
            <a:r>
              <a:rPr sz="2200" b="0">
                <a:solidFill>
                  <a:srgbClr val="111A14"/>
                </a:solidFill>
                <a:latin typeface="Arial"/>
              </a:rPr>
              <a:t>Every transition checked by a database trigger</a:t>
            </a:r>
          </a:p>
        </p:txBody>
      </p:sp>
      <p:sp>
        <p:nvSpPr>
          <p:cNvPr id="9" name="Rectangle 8"/>
          <p:cNvSpPr/>
          <p:nvPr/>
        </p:nvSpPr>
        <p:spPr>
          <a:xfrm>
            <a:off x="800100" y="3659886"/>
            <a:ext cx="89408" cy="89408"/>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7750" y="3536950"/>
            <a:ext cx="10382250" cy="354329"/>
          </a:xfrm>
          <a:prstGeom prst="rect">
            <a:avLst/>
          </a:prstGeom>
          <a:noFill/>
        </p:spPr>
        <p:txBody>
          <a:bodyPr wrap="square" lIns="19050" rIns="19050" tIns="0" bIns="0" anchor="t">
            <a:spAutoFit/>
          </a:bodyPr>
          <a:lstStyle/>
          <a:p>
            <a:pPr algn="l">
              <a:lnSpc>
                <a:spcPct val="115000"/>
              </a:lnSpc>
            </a:pPr>
            <a:r>
              <a:rPr sz="2200" b="0">
                <a:solidFill>
                  <a:srgbClr val="111A14"/>
                </a:solidFill>
                <a:latin typeface="Arial"/>
              </a:rPr>
              <a:t>Autosave every 2.5 s; 50 revisions kept</a:t>
            </a:r>
          </a:p>
        </p:txBody>
      </p:sp>
      <p:sp>
        <p:nvSpPr>
          <p:cNvPr id="11" name="Rectangle 10"/>
          <p:cNvSpPr/>
          <p:nvPr/>
        </p:nvSpPr>
        <p:spPr>
          <a:xfrm>
            <a:off x="800100" y="4148836"/>
            <a:ext cx="89408" cy="89408"/>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7750" y="4025899"/>
            <a:ext cx="10382250" cy="354329"/>
          </a:xfrm>
          <a:prstGeom prst="rect">
            <a:avLst/>
          </a:prstGeom>
          <a:noFill/>
        </p:spPr>
        <p:txBody>
          <a:bodyPr wrap="square" lIns="19050" rIns="19050" tIns="0" bIns="0" anchor="t">
            <a:spAutoFit/>
          </a:bodyPr>
          <a:lstStyle/>
          <a:p>
            <a:pPr algn="l">
              <a:lnSpc>
                <a:spcPct val="115000"/>
              </a:lnSpc>
            </a:pPr>
            <a:r>
              <a:rPr sz="2200" b="0">
                <a:solidFill>
                  <a:srgbClr val="111A14"/>
                </a:solidFill>
                <a:latin typeface="Arial"/>
              </a:rPr>
              <a:t>Notes and activity history</a:t>
            </a:r>
          </a:p>
        </p:txBody>
      </p:sp>
      <p:sp>
        <p:nvSpPr>
          <p:cNvPr id="13" name="Rectangle 12"/>
          <p:cNvSpPr/>
          <p:nvPr/>
        </p:nvSpPr>
        <p:spPr>
          <a:xfrm>
            <a:off x="800100" y="4637786"/>
            <a:ext cx="89408" cy="89408"/>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7750" y="4514849"/>
            <a:ext cx="10382250" cy="354329"/>
          </a:xfrm>
          <a:prstGeom prst="rect">
            <a:avLst/>
          </a:prstGeom>
          <a:noFill/>
        </p:spPr>
        <p:txBody>
          <a:bodyPr wrap="square" lIns="19050" rIns="19050" tIns="0" bIns="0" anchor="t">
            <a:spAutoFit/>
          </a:bodyPr>
          <a:lstStyle/>
          <a:p>
            <a:pPr algn="l">
              <a:lnSpc>
                <a:spcPct val="115000"/>
              </a:lnSpc>
            </a:pPr>
            <a:r>
              <a:rPr sz="2200" b="0">
                <a:solidFill>
                  <a:srgbClr val="111A14"/>
                </a:solidFill>
                <a:latin typeface="Arial"/>
              </a:rPr>
              <a:t>Scheduled articles go live by themselves</a:t>
            </a:r>
          </a:p>
        </p:txBody>
      </p:sp>
      <p:sp>
        <p:nvSpPr>
          <p:cNvPr id="15" name="TextBox 14"/>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Main System Defense</a:t>
            </a:r>
          </a:p>
        </p:txBody>
      </p:sp>
      <p:sp>
        <p:nvSpPr>
          <p:cNvPr id="16" name="TextBox 15"/>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The newsroom editor</a:t>
            </a:r>
          </a:p>
        </p:txBody>
      </p:sp>
      <p:pic>
        <p:nvPicPr>
          <p:cNvPr id="6" name="Picture 5" descr="adm-editor.png"/>
          <p:cNvPicPr>
            <a:picLocks noChangeAspect="1"/>
          </p:cNvPicPr>
          <p:nvPr/>
        </p:nvPicPr>
        <p:blipFill>
          <a:blip r:embed="rId2"/>
          <a:stretch>
            <a:fillRect/>
          </a:stretch>
        </p:blipFill>
        <p:spPr>
          <a:xfrm>
            <a:off x="2225040" y="1143000"/>
            <a:ext cx="7741920" cy="4838700"/>
          </a:xfrm>
          <a:prstGeom prst="rect">
            <a:avLst/>
          </a:prstGeom>
        </p:spPr>
      </p:pic>
      <p:sp>
        <p:nvSpPr>
          <p:cNvPr id="7" name="Rectangle 6"/>
          <p:cNvSpPr/>
          <p:nvPr/>
        </p:nvSpPr>
        <p:spPr>
          <a:xfrm>
            <a:off x="2225040" y="1143000"/>
            <a:ext cx="7741920" cy="4838700"/>
          </a:xfrm>
          <a:prstGeom prst="rect">
            <a:avLst/>
          </a:prstGeom>
          <a:noFill/>
          <a:ln w="9525">
            <a:solidFill>
              <a:srgbClr val="C9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6750" y="6038850"/>
            <a:ext cx="10858500" cy="285750"/>
          </a:xfrm>
          <a:prstGeom prst="rect">
            <a:avLst/>
          </a:prstGeom>
          <a:noFill/>
        </p:spPr>
        <p:txBody>
          <a:bodyPr wrap="square" lIns="19050" rIns="19050" tIns="0" bIns="0" anchor="t">
            <a:spAutoFit/>
          </a:bodyPr>
          <a:lstStyle/>
          <a:p>
            <a:pPr algn="ctr">
              <a:lnSpc>
                <a:spcPct val="115000"/>
              </a:lnSpc>
            </a:pPr>
            <a:r>
              <a:rPr sz="1300" b="0">
                <a:solidFill>
                  <a:srgbClr val="556058"/>
                </a:solidFill>
                <a:latin typeface="Arial"/>
              </a:rPr>
              <a:t>Body on the left; status actions, notes and revisions on the right (fictional data)</a:t>
            </a:r>
          </a:p>
        </p:txBody>
      </p:sp>
      <p:sp>
        <p:nvSpPr>
          <p:cNvPr id="9" name="TextBox 8"/>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Main System Defense</a:t>
            </a:r>
          </a:p>
        </p:txBody>
      </p:sp>
      <p:sp>
        <p:nvSpPr>
          <p:cNvPr id="10" name="TextBox 9"/>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Publishing permissions</a:t>
            </a:r>
          </a:p>
        </p:txBody>
      </p:sp>
      <p:sp>
        <p:nvSpPr>
          <p:cNvPr id="6" name="Rectangle 5"/>
          <p:cNvSpPr/>
          <p:nvPr/>
        </p:nvSpPr>
        <p:spPr>
          <a:xfrm>
            <a:off x="800100" y="1277111"/>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7750" y="1143000"/>
            <a:ext cx="10382250" cy="75057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Always publish: Super admin, Executive Editor, Managing Editor, Business Manager</a:t>
            </a:r>
          </a:p>
        </p:txBody>
      </p:sp>
      <p:sp>
        <p:nvSpPr>
          <p:cNvPr id="8" name="Rectangle 7"/>
          <p:cNvSpPr/>
          <p:nvPr/>
        </p:nvSpPr>
        <p:spPr>
          <a:xfrm>
            <a:off x="800100" y="2176272"/>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7750" y="204216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Others publish only if granted “Can publish” in Staff</a:t>
            </a:r>
          </a:p>
        </p:txBody>
      </p:sp>
      <p:sp>
        <p:nvSpPr>
          <p:cNvPr id="10" name="Rectangle 9"/>
          <p:cNvSpPr/>
          <p:nvPr/>
        </p:nvSpPr>
        <p:spPr>
          <a:xfrm>
            <a:off x="800100" y="2709671"/>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7750" y="257556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Only SA, EE and ME grant it — audited</a:t>
            </a:r>
          </a:p>
        </p:txBody>
      </p:sp>
      <p:sp>
        <p:nvSpPr>
          <p:cNvPr id="12" name="Rectangle 11"/>
          <p:cNvSpPr/>
          <p:nvPr/>
        </p:nvSpPr>
        <p:spPr>
          <a:xfrm>
            <a:off x="800100" y="3243071"/>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47750" y="310896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Enforced by app.can_publish_articles()</a:t>
            </a:r>
          </a:p>
        </p:txBody>
      </p:sp>
      <p:sp>
        <p:nvSpPr>
          <p:cNvPr id="14" name="TextBox 13"/>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Main System Defense</a:t>
            </a:r>
          </a:p>
        </p:txBody>
      </p:sp>
      <p:sp>
        <p:nvSpPr>
          <p:cNvPr id="15" name="TextBox 14"/>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Public site</a:t>
            </a:r>
          </a:p>
        </p:txBody>
      </p:sp>
      <p:sp>
        <p:nvSpPr>
          <p:cNvPr id="6" name="Rectangle 5"/>
          <p:cNvSpPr/>
          <p:nvPr/>
        </p:nvSpPr>
        <p:spPr>
          <a:xfrm>
            <a:off x="704850" y="1254759"/>
            <a:ext cx="81280" cy="81280"/>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2500" y="1143000"/>
            <a:ext cx="5810250" cy="628650"/>
          </a:xfrm>
          <a:prstGeom prst="rect">
            <a:avLst/>
          </a:prstGeom>
          <a:noFill/>
        </p:spPr>
        <p:txBody>
          <a:bodyPr wrap="square" lIns="19050" rIns="19050" tIns="0" bIns="0" anchor="t">
            <a:spAutoFit/>
          </a:bodyPr>
          <a:lstStyle/>
          <a:p>
            <a:pPr algn="l">
              <a:lnSpc>
                <a:spcPct val="115000"/>
              </a:lnSpc>
            </a:pPr>
            <a:r>
              <a:rPr sz="2000" b="0">
                <a:solidFill>
                  <a:srgbClr val="111A14"/>
                </a:solidFill>
                <a:latin typeface="Arial"/>
              </a:rPr>
              <a:t>Home, 12 section landings, article, search, archives</a:t>
            </a:r>
          </a:p>
        </p:txBody>
      </p:sp>
      <p:sp>
        <p:nvSpPr>
          <p:cNvPr id="8" name="Rectangle 7"/>
          <p:cNvSpPr/>
          <p:nvPr/>
        </p:nvSpPr>
        <p:spPr>
          <a:xfrm>
            <a:off x="704850" y="2004060"/>
            <a:ext cx="81280" cy="81280"/>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2500" y="1892300"/>
            <a:ext cx="5810250" cy="628650"/>
          </a:xfrm>
          <a:prstGeom prst="rect">
            <a:avLst/>
          </a:prstGeom>
          <a:noFill/>
        </p:spPr>
        <p:txBody>
          <a:bodyPr wrap="square" lIns="19050" rIns="19050" tIns="0" bIns="0" anchor="t">
            <a:spAutoFit/>
          </a:bodyPr>
          <a:lstStyle/>
          <a:p>
            <a:pPr algn="l">
              <a:lnSpc>
                <a:spcPct val="115000"/>
              </a:lnSpc>
            </a:pPr>
            <a:r>
              <a:rPr sz="2000" b="0">
                <a:solidFill>
                  <a:srgbClr val="111A14"/>
                </a:solidFill>
                <a:latin typeface="Arial"/>
              </a:rPr>
              <a:t>Submit a story, report an event, contact, comments</a:t>
            </a:r>
          </a:p>
        </p:txBody>
      </p:sp>
      <p:sp>
        <p:nvSpPr>
          <p:cNvPr id="10" name="Rectangle 9"/>
          <p:cNvSpPr/>
          <p:nvPr/>
        </p:nvSpPr>
        <p:spPr>
          <a:xfrm>
            <a:off x="704850" y="2753360"/>
            <a:ext cx="81280" cy="81280"/>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2500" y="2641600"/>
            <a:ext cx="5810250" cy="323850"/>
          </a:xfrm>
          <a:prstGeom prst="rect">
            <a:avLst/>
          </a:prstGeom>
          <a:noFill/>
        </p:spPr>
        <p:txBody>
          <a:bodyPr wrap="square" lIns="19050" rIns="19050" tIns="0" bIns="0" anchor="t">
            <a:spAutoFit/>
          </a:bodyPr>
          <a:lstStyle/>
          <a:p>
            <a:pPr algn="l">
              <a:lnSpc>
                <a:spcPct val="115000"/>
              </a:lnSpc>
            </a:pPr>
            <a:r>
              <a:rPr sz="2000" b="0">
                <a:solidFill>
                  <a:srgbClr val="111A14"/>
                </a:solidFill>
                <a:latin typeface="Arial"/>
              </a:rPr>
              <a:t>Brand 2026 approved by the Executive Editor</a:t>
            </a:r>
          </a:p>
        </p:txBody>
      </p:sp>
      <p:sp>
        <p:nvSpPr>
          <p:cNvPr id="12" name="Rectangle 11"/>
          <p:cNvSpPr/>
          <p:nvPr/>
        </p:nvSpPr>
        <p:spPr>
          <a:xfrm>
            <a:off x="704850" y="3197860"/>
            <a:ext cx="81280" cy="81280"/>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52500" y="3086100"/>
            <a:ext cx="5810250" cy="323850"/>
          </a:xfrm>
          <a:prstGeom prst="rect">
            <a:avLst/>
          </a:prstGeom>
          <a:noFill/>
        </p:spPr>
        <p:txBody>
          <a:bodyPr wrap="square" lIns="19050" rIns="19050" tIns="0" bIns="0" anchor="t">
            <a:spAutoFit/>
          </a:bodyPr>
          <a:lstStyle/>
          <a:p>
            <a:pPr algn="l">
              <a:lnSpc>
                <a:spcPct val="115000"/>
              </a:lnSpc>
            </a:pPr>
            <a:r>
              <a:rPr sz="2000" b="0">
                <a:solidFill>
                  <a:srgbClr val="111A14"/>
                </a:solidFill>
                <a:latin typeface="Arial"/>
              </a:rPr>
              <a:t>Works at 375 px phones</a:t>
            </a:r>
          </a:p>
        </p:txBody>
      </p:sp>
      <p:pic>
        <p:nvPicPr>
          <p:cNvPr id="14" name="Picture 13" descr="pub-home-mobile.png"/>
          <p:cNvPicPr>
            <a:picLocks noChangeAspect="1"/>
          </p:cNvPicPr>
          <p:nvPr/>
        </p:nvPicPr>
        <p:blipFill>
          <a:blip r:embed="rId2"/>
          <a:stretch>
            <a:fillRect/>
          </a:stretch>
        </p:blipFill>
        <p:spPr>
          <a:xfrm>
            <a:off x="8089704" y="1143000"/>
            <a:ext cx="2394341" cy="5181600"/>
          </a:xfrm>
          <a:prstGeom prst="rect">
            <a:avLst/>
          </a:prstGeom>
        </p:spPr>
      </p:pic>
      <p:sp>
        <p:nvSpPr>
          <p:cNvPr id="15" name="Rectangle 14"/>
          <p:cNvSpPr/>
          <p:nvPr/>
        </p:nvSpPr>
        <p:spPr>
          <a:xfrm>
            <a:off x="8089704" y="1143000"/>
            <a:ext cx="2394341" cy="5181600"/>
          </a:xfrm>
          <a:prstGeom prst="rect">
            <a:avLst/>
          </a:prstGeom>
          <a:noFill/>
          <a:ln w="9525">
            <a:solidFill>
              <a:srgbClr val="C9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Main System Defense</a:t>
            </a:r>
          </a:p>
        </p:txBody>
      </p:sp>
      <p:sp>
        <p:nvSpPr>
          <p:cNvPr id="17" name="TextBox 16"/>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Salingkusog live results</a:t>
            </a:r>
          </a:p>
        </p:txBody>
      </p:sp>
      <p:sp>
        <p:nvSpPr>
          <p:cNvPr id="6" name="Rectangle 5"/>
          <p:cNvSpPr/>
          <p:nvPr/>
        </p:nvSpPr>
        <p:spPr>
          <a:xfrm>
            <a:off x="704850" y="1254759"/>
            <a:ext cx="81280" cy="81280"/>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2500" y="1143000"/>
            <a:ext cx="5810250" cy="323850"/>
          </a:xfrm>
          <a:prstGeom prst="rect">
            <a:avLst/>
          </a:prstGeom>
          <a:noFill/>
        </p:spPr>
        <p:txBody>
          <a:bodyPr wrap="square" lIns="19050" rIns="19050" tIns="0" bIns="0" anchor="t">
            <a:spAutoFit/>
          </a:bodyPr>
          <a:lstStyle/>
          <a:p>
            <a:pPr algn="l">
              <a:lnSpc>
                <a:spcPct val="115000"/>
              </a:lnSpc>
            </a:pPr>
            <a:r>
              <a:rPr sz="2000" b="0">
                <a:solidFill>
                  <a:srgbClr val="111A14"/>
                </a:solidFill>
                <a:latin typeface="Arial"/>
              </a:rPr>
              <a:t>Build brackets and round robins once</a:t>
            </a:r>
          </a:p>
        </p:txBody>
      </p:sp>
      <p:sp>
        <p:nvSpPr>
          <p:cNvPr id="8" name="Rectangle 7"/>
          <p:cNvSpPr/>
          <p:nvPr/>
        </p:nvSpPr>
        <p:spPr>
          <a:xfrm>
            <a:off x="704850" y="1699260"/>
            <a:ext cx="81280" cy="81280"/>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2500" y="1587500"/>
            <a:ext cx="5810250" cy="323850"/>
          </a:xfrm>
          <a:prstGeom prst="rect">
            <a:avLst/>
          </a:prstGeom>
          <a:noFill/>
        </p:spPr>
        <p:txBody>
          <a:bodyPr wrap="square" lIns="19050" rIns="19050" tIns="0" bIns="0" anchor="t">
            <a:spAutoFit/>
          </a:bodyPr>
          <a:lstStyle/>
          <a:p>
            <a:pPr algn="l">
              <a:lnSpc>
                <a:spcPct val="115000"/>
              </a:lnSpc>
            </a:pPr>
            <a:r>
              <a:rPr sz="2000" b="0">
                <a:solidFill>
                  <a:srgbClr val="111A14"/>
                </a:solidFill>
                <a:latin typeface="Arial"/>
              </a:rPr>
              <a:t>Live scores from phones, pushed in real time</a:t>
            </a:r>
          </a:p>
        </p:txBody>
      </p:sp>
      <p:sp>
        <p:nvSpPr>
          <p:cNvPr id="10" name="Rectangle 9"/>
          <p:cNvSpPr/>
          <p:nvPr/>
        </p:nvSpPr>
        <p:spPr>
          <a:xfrm>
            <a:off x="704850" y="2143760"/>
            <a:ext cx="81280" cy="81280"/>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2500" y="2032000"/>
            <a:ext cx="5810250" cy="323850"/>
          </a:xfrm>
          <a:prstGeom prst="rect">
            <a:avLst/>
          </a:prstGeom>
          <a:noFill/>
        </p:spPr>
        <p:txBody>
          <a:bodyPr wrap="square" lIns="19050" rIns="19050" tIns="0" bIns="0" anchor="t">
            <a:spAutoFit/>
          </a:bodyPr>
          <a:lstStyle/>
          <a:p>
            <a:pPr algn="l">
              <a:lnSpc>
                <a:spcPct val="115000"/>
              </a:lnSpc>
            </a:pPr>
            <a:r>
              <a:rPr sz="2000" b="0">
                <a:solidFill>
                  <a:srgbClr val="111A14"/>
                </a:solidFill>
                <a:latin typeface="Arial"/>
              </a:rPr>
              <a:t>Contests for dance, swimming, athletics</a:t>
            </a:r>
          </a:p>
        </p:txBody>
      </p:sp>
      <p:sp>
        <p:nvSpPr>
          <p:cNvPr id="12" name="Rectangle 11"/>
          <p:cNvSpPr/>
          <p:nvPr/>
        </p:nvSpPr>
        <p:spPr>
          <a:xfrm>
            <a:off x="704850" y="2588260"/>
            <a:ext cx="81280" cy="81280"/>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52500" y="2476500"/>
            <a:ext cx="5810250" cy="323850"/>
          </a:xfrm>
          <a:prstGeom prst="rect">
            <a:avLst/>
          </a:prstGeom>
          <a:noFill/>
        </p:spPr>
        <p:txBody>
          <a:bodyPr wrap="square" lIns="19050" rIns="19050" tIns="0" bIns="0" anchor="t">
            <a:spAutoFit/>
          </a:bodyPr>
          <a:lstStyle/>
          <a:p>
            <a:pPr algn="l">
              <a:lnSpc>
                <a:spcPct val="115000"/>
              </a:lnSpc>
            </a:pPr>
            <a:r>
              <a:rPr sz="2000" b="0">
                <a:solidFill>
                  <a:srgbClr val="111A14"/>
                </a:solidFill>
                <a:latin typeface="Arial"/>
              </a:rPr>
              <a:t>Medal table and points race computed</a:t>
            </a:r>
          </a:p>
        </p:txBody>
      </p:sp>
      <p:pic>
        <p:nvPicPr>
          <p:cNvPr id="14" name="Picture 13" descr="sk-tally-mobile.png"/>
          <p:cNvPicPr>
            <a:picLocks noChangeAspect="1"/>
          </p:cNvPicPr>
          <p:nvPr/>
        </p:nvPicPr>
        <p:blipFill>
          <a:blip r:embed="rId2"/>
          <a:stretch>
            <a:fillRect/>
          </a:stretch>
        </p:blipFill>
        <p:spPr>
          <a:xfrm>
            <a:off x="8089704" y="1143000"/>
            <a:ext cx="2394341" cy="5181600"/>
          </a:xfrm>
          <a:prstGeom prst="rect">
            <a:avLst/>
          </a:prstGeom>
        </p:spPr>
      </p:pic>
      <p:sp>
        <p:nvSpPr>
          <p:cNvPr id="15" name="Rectangle 14"/>
          <p:cNvSpPr/>
          <p:nvPr/>
        </p:nvSpPr>
        <p:spPr>
          <a:xfrm>
            <a:off x="8089704" y="1143000"/>
            <a:ext cx="2394341" cy="5181600"/>
          </a:xfrm>
          <a:prstGeom prst="rect">
            <a:avLst/>
          </a:prstGeom>
          <a:noFill/>
          <a:ln w="9525">
            <a:solidFill>
              <a:srgbClr val="C9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Main System Defense</a:t>
            </a:r>
          </a:p>
        </p:txBody>
      </p:sp>
      <p:sp>
        <p:nvSpPr>
          <p:cNvPr id="17" name="TextBox 16"/>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From a score to the medal table</a:t>
            </a:r>
          </a:p>
        </p:txBody>
      </p:sp>
      <p:pic>
        <p:nvPicPr>
          <p:cNvPr id="6" name="Picture 5" descr="slide-flow.png"/>
          <p:cNvPicPr>
            <a:picLocks noChangeAspect="1"/>
          </p:cNvPicPr>
          <p:nvPr/>
        </p:nvPicPr>
        <p:blipFill>
          <a:blip r:embed="rId2"/>
          <a:stretch>
            <a:fillRect/>
          </a:stretch>
        </p:blipFill>
        <p:spPr>
          <a:xfrm>
            <a:off x="666750" y="1396729"/>
            <a:ext cx="10858500" cy="1111791"/>
          </a:xfrm>
          <a:prstGeom prst="rect">
            <a:avLst/>
          </a:prstGeom>
        </p:spPr>
      </p:pic>
      <p:sp>
        <p:nvSpPr>
          <p:cNvPr id="7" name="Rectangle 6"/>
          <p:cNvSpPr/>
          <p:nvPr/>
        </p:nvSpPr>
        <p:spPr>
          <a:xfrm>
            <a:off x="800100" y="3170936"/>
            <a:ext cx="89408" cy="89408"/>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7750" y="3048000"/>
            <a:ext cx="10382250" cy="354329"/>
          </a:xfrm>
          <a:prstGeom prst="rect">
            <a:avLst/>
          </a:prstGeom>
          <a:noFill/>
        </p:spPr>
        <p:txBody>
          <a:bodyPr wrap="square" lIns="19050" rIns="19050" tIns="0" bIns="0" anchor="t">
            <a:spAutoFit/>
          </a:bodyPr>
          <a:lstStyle/>
          <a:p>
            <a:pPr algn="l">
              <a:lnSpc>
                <a:spcPct val="115000"/>
              </a:lnSpc>
            </a:pPr>
            <a:r>
              <a:rPr sz="2200" b="0">
                <a:solidFill>
                  <a:srgbClr val="111A14"/>
                </a:solidFill>
                <a:latin typeface="Arial"/>
              </a:rPr>
              <a:t>Games from CSV, Build schedule, or a contest</a:t>
            </a:r>
          </a:p>
        </p:txBody>
      </p:sp>
      <p:sp>
        <p:nvSpPr>
          <p:cNvPr id="9" name="Rectangle 8"/>
          <p:cNvSpPr/>
          <p:nvPr/>
        </p:nvSpPr>
        <p:spPr>
          <a:xfrm>
            <a:off x="800100" y="3659886"/>
            <a:ext cx="89408" cy="89408"/>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7750" y="3536950"/>
            <a:ext cx="10382250" cy="354329"/>
          </a:xfrm>
          <a:prstGeom prst="rect">
            <a:avLst/>
          </a:prstGeom>
          <a:noFill/>
        </p:spPr>
        <p:txBody>
          <a:bodyPr wrap="square" lIns="19050" rIns="19050" tIns="0" bIns="0" anchor="t">
            <a:spAutoFit/>
          </a:bodyPr>
          <a:lstStyle/>
          <a:p>
            <a:pPr algn="l">
              <a:lnSpc>
                <a:spcPct val="115000"/>
              </a:lnSpc>
            </a:pPr>
            <a:r>
              <a:rPr sz="2200" b="0">
                <a:solidFill>
                  <a:srgbClr val="111A14"/>
                </a:solidFill>
                <a:latin typeface="Arial"/>
              </a:rPr>
              <a:t>Finishing a game fills the next games automatically</a:t>
            </a:r>
          </a:p>
        </p:txBody>
      </p:sp>
      <p:sp>
        <p:nvSpPr>
          <p:cNvPr id="11" name="Rectangle 10"/>
          <p:cNvSpPr/>
          <p:nvPr/>
        </p:nvSpPr>
        <p:spPr>
          <a:xfrm>
            <a:off x="800100" y="4148836"/>
            <a:ext cx="89408" cy="89408"/>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7750" y="4025899"/>
            <a:ext cx="10382250" cy="354329"/>
          </a:xfrm>
          <a:prstGeom prst="rect">
            <a:avLst/>
          </a:prstGeom>
          <a:noFill/>
        </p:spPr>
        <p:txBody>
          <a:bodyPr wrap="square" lIns="19050" rIns="19050" tIns="0" bIns="0" anchor="t">
            <a:spAutoFit/>
          </a:bodyPr>
          <a:lstStyle/>
          <a:p>
            <a:pPr algn="l">
              <a:lnSpc>
                <a:spcPct val="115000"/>
              </a:lnSpc>
            </a:pPr>
            <a:r>
              <a:rPr sz="2200" b="0">
                <a:solidFill>
                  <a:srgbClr val="111A14"/>
                </a:solidFill>
                <a:latin typeface="Arial"/>
              </a:rPr>
              <a:t>Staff confirm the suggested podium</a:t>
            </a:r>
          </a:p>
        </p:txBody>
      </p:sp>
      <p:sp>
        <p:nvSpPr>
          <p:cNvPr id="13" name="Rectangle 12"/>
          <p:cNvSpPr/>
          <p:nvPr/>
        </p:nvSpPr>
        <p:spPr>
          <a:xfrm>
            <a:off x="800100" y="4637786"/>
            <a:ext cx="89408" cy="89408"/>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7750" y="4514849"/>
            <a:ext cx="10382250" cy="354329"/>
          </a:xfrm>
          <a:prstGeom prst="rect">
            <a:avLst/>
          </a:prstGeom>
          <a:noFill/>
        </p:spPr>
        <p:txBody>
          <a:bodyPr wrap="square" lIns="19050" rIns="19050" tIns="0" bIns="0" anchor="t">
            <a:spAutoFit/>
          </a:bodyPr>
          <a:lstStyle/>
          <a:p>
            <a:pPr algn="l">
              <a:lnSpc>
                <a:spcPct val="115000"/>
              </a:lnSpc>
            </a:pPr>
            <a:r>
              <a:rPr sz="2200" b="0">
                <a:solidFill>
                  <a:srgbClr val="111A14"/>
                </a:solidFill>
                <a:latin typeface="Arial"/>
              </a:rPr>
              <a:t>The medal table recomputes for everyone</a:t>
            </a:r>
          </a:p>
        </p:txBody>
      </p:sp>
      <p:sp>
        <p:nvSpPr>
          <p:cNvPr id="15" name="TextBox 14"/>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Main System Defense</a:t>
            </a:r>
          </a:p>
        </p:txBody>
      </p:sp>
      <p:sp>
        <p:nvSpPr>
          <p:cNvPr id="16" name="TextBox 15"/>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Live demo (≈ 8 minutes)</a:t>
            </a:r>
          </a:p>
        </p:txBody>
      </p:sp>
      <p:sp>
        <p:nvSpPr>
          <p:cNvPr id="6" name="Rectangle 5"/>
          <p:cNvSpPr/>
          <p:nvPr/>
        </p:nvSpPr>
        <p:spPr>
          <a:xfrm>
            <a:off x="800100" y="1277111"/>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7750" y="11430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Writer drafts and submits — cannot publish</a:t>
            </a:r>
          </a:p>
        </p:txBody>
      </p:sp>
      <p:sp>
        <p:nvSpPr>
          <p:cNvPr id="8" name="Rectangle 7"/>
          <p:cNvSpPr/>
          <p:nvPr/>
        </p:nvSpPr>
        <p:spPr>
          <a:xfrm>
            <a:off x="800100" y="1810511"/>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7750" y="16764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Editor returns with a note; Managing Editor publishes</a:t>
            </a:r>
          </a:p>
        </p:txBody>
      </p:sp>
      <p:sp>
        <p:nvSpPr>
          <p:cNvPr id="10" name="Rectangle 9"/>
          <p:cNvSpPr/>
          <p:nvPr/>
        </p:nvSpPr>
        <p:spPr>
          <a:xfrm>
            <a:off x="800100" y="2343912"/>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7750" y="22098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Scorer finishes a semifinal on a phone — the final fills in</a:t>
            </a:r>
          </a:p>
        </p:txBody>
      </p:sp>
      <p:sp>
        <p:nvSpPr>
          <p:cNvPr id="12" name="Rectangle 11"/>
          <p:cNvSpPr/>
          <p:nvPr/>
        </p:nvSpPr>
        <p:spPr>
          <a:xfrm>
            <a:off x="800100" y="2877312"/>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47750" y="27432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Contest times, then medals confirmed — tally updates</a:t>
            </a:r>
          </a:p>
        </p:txBody>
      </p:sp>
      <p:sp>
        <p:nvSpPr>
          <p:cNvPr id="14" name="TextBox 13"/>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Main System Defense</a:t>
            </a:r>
          </a:p>
        </p:txBody>
      </p:sp>
      <p:sp>
        <p:nvSpPr>
          <p:cNvPr id="15" name="TextBox 14"/>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F2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7250" y="2857500"/>
            <a:ext cx="1143000" cy="762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7250" y="3048000"/>
            <a:ext cx="10477500" cy="1333500"/>
          </a:xfrm>
          <a:prstGeom prst="rect">
            <a:avLst/>
          </a:prstGeom>
          <a:noFill/>
        </p:spPr>
        <p:txBody>
          <a:bodyPr wrap="square" lIns="19050" rIns="19050" tIns="0" bIns="0" anchor="t">
            <a:spAutoFit/>
          </a:bodyPr>
          <a:lstStyle/>
          <a:p>
            <a:pPr algn="l">
              <a:lnSpc>
                <a:spcPct val="115000"/>
              </a:lnSpc>
            </a:pPr>
            <a:r>
              <a:rPr sz="4000" b="1">
                <a:solidFill>
                  <a:srgbClr val="FFFFFF"/>
                </a:solidFill>
                <a:latin typeface="Arial"/>
              </a:rPr>
              <a:t>Database, security and privacy</a:t>
            </a:r>
          </a:p>
        </p:txBody>
      </p:sp>
      <p:sp>
        <p:nvSpPr>
          <p:cNvPr id="5" name="TextBox 4"/>
          <p:cNvSpPr txBox="1"/>
          <p:nvPr/>
        </p:nvSpPr>
        <p:spPr>
          <a:xfrm>
            <a:off x="857250" y="4476750"/>
            <a:ext cx="10477500" cy="762000"/>
          </a:xfrm>
          <a:prstGeom prst="rect">
            <a:avLst/>
          </a:prstGeom>
          <a:noFill/>
        </p:spPr>
        <p:txBody>
          <a:bodyPr wrap="square" lIns="19050" rIns="19050" tIns="0" bIns="0" anchor="t">
            <a:spAutoFit/>
          </a:bodyPr>
          <a:lstStyle/>
          <a:p>
            <a:pPr algn="l">
              <a:lnSpc>
                <a:spcPct val="115000"/>
              </a:lnSpc>
            </a:pPr>
            <a:r>
              <a:rPr sz="2000" b="0">
                <a:solidFill>
                  <a:srgbClr val="D9E8B0"/>
                </a:solidFill>
                <a:latin typeface="Arial"/>
              </a:rPr>
              <a:t/>
            </a:r>
          </a:p>
        </p:txBody>
      </p:sp>
      <p:sp>
        <p:nvSpPr>
          <p:cNvPr id="6" name="TextBox 5"/>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B8C7BC"/>
                </a:solidFill>
                <a:latin typeface="Arial"/>
              </a:rPr>
              <a:t>Amaranth v2 · Main System Defense</a:t>
            </a:r>
          </a:p>
        </p:txBody>
      </p:sp>
      <p:sp>
        <p:nvSpPr>
          <p:cNvPr id="7" name="TextBox 6"/>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B8C7BC"/>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The database in numbers</a:t>
            </a:r>
          </a:p>
        </p:txBody>
      </p:sp>
      <p:sp>
        <p:nvSpPr>
          <p:cNvPr id="6" name="Rectangle 5"/>
          <p:cNvSpPr/>
          <p:nvPr/>
        </p:nvSpPr>
        <p:spPr>
          <a:xfrm>
            <a:off x="666750" y="1143000"/>
            <a:ext cx="3467100" cy="1809750"/>
          </a:xfrm>
          <a:prstGeom prst="rect">
            <a:avLst/>
          </a:prstGeom>
          <a:solidFill>
            <a:srgbClr val="FFFFFF"/>
          </a:solidFill>
          <a:ln w="9525">
            <a:solidFill>
              <a:srgbClr val="C9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66750" y="1143000"/>
            <a:ext cx="57150" cy="180975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6300" y="1295400"/>
            <a:ext cx="3124200" cy="868680"/>
          </a:xfrm>
          <a:prstGeom prst="rect">
            <a:avLst/>
          </a:prstGeom>
          <a:noFill/>
        </p:spPr>
        <p:txBody>
          <a:bodyPr wrap="square" lIns="19050" rIns="19050" tIns="0" bIns="0" anchor="t">
            <a:spAutoFit/>
          </a:bodyPr>
          <a:lstStyle/>
          <a:p>
            <a:pPr algn="l">
              <a:lnSpc>
                <a:spcPct val="115000"/>
              </a:lnSpc>
            </a:pPr>
            <a:r>
              <a:rPr sz="4000" b="1">
                <a:solidFill>
                  <a:srgbClr val="0F2A1A"/>
                </a:solidFill>
                <a:latin typeface="Arial"/>
              </a:rPr>
              <a:t>50</a:t>
            </a:r>
          </a:p>
        </p:txBody>
      </p:sp>
      <p:sp>
        <p:nvSpPr>
          <p:cNvPr id="9" name="TextBox 8"/>
          <p:cNvSpPr txBox="1"/>
          <p:nvPr/>
        </p:nvSpPr>
        <p:spPr>
          <a:xfrm>
            <a:off x="876300" y="2138362"/>
            <a:ext cx="3124200" cy="760095"/>
          </a:xfrm>
          <a:prstGeom prst="rect">
            <a:avLst/>
          </a:prstGeom>
          <a:noFill/>
        </p:spPr>
        <p:txBody>
          <a:bodyPr wrap="square" lIns="19050" rIns="19050" tIns="0" bIns="0" anchor="t">
            <a:spAutoFit/>
          </a:bodyPr>
          <a:lstStyle/>
          <a:p>
            <a:pPr algn="l">
              <a:lnSpc>
                <a:spcPct val="115000"/>
              </a:lnSpc>
            </a:pPr>
            <a:r>
              <a:rPr sz="1500" b="0">
                <a:solidFill>
                  <a:srgbClr val="556058"/>
                </a:solidFill>
                <a:latin typeface="Arial"/>
              </a:rPr>
              <a:t>tables</a:t>
            </a:r>
          </a:p>
        </p:txBody>
      </p:sp>
      <p:sp>
        <p:nvSpPr>
          <p:cNvPr id="10" name="Rectangle 9"/>
          <p:cNvSpPr/>
          <p:nvPr/>
        </p:nvSpPr>
        <p:spPr>
          <a:xfrm>
            <a:off x="4362450" y="1143000"/>
            <a:ext cx="3467100" cy="1809750"/>
          </a:xfrm>
          <a:prstGeom prst="rect">
            <a:avLst/>
          </a:prstGeom>
          <a:solidFill>
            <a:srgbClr val="FFFFFF"/>
          </a:solidFill>
          <a:ln w="9525">
            <a:solidFill>
              <a:srgbClr val="C9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62450" y="1143000"/>
            <a:ext cx="57150" cy="180975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1295400"/>
            <a:ext cx="3124200" cy="868680"/>
          </a:xfrm>
          <a:prstGeom prst="rect">
            <a:avLst/>
          </a:prstGeom>
          <a:noFill/>
        </p:spPr>
        <p:txBody>
          <a:bodyPr wrap="square" lIns="19050" rIns="19050" tIns="0" bIns="0" anchor="t">
            <a:spAutoFit/>
          </a:bodyPr>
          <a:lstStyle/>
          <a:p>
            <a:pPr algn="l">
              <a:lnSpc>
                <a:spcPct val="115000"/>
              </a:lnSpc>
            </a:pPr>
            <a:r>
              <a:rPr sz="4000" b="1">
                <a:solidFill>
                  <a:srgbClr val="0F2A1A"/>
                </a:solidFill>
                <a:latin typeface="Arial"/>
              </a:rPr>
              <a:t>448</a:t>
            </a:r>
          </a:p>
        </p:txBody>
      </p:sp>
      <p:sp>
        <p:nvSpPr>
          <p:cNvPr id="13" name="TextBox 12"/>
          <p:cNvSpPr txBox="1"/>
          <p:nvPr/>
        </p:nvSpPr>
        <p:spPr>
          <a:xfrm>
            <a:off x="4572000" y="2138362"/>
            <a:ext cx="3124200" cy="760095"/>
          </a:xfrm>
          <a:prstGeom prst="rect">
            <a:avLst/>
          </a:prstGeom>
          <a:noFill/>
        </p:spPr>
        <p:txBody>
          <a:bodyPr wrap="square" lIns="19050" rIns="19050" tIns="0" bIns="0" anchor="t">
            <a:spAutoFit/>
          </a:bodyPr>
          <a:lstStyle/>
          <a:p>
            <a:pPr algn="l">
              <a:lnSpc>
                <a:spcPct val="115000"/>
              </a:lnSpc>
            </a:pPr>
            <a:r>
              <a:rPr sz="1500" b="0">
                <a:solidFill>
                  <a:srgbClr val="556058"/>
                </a:solidFill>
                <a:latin typeface="Arial"/>
              </a:rPr>
              <a:t>columns</a:t>
            </a:r>
          </a:p>
        </p:txBody>
      </p:sp>
      <p:sp>
        <p:nvSpPr>
          <p:cNvPr id="14" name="Rectangle 13"/>
          <p:cNvSpPr/>
          <p:nvPr/>
        </p:nvSpPr>
        <p:spPr>
          <a:xfrm>
            <a:off x="8058150" y="1143000"/>
            <a:ext cx="3467100" cy="1809750"/>
          </a:xfrm>
          <a:prstGeom prst="rect">
            <a:avLst/>
          </a:prstGeom>
          <a:solidFill>
            <a:srgbClr val="FFFFFF"/>
          </a:solidFill>
          <a:ln w="9525">
            <a:solidFill>
              <a:srgbClr val="C9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58150" y="1143000"/>
            <a:ext cx="57150" cy="180975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67700" y="1295400"/>
            <a:ext cx="3124200" cy="868680"/>
          </a:xfrm>
          <a:prstGeom prst="rect">
            <a:avLst/>
          </a:prstGeom>
          <a:noFill/>
        </p:spPr>
        <p:txBody>
          <a:bodyPr wrap="square" lIns="19050" rIns="19050" tIns="0" bIns="0" anchor="t">
            <a:spAutoFit/>
          </a:bodyPr>
          <a:lstStyle/>
          <a:p>
            <a:pPr algn="l">
              <a:lnSpc>
                <a:spcPct val="115000"/>
              </a:lnSpc>
            </a:pPr>
            <a:r>
              <a:rPr sz="4000" b="1">
                <a:solidFill>
                  <a:srgbClr val="0F2A1A"/>
                </a:solidFill>
                <a:latin typeface="Arial"/>
              </a:rPr>
              <a:t>97</a:t>
            </a:r>
          </a:p>
        </p:txBody>
      </p:sp>
      <p:sp>
        <p:nvSpPr>
          <p:cNvPr id="17" name="TextBox 16"/>
          <p:cNvSpPr txBox="1"/>
          <p:nvPr/>
        </p:nvSpPr>
        <p:spPr>
          <a:xfrm>
            <a:off x="8267700" y="2138362"/>
            <a:ext cx="3124200" cy="760095"/>
          </a:xfrm>
          <a:prstGeom prst="rect">
            <a:avLst/>
          </a:prstGeom>
          <a:noFill/>
        </p:spPr>
        <p:txBody>
          <a:bodyPr wrap="square" lIns="19050" rIns="19050" tIns="0" bIns="0" anchor="t">
            <a:spAutoFit/>
          </a:bodyPr>
          <a:lstStyle/>
          <a:p>
            <a:pPr algn="l">
              <a:lnSpc>
                <a:spcPct val="115000"/>
              </a:lnSpc>
            </a:pPr>
            <a:r>
              <a:rPr sz="1500" b="0">
                <a:solidFill>
                  <a:srgbClr val="556058"/>
                </a:solidFill>
                <a:latin typeface="Arial"/>
              </a:rPr>
              <a:t>RLS policies</a:t>
            </a:r>
          </a:p>
        </p:txBody>
      </p:sp>
      <p:sp>
        <p:nvSpPr>
          <p:cNvPr id="18" name="Rectangle 17"/>
          <p:cNvSpPr/>
          <p:nvPr/>
        </p:nvSpPr>
        <p:spPr>
          <a:xfrm>
            <a:off x="666750" y="3181350"/>
            <a:ext cx="3467100" cy="1809750"/>
          </a:xfrm>
          <a:prstGeom prst="rect">
            <a:avLst/>
          </a:prstGeom>
          <a:solidFill>
            <a:srgbClr val="FFFFFF"/>
          </a:solidFill>
          <a:ln w="9525">
            <a:solidFill>
              <a:srgbClr val="C9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66750" y="3181350"/>
            <a:ext cx="57150" cy="180975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6300" y="3333750"/>
            <a:ext cx="3124200" cy="868680"/>
          </a:xfrm>
          <a:prstGeom prst="rect">
            <a:avLst/>
          </a:prstGeom>
          <a:noFill/>
        </p:spPr>
        <p:txBody>
          <a:bodyPr wrap="square" lIns="19050" rIns="19050" tIns="0" bIns="0" anchor="t">
            <a:spAutoFit/>
          </a:bodyPr>
          <a:lstStyle/>
          <a:p>
            <a:pPr algn="l">
              <a:lnSpc>
                <a:spcPct val="115000"/>
              </a:lnSpc>
            </a:pPr>
            <a:r>
              <a:rPr sz="4000" b="1">
                <a:solidFill>
                  <a:srgbClr val="0F2A1A"/>
                </a:solidFill>
                <a:latin typeface="Arial"/>
              </a:rPr>
              <a:t>76</a:t>
            </a:r>
          </a:p>
        </p:txBody>
      </p:sp>
      <p:sp>
        <p:nvSpPr>
          <p:cNvPr id="21" name="TextBox 20"/>
          <p:cNvSpPr txBox="1"/>
          <p:nvPr/>
        </p:nvSpPr>
        <p:spPr>
          <a:xfrm>
            <a:off x="876300" y="4176712"/>
            <a:ext cx="3124200" cy="760095"/>
          </a:xfrm>
          <a:prstGeom prst="rect">
            <a:avLst/>
          </a:prstGeom>
          <a:noFill/>
        </p:spPr>
        <p:txBody>
          <a:bodyPr wrap="square" lIns="19050" rIns="19050" tIns="0" bIns="0" anchor="t">
            <a:spAutoFit/>
          </a:bodyPr>
          <a:lstStyle/>
          <a:p>
            <a:pPr algn="l">
              <a:lnSpc>
                <a:spcPct val="115000"/>
              </a:lnSpc>
            </a:pPr>
            <a:r>
              <a:rPr sz="1500" b="0">
                <a:solidFill>
                  <a:srgbClr val="556058"/>
                </a:solidFill>
                <a:latin typeface="Arial"/>
              </a:rPr>
              <a:t>functions</a:t>
            </a:r>
          </a:p>
        </p:txBody>
      </p:sp>
      <p:sp>
        <p:nvSpPr>
          <p:cNvPr id="22" name="Rectangle 21"/>
          <p:cNvSpPr/>
          <p:nvPr/>
        </p:nvSpPr>
        <p:spPr>
          <a:xfrm>
            <a:off x="4362450" y="3181350"/>
            <a:ext cx="3467100" cy="1809750"/>
          </a:xfrm>
          <a:prstGeom prst="rect">
            <a:avLst/>
          </a:prstGeom>
          <a:solidFill>
            <a:srgbClr val="FFFFFF"/>
          </a:solidFill>
          <a:ln w="9525">
            <a:solidFill>
              <a:srgbClr val="C9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62450" y="3181350"/>
            <a:ext cx="57150" cy="180975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0" y="3333750"/>
            <a:ext cx="3124200" cy="868680"/>
          </a:xfrm>
          <a:prstGeom prst="rect">
            <a:avLst/>
          </a:prstGeom>
          <a:noFill/>
        </p:spPr>
        <p:txBody>
          <a:bodyPr wrap="square" lIns="19050" rIns="19050" tIns="0" bIns="0" anchor="t">
            <a:spAutoFit/>
          </a:bodyPr>
          <a:lstStyle/>
          <a:p>
            <a:pPr algn="l">
              <a:lnSpc>
                <a:spcPct val="115000"/>
              </a:lnSpc>
            </a:pPr>
            <a:r>
              <a:rPr sz="4000" b="1">
                <a:solidFill>
                  <a:srgbClr val="0F2A1A"/>
                </a:solidFill>
                <a:latin typeface="Arial"/>
              </a:rPr>
              <a:t>40</a:t>
            </a:r>
          </a:p>
        </p:txBody>
      </p:sp>
      <p:sp>
        <p:nvSpPr>
          <p:cNvPr id="25" name="TextBox 24"/>
          <p:cNvSpPr txBox="1"/>
          <p:nvPr/>
        </p:nvSpPr>
        <p:spPr>
          <a:xfrm>
            <a:off x="4572000" y="4176712"/>
            <a:ext cx="3124200" cy="760095"/>
          </a:xfrm>
          <a:prstGeom prst="rect">
            <a:avLst/>
          </a:prstGeom>
          <a:noFill/>
        </p:spPr>
        <p:txBody>
          <a:bodyPr wrap="square" lIns="19050" rIns="19050" tIns="0" bIns="0" anchor="t">
            <a:spAutoFit/>
          </a:bodyPr>
          <a:lstStyle/>
          <a:p>
            <a:pPr algn="l">
              <a:lnSpc>
                <a:spcPct val="115000"/>
              </a:lnSpc>
            </a:pPr>
            <a:r>
              <a:rPr sz="1500" b="0">
                <a:solidFill>
                  <a:srgbClr val="556058"/>
                </a:solidFill>
                <a:latin typeface="Arial"/>
              </a:rPr>
              <a:t>triggers</a:t>
            </a:r>
          </a:p>
        </p:txBody>
      </p:sp>
      <p:sp>
        <p:nvSpPr>
          <p:cNvPr id="26" name="Rectangle 25"/>
          <p:cNvSpPr/>
          <p:nvPr/>
        </p:nvSpPr>
        <p:spPr>
          <a:xfrm>
            <a:off x="8058150" y="3181350"/>
            <a:ext cx="3467100" cy="1809750"/>
          </a:xfrm>
          <a:prstGeom prst="rect">
            <a:avLst/>
          </a:prstGeom>
          <a:solidFill>
            <a:srgbClr val="FFFFFF"/>
          </a:solidFill>
          <a:ln w="9525">
            <a:solidFill>
              <a:srgbClr val="C9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58150" y="3181350"/>
            <a:ext cx="57150" cy="180975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67700" y="3333750"/>
            <a:ext cx="3124200" cy="868680"/>
          </a:xfrm>
          <a:prstGeom prst="rect">
            <a:avLst/>
          </a:prstGeom>
          <a:noFill/>
        </p:spPr>
        <p:txBody>
          <a:bodyPr wrap="square" lIns="19050" rIns="19050" tIns="0" bIns="0" anchor="t">
            <a:spAutoFit/>
          </a:bodyPr>
          <a:lstStyle/>
          <a:p>
            <a:pPr algn="l">
              <a:lnSpc>
                <a:spcPct val="115000"/>
              </a:lnSpc>
            </a:pPr>
            <a:r>
              <a:rPr sz="4000" b="1">
                <a:solidFill>
                  <a:srgbClr val="0F2A1A"/>
                </a:solidFill>
                <a:latin typeface="Arial"/>
              </a:rPr>
              <a:t>6</a:t>
            </a:r>
          </a:p>
        </p:txBody>
      </p:sp>
      <p:sp>
        <p:nvSpPr>
          <p:cNvPr id="29" name="TextBox 28"/>
          <p:cNvSpPr txBox="1"/>
          <p:nvPr/>
        </p:nvSpPr>
        <p:spPr>
          <a:xfrm>
            <a:off x="8267700" y="4176712"/>
            <a:ext cx="3124200" cy="760095"/>
          </a:xfrm>
          <a:prstGeom prst="rect">
            <a:avLst/>
          </a:prstGeom>
          <a:noFill/>
        </p:spPr>
        <p:txBody>
          <a:bodyPr wrap="square" lIns="19050" rIns="19050" tIns="0" bIns="0" anchor="t">
            <a:spAutoFit/>
          </a:bodyPr>
          <a:lstStyle/>
          <a:p>
            <a:pPr algn="l">
              <a:lnSpc>
                <a:spcPct val="115000"/>
              </a:lnSpc>
            </a:pPr>
            <a:r>
              <a:rPr sz="1500" b="0">
                <a:solidFill>
                  <a:srgbClr val="556058"/>
                </a:solidFill>
                <a:latin typeface="Arial"/>
              </a:rPr>
              <a:t>computed views</a:t>
            </a:r>
          </a:p>
        </p:txBody>
      </p:sp>
      <p:sp>
        <p:nvSpPr>
          <p:cNvPr id="30" name="TextBox 29"/>
          <p:cNvSpPr txBox="1"/>
          <p:nvPr/>
        </p:nvSpPr>
        <p:spPr>
          <a:xfrm>
            <a:off x="666750" y="5905500"/>
            <a:ext cx="10858500" cy="381000"/>
          </a:xfrm>
          <a:prstGeom prst="rect">
            <a:avLst/>
          </a:prstGeom>
          <a:noFill/>
        </p:spPr>
        <p:txBody>
          <a:bodyPr wrap="square" lIns="19050" rIns="19050" tIns="0" bIns="0" anchor="t">
            <a:spAutoFit/>
          </a:bodyPr>
          <a:lstStyle/>
          <a:p>
            <a:pPr algn="l">
              <a:lnSpc>
                <a:spcPct val="115000"/>
              </a:lnSpc>
            </a:pPr>
            <a:r>
              <a:rPr sz="1500" b="0">
                <a:solidFill>
                  <a:srgbClr val="556058"/>
                </a:solidFill>
                <a:latin typeface="Arial"/>
              </a:rPr>
              <a:t>Three re-runnable SQL files: schema.sql, salingkusog.sql, stats.sql</a:t>
            </a:r>
          </a:p>
        </p:txBody>
      </p:sp>
      <p:sp>
        <p:nvSpPr>
          <p:cNvPr id="31" name="TextBox 30"/>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Main System Defense</a:t>
            </a:r>
          </a:p>
        </p:txBody>
      </p:sp>
      <p:sp>
        <p:nvSpPr>
          <p:cNvPr id="32" name="TextBox 31"/>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Salingkusog data model</a:t>
            </a:r>
          </a:p>
        </p:txBody>
      </p:sp>
      <p:pic>
        <p:nvPicPr>
          <p:cNvPr id="6" name="Picture 5" descr="slide-erd.png"/>
          <p:cNvPicPr>
            <a:picLocks noChangeAspect="1"/>
          </p:cNvPicPr>
          <p:nvPr/>
        </p:nvPicPr>
        <p:blipFill>
          <a:blip r:embed="rId2"/>
          <a:stretch>
            <a:fillRect/>
          </a:stretch>
        </p:blipFill>
        <p:spPr>
          <a:xfrm>
            <a:off x="666750" y="1736024"/>
            <a:ext cx="10858500" cy="3652651"/>
          </a:xfrm>
          <a:prstGeom prst="rect">
            <a:avLst/>
          </a:prstGeom>
        </p:spPr>
      </p:pic>
      <p:sp>
        <p:nvSpPr>
          <p:cNvPr id="7" name="Rectangle 6"/>
          <p:cNvSpPr/>
          <p:nvPr/>
        </p:nvSpPr>
        <p:spPr>
          <a:xfrm>
            <a:off x="666750" y="1736024"/>
            <a:ext cx="10858500" cy="3652651"/>
          </a:xfrm>
          <a:prstGeom prst="rect">
            <a:avLst/>
          </a:prstGeom>
          <a:noFill/>
          <a:ln w="9525">
            <a:solidFill>
              <a:srgbClr val="C9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6750" y="6038850"/>
            <a:ext cx="10858500" cy="285750"/>
          </a:xfrm>
          <a:prstGeom prst="rect">
            <a:avLst/>
          </a:prstGeom>
          <a:noFill/>
        </p:spPr>
        <p:txBody>
          <a:bodyPr wrap="square" lIns="19050" rIns="19050" tIns="0" bIns="0" anchor="t">
            <a:spAutoFit/>
          </a:bodyPr>
          <a:lstStyle/>
          <a:p>
            <a:pPr algn="ctr">
              <a:lnSpc>
                <a:spcPct val="115000"/>
              </a:lnSpc>
            </a:pPr>
            <a:r>
              <a:rPr sz="1300" b="0">
                <a:solidFill>
                  <a:srgbClr val="556058"/>
                </a:solidFill>
                <a:latin typeface="Arial"/>
              </a:rPr>
              <a:t>Simplified from ERD-3 (generated from the SQL; full diagram in AMR-DOC-05)</a:t>
            </a:r>
          </a:p>
        </p:txBody>
      </p:sp>
      <p:sp>
        <p:nvSpPr>
          <p:cNvPr id="9" name="TextBox 8"/>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Main System Defense</a:t>
            </a:r>
          </a:p>
        </p:txBody>
      </p:sp>
      <p:sp>
        <p:nvSpPr>
          <p:cNvPr id="10" name="TextBox 9"/>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Security by design</a:t>
            </a:r>
          </a:p>
        </p:txBody>
      </p:sp>
      <p:graphicFrame>
        <p:nvGraphicFramePr>
          <p:cNvPr id="6" name="Table 5"/>
          <p:cNvGraphicFramePr>
            <a:graphicFrameLocks noGrp="1"/>
          </p:cNvGraphicFramePr>
          <p:nvPr/>
        </p:nvGraphicFramePr>
        <p:xfrm>
          <a:off x="666750" y="1143000"/>
          <a:ext cx="10858499" cy="3067050"/>
        </p:xfrm>
        <a:graphic>
          <a:graphicData uri="http://schemas.openxmlformats.org/drawingml/2006/table">
            <a:tbl>
              <a:tblPr firstRow="1" bandRow="1">
                <a:tableStyleId>{5C22544A-7EE6-4342-B048-85BDC9FD1C3A}</a:tableStyleId>
              </a:tblPr>
              <a:tblGrid>
                <a:gridCol w="4442113"/>
                <a:gridCol w="6416386"/>
              </a:tblGrid>
              <a:tr h="438150">
                <a:tc>
                  <a:txBody>
                    <a:bodyPr wrap="square"/>
                    <a:lstStyle/>
                    <a:p>
                      <a:r>
                        <a:rPr sz="2000" b="1">
                          <a:solidFill>
                            <a:srgbClr val="14361F"/>
                          </a:solidFill>
                          <a:latin typeface="Arial"/>
                        </a:rPr>
                        <a:t>Threat</a:t>
                      </a:r>
                    </a:p>
                  </a:txBody>
                  <a:tcPr marL="76200" marR="76200" marT="57150" marB="57150">
                    <a:solidFill>
                      <a:srgbClr val="E8F1E9"/>
                    </a:solidFill>
                  </a:tcPr>
                </a:tc>
                <a:tc>
                  <a:txBody>
                    <a:bodyPr wrap="square"/>
                    <a:lstStyle/>
                    <a:p>
                      <a:r>
                        <a:rPr sz="2000" b="1">
                          <a:solidFill>
                            <a:srgbClr val="14361F"/>
                          </a:solidFill>
                          <a:latin typeface="Arial"/>
                        </a:rPr>
                        <a:t>Control in the code</a:t>
                      </a:r>
                    </a:p>
                  </a:txBody>
                  <a:tcPr marL="76200" marR="76200" marT="57150" marB="57150">
                    <a:solidFill>
                      <a:srgbClr val="E8F1E9"/>
                    </a:solidFill>
                  </a:tcPr>
                </a:tc>
              </a:tr>
              <a:tr h="438150">
                <a:tc>
                  <a:txBody>
                    <a:bodyPr wrap="square"/>
                    <a:lstStyle/>
                    <a:p>
                      <a:r>
                        <a:rPr sz="2000" b="0">
                          <a:solidFill>
                            <a:srgbClr val="111A14"/>
                          </a:solidFill>
                          <a:latin typeface="Arial"/>
                        </a:rPr>
                        <a:t>Writer publishes via API</a:t>
                      </a:r>
                    </a:p>
                  </a:txBody>
                  <a:tcPr marL="76200" marR="76200" marT="57150" marB="57150">
                    <a:solidFill>
                      <a:srgbClr val="FFFFFF"/>
                    </a:solidFill>
                  </a:tcPr>
                </a:tc>
                <a:tc>
                  <a:txBody>
                    <a:bodyPr wrap="square"/>
                    <a:lstStyle/>
                    <a:p>
                      <a:r>
                        <a:rPr sz="2000" b="0">
                          <a:solidFill>
                            <a:srgbClr val="111A14"/>
                          </a:solidFill>
                          <a:latin typeface="Arial"/>
                        </a:rPr>
                        <a:t>Workflow trigger refuses the transition</a:t>
                      </a:r>
                    </a:p>
                  </a:txBody>
                  <a:tcPr marL="76200" marR="76200" marT="57150" marB="57150">
                    <a:solidFill>
                      <a:srgbClr val="FFFFFF"/>
                    </a:solidFill>
                  </a:tcPr>
                </a:tc>
              </a:tr>
              <a:tr h="438150">
                <a:tc>
                  <a:txBody>
                    <a:bodyPr wrap="square"/>
                    <a:lstStyle/>
                    <a:p>
                      <a:r>
                        <a:rPr sz="2000" b="0">
                          <a:solidFill>
                            <a:srgbClr val="111A14"/>
                          </a:solidFill>
                          <a:latin typeface="Arial"/>
                        </a:rPr>
                        <a:t>Self-promotion to admin</a:t>
                      </a:r>
                    </a:p>
                  </a:txBody>
                  <a:tcPr marL="76200" marR="76200" marT="57150" marB="57150">
                    <a:solidFill>
                      <a:srgbClr val="FFFFFF"/>
                    </a:solidFill>
                  </a:tcPr>
                </a:tc>
                <a:tc>
                  <a:txBody>
                    <a:bodyPr wrap="square"/>
                    <a:lstStyle/>
                    <a:p>
                      <a:r>
                        <a:rPr sz="2000" b="0">
                          <a:solidFill>
                            <a:srgbClr val="111A14"/>
                          </a:solidFill>
                          <a:latin typeface="Arial"/>
                        </a:rPr>
                        <a:t>Invite-only roles; profiles_guard trigger</a:t>
                      </a:r>
                    </a:p>
                  </a:txBody>
                  <a:tcPr marL="76200" marR="76200" marT="57150" marB="57150">
                    <a:solidFill>
                      <a:srgbClr val="FFFFFF"/>
                    </a:solidFill>
                  </a:tcPr>
                </a:tc>
              </a:tr>
              <a:tr h="438150">
                <a:tc>
                  <a:txBody>
                    <a:bodyPr wrap="square"/>
                    <a:lstStyle/>
                    <a:p>
                      <a:r>
                        <a:rPr sz="2000" b="0">
                          <a:solidFill>
                            <a:srgbClr val="111A14"/>
                          </a:solidFill>
                          <a:latin typeface="Arial"/>
                        </a:rPr>
                        <a:t>Form spam, storage flooding</a:t>
                      </a:r>
                    </a:p>
                  </a:txBody>
                  <a:tcPr marL="76200" marR="76200" marT="57150" marB="57150">
                    <a:solidFill>
                      <a:srgbClr val="FFFFFF"/>
                    </a:solidFill>
                  </a:tcPr>
                </a:tc>
                <a:tc>
                  <a:txBody>
                    <a:bodyPr wrap="square"/>
                    <a:lstStyle/>
                    <a:p>
                      <a:r>
                        <a:rPr sz="2000" b="0">
                          <a:solidFill>
                            <a:srgbClr val="111A14"/>
                          </a:solidFill>
                          <a:latin typeface="Arial"/>
                        </a:rPr>
                        <a:t>Turnstile, signed uploads, rate limits</a:t>
                      </a:r>
                    </a:p>
                  </a:txBody>
                  <a:tcPr marL="76200" marR="76200" marT="57150" marB="57150">
                    <a:solidFill>
                      <a:srgbClr val="FFFFFF"/>
                    </a:solidFill>
                  </a:tcPr>
                </a:tc>
              </a:tr>
              <a:tr h="438150">
                <a:tc>
                  <a:txBody>
                    <a:bodyPr wrap="square"/>
                    <a:lstStyle/>
                    <a:p>
                      <a:r>
                        <a:rPr sz="2000" b="0">
                          <a:solidFill>
                            <a:srgbClr val="111A14"/>
                          </a:solidFill>
                          <a:latin typeface="Arial"/>
                        </a:rPr>
                        <a:t>Stored XSS</a:t>
                      </a:r>
                    </a:p>
                  </a:txBody>
                  <a:tcPr marL="76200" marR="76200" marT="57150" marB="57150">
                    <a:solidFill>
                      <a:srgbClr val="FFFFFF"/>
                    </a:solidFill>
                  </a:tcPr>
                </a:tc>
                <a:tc>
                  <a:txBody>
                    <a:bodyPr wrap="square"/>
                    <a:lstStyle/>
                    <a:p>
                      <a:r>
                        <a:rPr sz="2000" b="0">
                          <a:solidFill>
                            <a:srgbClr val="111A14"/>
                          </a:solidFill>
                          <a:latin typeface="Arial"/>
                        </a:rPr>
                        <a:t>DOMPurify with embed allow-list</a:t>
                      </a:r>
                    </a:p>
                  </a:txBody>
                  <a:tcPr marL="76200" marR="76200" marT="57150" marB="57150">
                    <a:solidFill>
                      <a:srgbClr val="FFFFFF"/>
                    </a:solidFill>
                  </a:tcPr>
                </a:tc>
              </a:tr>
              <a:tr h="438150">
                <a:tc>
                  <a:txBody>
                    <a:bodyPr wrap="square"/>
                    <a:lstStyle/>
                    <a:p>
                      <a:r>
                        <a:rPr sz="2000" b="0">
                          <a:solidFill>
                            <a:srgbClr val="111A14"/>
                          </a:solidFill>
                          <a:latin typeface="Arial"/>
                        </a:rPr>
                        <a:t>Secrets leaking</a:t>
                      </a:r>
                    </a:p>
                  </a:txBody>
                  <a:tcPr marL="76200" marR="76200" marT="57150" marB="57150">
                    <a:solidFill>
                      <a:srgbClr val="FFFFFF"/>
                    </a:solidFill>
                  </a:tcPr>
                </a:tc>
                <a:tc>
                  <a:txBody>
                    <a:bodyPr wrap="square"/>
                    <a:lstStyle/>
                    <a:p>
                      <a:r>
                        <a:rPr sz="2000" b="0">
                          <a:solidFill>
                            <a:srgbClr val="111A14"/>
                          </a:solidFill>
                          <a:latin typeface="Arial"/>
                        </a:rPr>
                        <a:t>Service keys only in /api functions</a:t>
                      </a:r>
                    </a:p>
                  </a:txBody>
                  <a:tcPr marL="76200" marR="76200" marT="57150" marB="57150">
                    <a:solidFill>
                      <a:srgbClr val="FFFFFF"/>
                    </a:solidFill>
                  </a:tcPr>
                </a:tc>
              </a:tr>
              <a:tr h="438150">
                <a:tc>
                  <a:txBody>
                    <a:bodyPr wrap="square"/>
                    <a:lstStyle/>
                    <a:p>
                      <a:r>
                        <a:rPr sz="2000" b="0">
                          <a:solidFill>
                            <a:srgbClr val="111A14"/>
                          </a:solidFill>
                          <a:latin typeface="Arial"/>
                        </a:rPr>
                        <a:t>Clickjacking, downgrade</a:t>
                      </a:r>
                    </a:p>
                  </a:txBody>
                  <a:tcPr marL="76200" marR="76200" marT="57150" marB="57150">
                    <a:solidFill>
                      <a:srgbClr val="FFFFFF"/>
                    </a:solidFill>
                  </a:tcPr>
                </a:tc>
                <a:tc>
                  <a:txBody>
                    <a:bodyPr wrap="square"/>
                    <a:lstStyle/>
                    <a:p>
                      <a:r>
                        <a:rPr sz="2000" b="0">
                          <a:solidFill>
                            <a:srgbClr val="111A14"/>
                          </a:solidFill>
                          <a:latin typeface="Arial"/>
                        </a:rPr>
                        <a:t>X-Frame-Options, HSTS, CSP</a:t>
                      </a:r>
                    </a:p>
                  </a:txBody>
                  <a:tcPr marL="76200" marR="76200" marT="57150" marB="57150">
                    <a:solidFill>
                      <a:srgbClr val="FFFFFF"/>
                    </a:solidFill>
                  </a:tcPr>
                </a:tc>
              </a:tr>
            </a:tbl>
          </a:graphicData>
        </a:graphic>
      </p:graphicFrame>
      <p:sp>
        <p:nvSpPr>
          <p:cNvPr id="7" name="TextBox 6"/>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Main System Defense</a:t>
            </a:r>
          </a:p>
        </p:txBody>
      </p:sp>
      <p:sp>
        <p:nvSpPr>
          <p:cNvPr id="8" name="TextBox 7"/>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Privacy and RA 10173</a:t>
            </a:r>
          </a:p>
        </p:txBody>
      </p:sp>
      <p:sp>
        <p:nvSpPr>
          <p:cNvPr id="6" name="Rectangle 5"/>
          <p:cNvSpPr/>
          <p:nvPr/>
        </p:nvSpPr>
        <p:spPr>
          <a:xfrm>
            <a:off x="800100" y="1277111"/>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7750" y="11430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Athletes: name, program, optional photo — nothing more</a:t>
            </a:r>
          </a:p>
        </p:txBody>
      </p:sp>
      <p:sp>
        <p:nvSpPr>
          <p:cNvPr id="8" name="Rectangle 7"/>
          <p:cNvSpPr/>
          <p:nvPr/>
        </p:nvSpPr>
        <p:spPr>
          <a:xfrm>
            <a:off x="800100" y="1810511"/>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7750" y="16764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Statistics: no cookies, no IP stored, daily-rotating hashes</a:t>
            </a:r>
          </a:p>
        </p:txBody>
      </p:sp>
      <p:sp>
        <p:nvSpPr>
          <p:cNvPr id="10" name="Rectangle 9"/>
          <p:cNvSpPr/>
          <p:nvPr/>
        </p:nvSpPr>
        <p:spPr>
          <a:xfrm>
            <a:off x="800100" y="2343912"/>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7750" y="22098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Emails visible to editors only</a:t>
            </a:r>
          </a:p>
        </p:txBody>
      </p:sp>
      <p:sp>
        <p:nvSpPr>
          <p:cNvPr id="12" name="Rectangle 11"/>
          <p:cNvSpPr/>
          <p:nvPr/>
        </p:nvSpPr>
        <p:spPr>
          <a:xfrm>
            <a:off x="800100" y="2877312"/>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47750" y="27432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Open: athlete section in /privacy, photo consent, retention</a:t>
            </a:r>
          </a:p>
        </p:txBody>
      </p:sp>
      <p:sp>
        <p:nvSpPr>
          <p:cNvPr id="14" name="TextBox 13"/>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Main System Defense</a:t>
            </a:r>
          </a:p>
        </p:txBody>
      </p:sp>
      <p:sp>
        <p:nvSpPr>
          <p:cNvPr id="15" name="TextBox 14"/>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F2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7250" y="2857500"/>
            <a:ext cx="1143000" cy="762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7250" y="3048000"/>
            <a:ext cx="10477500" cy="1333500"/>
          </a:xfrm>
          <a:prstGeom prst="rect">
            <a:avLst/>
          </a:prstGeom>
          <a:noFill/>
        </p:spPr>
        <p:txBody>
          <a:bodyPr wrap="square" lIns="19050" rIns="19050" tIns="0" bIns="0" anchor="t">
            <a:spAutoFit/>
          </a:bodyPr>
          <a:lstStyle/>
          <a:p>
            <a:pPr algn="l">
              <a:lnSpc>
                <a:spcPct val="115000"/>
              </a:lnSpc>
            </a:pPr>
            <a:r>
              <a:rPr sz="4000" b="1">
                <a:solidFill>
                  <a:srgbClr val="FFFFFF"/>
                </a:solidFill>
                <a:latin typeface="Arial"/>
              </a:rPr>
              <a:t>Testing and results</a:t>
            </a:r>
          </a:p>
        </p:txBody>
      </p:sp>
      <p:sp>
        <p:nvSpPr>
          <p:cNvPr id="5" name="TextBox 4"/>
          <p:cNvSpPr txBox="1"/>
          <p:nvPr/>
        </p:nvSpPr>
        <p:spPr>
          <a:xfrm>
            <a:off x="857250" y="4476750"/>
            <a:ext cx="10477500" cy="762000"/>
          </a:xfrm>
          <a:prstGeom prst="rect">
            <a:avLst/>
          </a:prstGeom>
          <a:noFill/>
        </p:spPr>
        <p:txBody>
          <a:bodyPr wrap="square" lIns="19050" rIns="19050" tIns="0" bIns="0" anchor="t">
            <a:spAutoFit/>
          </a:bodyPr>
          <a:lstStyle/>
          <a:p>
            <a:pPr algn="l">
              <a:lnSpc>
                <a:spcPct val="115000"/>
              </a:lnSpc>
            </a:pPr>
            <a:r>
              <a:rPr sz="2000" b="0">
                <a:solidFill>
                  <a:srgbClr val="D9E8B0"/>
                </a:solidFill>
                <a:latin typeface="Arial"/>
              </a:rPr>
              <a:t/>
            </a:r>
          </a:p>
        </p:txBody>
      </p:sp>
      <p:sp>
        <p:nvSpPr>
          <p:cNvPr id="6" name="TextBox 5"/>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B8C7BC"/>
                </a:solidFill>
                <a:latin typeface="Arial"/>
              </a:rPr>
              <a:t>Amaranth v2 · Main System Defense</a:t>
            </a:r>
          </a:p>
        </p:txBody>
      </p:sp>
      <p:sp>
        <p:nvSpPr>
          <p:cNvPr id="7" name="TextBox 6"/>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B8C7BC"/>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Test results (2026-10-19)</a:t>
            </a:r>
          </a:p>
        </p:txBody>
      </p:sp>
      <p:sp>
        <p:nvSpPr>
          <p:cNvPr id="6" name="Rectangle 5"/>
          <p:cNvSpPr/>
          <p:nvPr/>
        </p:nvSpPr>
        <p:spPr>
          <a:xfrm>
            <a:off x="666750" y="1143000"/>
            <a:ext cx="3467100" cy="1809750"/>
          </a:xfrm>
          <a:prstGeom prst="rect">
            <a:avLst/>
          </a:prstGeom>
          <a:solidFill>
            <a:srgbClr val="FFFFFF"/>
          </a:solidFill>
          <a:ln w="9525">
            <a:solidFill>
              <a:srgbClr val="C9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66750" y="1143000"/>
            <a:ext cx="57150" cy="180975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6300" y="1295400"/>
            <a:ext cx="3124200" cy="868680"/>
          </a:xfrm>
          <a:prstGeom prst="rect">
            <a:avLst/>
          </a:prstGeom>
          <a:noFill/>
        </p:spPr>
        <p:txBody>
          <a:bodyPr wrap="square" lIns="19050" rIns="19050" tIns="0" bIns="0" anchor="t">
            <a:spAutoFit/>
          </a:bodyPr>
          <a:lstStyle/>
          <a:p>
            <a:pPr algn="l">
              <a:lnSpc>
                <a:spcPct val="115000"/>
              </a:lnSpc>
            </a:pPr>
            <a:r>
              <a:rPr sz="4000" b="1">
                <a:solidFill>
                  <a:srgbClr val="0F2A1A"/>
                </a:solidFill>
                <a:latin typeface="Arial"/>
              </a:rPr>
              <a:t>255 / 255</a:t>
            </a:r>
          </a:p>
        </p:txBody>
      </p:sp>
      <p:sp>
        <p:nvSpPr>
          <p:cNvPr id="9" name="TextBox 8"/>
          <p:cNvSpPr txBox="1"/>
          <p:nvPr/>
        </p:nvSpPr>
        <p:spPr>
          <a:xfrm>
            <a:off x="876300" y="2138362"/>
            <a:ext cx="3124200" cy="760095"/>
          </a:xfrm>
          <a:prstGeom prst="rect">
            <a:avLst/>
          </a:prstGeom>
          <a:noFill/>
        </p:spPr>
        <p:txBody>
          <a:bodyPr wrap="square" lIns="19050" rIns="19050" tIns="0" bIns="0" anchor="t">
            <a:spAutoFit/>
          </a:bodyPr>
          <a:lstStyle/>
          <a:p>
            <a:pPr algn="l">
              <a:lnSpc>
                <a:spcPct val="115000"/>
              </a:lnSpc>
            </a:pPr>
            <a:r>
              <a:rPr sz="1500" b="0">
                <a:solidFill>
                  <a:srgbClr val="556058"/>
                </a:solidFill>
                <a:latin typeface="Arial"/>
              </a:rPr>
              <a:t>unit and component tests passed</a:t>
            </a:r>
          </a:p>
        </p:txBody>
      </p:sp>
      <p:sp>
        <p:nvSpPr>
          <p:cNvPr id="10" name="Rectangle 9"/>
          <p:cNvSpPr/>
          <p:nvPr/>
        </p:nvSpPr>
        <p:spPr>
          <a:xfrm>
            <a:off x="4362450" y="1143000"/>
            <a:ext cx="3467100" cy="1809750"/>
          </a:xfrm>
          <a:prstGeom prst="rect">
            <a:avLst/>
          </a:prstGeom>
          <a:solidFill>
            <a:srgbClr val="FFFFFF"/>
          </a:solidFill>
          <a:ln w="9525">
            <a:solidFill>
              <a:srgbClr val="C9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62450" y="1143000"/>
            <a:ext cx="57150" cy="180975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1295400"/>
            <a:ext cx="3124200" cy="868680"/>
          </a:xfrm>
          <a:prstGeom prst="rect">
            <a:avLst/>
          </a:prstGeom>
          <a:noFill/>
        </p:spPr>
        <p:txBody>
          <a:bodyPr wrap="square" lIns="19050" rIns="19050" tIns="0" bIns="0" anchor="t">
            <a:spAutoFit/>
          </a:bodyPr>
          <a:lstStyle/>
          <a:p>
            <a:pPr algn="l">
              <a:lnSpc>
                <a:spcPct val="115000"/>
              </a:lnSpc>
            </a:pPr>
            <a:r>
              <a:rPr sz="4000" b="1">
                <a:solidFill>
                  <a:srgbClr val="0F2A1A"/>
                </a:solidFill>
                <a:latin typeface="Arial"/>
              </a:rPr>
              <a:t>278 / 278</a:t>
            </a:r>
          </a:p>
        </p:txBody>
      </p:sp>
      <p:sp>
        <p:nvSpPr>
          <p:cNvPr id="13" name="TextBox 12"/>
          <p:cNvSpPr txBox="1"/>
          <p:nvPr/>
        </p:nvSpPr>
        <p:spPr>
          <a:xfrm>
            <a:off x="4572000" y="2138362"/>
            <a:ext cx="3124200" cy="760095"/>
          </a:xfrm>
          <a:prstGeom prst="rect">
            <a:avLst/>
          </a:prstGeom>
          <a:noFill/>
        </p:spPr>
        <p:txBody>
          <a:bodyPr wrap="square" lIns="19050" rIns="19050" tIns="0" bIns="0" anchor="t">
            <a:spAutoFit/>
          </a:bodyPr>
          <a:lstStyle/>
          <a:p>
            <a:pPr algn="l">
              <a:lnSpc>
                <a:spcPct val="115000"/>
              </a:lnSpc>
            </a:pPr>
            <a:r>
              <a:rPr sz="1500" b="0">
                <a:solidFill>
                  <a:srgbClr val="556058"/>
                </a:solidFill>
                <a:latin typeface="Arial"/>
              </a:rPr>
              <a:t>database checks passed</a:t>
            </a:r>
          </a:p>
        </p:txBody>
      </p:sp>
      <p:sp>
        <p:nvSpPr>
          <p:cNvPr id="14" name="Rectangle 13"/>
          <p:cNvSpPr/>
          <p:nvPr/>
        </p:nvSpPr>
        <p:spPr>
          <a:xfrm>
            <a:off x="8058150" y="1143000"/>
            <a:ext cx="3467100" cy="1809750"/>
          </a:xfrm>
          <a:prstGeom prst="rect">
            <a:avLst/>
          </a:prstGeom>
          <a:solidFill>
            <a:srgbClr val="FFFFFF"/>
          </a:solidFill>
          <a:ln w="9525">
            <a:solidFill>
              <a:srgbClr val="C9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58150" y="1143000"/>
            <a:ext cx="57150" cy="180975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67700" y="1295400"/>
            <a:ext cx="3124200" cy="868680"/>
          </a:xfrm>
          <a:prstGeom prst="rect">
            <a:avLst/>
          </a:prstGeom>
          <a:noFill/>
        </p:spPr>
        <p:txBody>
          <a:bodyPr wrap="square" lIns="19050" rIns="19050" tIns="0" bIns="0" anchor="t">
            <a:spAutoFit/>
          </a:bodyPr>
          <a:lstStyle/>
          <a:p>
            <a:pPr algn="l">
              <a:lnSpc>
                <a:spcPct val="115000"/>
              </a:lnSpc>
            </a:pPr>
            <a:r>
              <a:rPr sz="4000" b="1">
                <a:solidFill>
                  <a:srgbClr val="0F2A1A"/>
                </a:solidFill>
                <a:latin typeface="Arial"/>
              </a:rPr>
              <a:t>115</a:t>
            </a:r>
          </a:p>
        </p:txBody>
      </p:sp>
      <p:sp>
        <p:nvSpPr>
          <p:cNvPr id="17" name="TextBox 16"/>
          <p:cNvSpPr txBox="1"/>
          <p:nvPr/>
        </p:nvSpPr>
        <p:spPr>
          <a:xfrm>
            <a:off x="8267700" y="2138362"/>
            <a:ext cx="3124200" cy="760095"/>
          </a:xfrm>
          <a:prstGeom prst="rect">
            <a:avLst/>
          </a:prstGeom>
          <a:noFill/>
        </p:spPr>
        <p:txBody>
          <a:bodyPr wrap="square" lIns="19050" rIns="19050" tIns="0" bIns="0" anchor="t">
            <a:spAutoFit/>
          </a:bodyPr>
          <a:lstStyle/>
          <a:p>
            <a:pPr algn="l">
              <a:lnSpc>
                <a:spcPct val="115000"/>
              </a:lnSpc>
            </a:pPr>
            <a:r>
              <a:rPr sz="1500" b="0">
                <a:solidFill>
                  <a:srgbClr val="556058"/>
                </a:solidFill>
                <a:latin typeface="Arial"/>
              </a:rPr>
              <a:t>requirements traced; 98 automated</a:t>
            </a:r>
          </a:p>
        </p:txBody>
      </p:sp>
      <p:sp>
        <p:nvSpPr>
          <p:cNvPr id="18" name="Rectangle 17"/>
          <p:cNvSpPr/>
          <p:nvPr/>
        </p:nvSpPr>
        <p:spPr>
          <a:xfrm>
            <a:off x="666750" y="3181350"/>
            <a:ext cx="3467100" cy="1809750"/>
          </a:xfrm>
          <a:prstGeom prst="rect">
            <a:avLst/>
          </a:prstGeom>
          <a:solidFill>
            <a:srgbClr val="FFFFFF"/>
          </a:solidFill>
          <a:ln w="9525">
            <a:solidFill>
              <a:srgbClr val="C9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66750" y="3181350"/>
            <a:ext cx="57150" cy="180975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6300" y="3333750"/>
            <a:ext cx="3124200" cy="868680"/>
          </a:xfrm>
          <a:prstGeom prst="rect">
            <a:avLst/>
          </a:prstGeom>
          <a:noFill/>
        </p:spPr>
        <p:txBody>
          <a:bodyPr wrap="square" lIns="19050" rIns="19050" tIns="0" bIns="0" anchor="t">
            <a:spAutoFit/>
          </a:bodyPr>
          <a:lstStyle/>
          <a:p>
            <a:pPr algn="l">
              <a:lnSpc>
                <a:spcPct val="115000"/>
              </a:lnSpc>
            </a:pPr>
            <a:r>
              <a:rPr sz="4000" b="1">
                <a:solidFill>
                  <a:srgbClr val="0F2A1A"/>
                </a:solidFill>
                <a:latin typeface="Arial"/>
              </a:rPr>
              <a:t>100</a:t>
            </a:r>
          </a:p>
        </p:txBody>
      </p:sp>
      <p:sp>
        <p:nvSpPr>
          <p:cNvPr id="21" name="TextBox 20"/>
          <p:cNvSpPr txBox="1"/>
          <p:nvPr/>
        </p:nvSpPr>
        <p:spPr>
          <a:xfrm>
            <a:off x="876300" y="4176712"/>
            <a:ext cx="3124200" cy="760095"/>
          </a:xfrm>
          <a:prstGeom prst="rect">
            <a:avLst/>
          </a:prstGeom>
          <a:noFill/>
        </p:spPr>
        <p:txBody>
          <a:bodyPr wrap="square" lIns="19050" rIns="19050" tIns="0" bIns="0" anchor="t">
            <a:spAutoFit/>
          </a:bodyPr>
          <a:lstStyle/>
          <a:p>
            <a:pPr algn="l">
              <a:lnSpc>
                <a:spcPct val="115000"/>
              </a:lnSpc>
            </a:pPr>
            <a:r>
              <a:rPr sz="1500" b="0">
                <a:solidFill>
                  <a:srgbClr val="556058"/>
                </a:solidFill>
                <a:latin typeface="Arial"/>
              </a:rPr>
              <a:t>Lighthouse accessibility</a:t>
            </a:r>
          </a:p>
        </p:txBody>
      </p:sp>
      <p:sp>
        <p:nvSpPr>
          <p:cNvPr id="22" name="Rectangle 21"/>
          <p:cNvSpPr/>
          <p:nvPr/>
        </p:nvSpPr>
        <p:spPr>
          <a:xfrm>
            <a:off x="4362450" y="3181350"/>
            <a:ext cx="3467100" cy="1809750"/>
          </a:xfrm>
          <a:prstGeom prst="rect">
            <a:avLst/>
          </a:prstGeom>
          <a:solidFill>
            <a:srgbClr val="FFFFFF"/>
          </a:solidFill>
          <a:ln w="9525">
            <a:solidFill>
              <a:srgbClr val="C9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62450" y="3181350"/>
            <a:ext cx="57150" cy="180975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0" y="3333750"/>
            <a:ext cx="3124200" cy="868680"/>
          </a:xfrm>
          <a:prstGeom prst="rect">
            <a:avLst/>
          </a:prstGeom>
          <a:noFill/>
        </p:spPr>
        <p:txBody>
          <a:bodyPr wrap="square" lIns="19050" rIns="19050" tIns="0" bIns="0" anchor="t">
            <a:spAutoFit/>
          </a:bodyPr>
          <a:lstStyle/>
          <a:p>
            <a:pPr algn="l">
              <a:lnSpc>
                <a:spcPct val="115000"/>
              </a:lnSpc>
            </a:pPr>
            <a:r>
              <a:rPr sz="4000" b="1">
                <a:solidFill>
                  <a:srgbClr val="0F2A1A"/>
                </a:solidFill>
                <a:latin typeface="Arial"/>
              </a:rPr>
              <a:t>53</a:t>
            </a:r>
          </a:p>
        </p:txBody>
      </p:sp>
      <p:sp>
        <p:nvSpPr>
          <p:cNvPr id="25" name="TextBox 24"/>
          <p:cNvSpPr txBox="1"/>
          <p:nvPr/>
        </p:nvSpPr>
        <p:spPr>
          <a:xfrm>
            <a:off x="4572000" y="4176712"/>
            <a:ext cx="3124200" cy="760095"/>
          </a:xfrm>
          <a:prstGeom prst="rect">
            <a:avLst/>
          </a:prstGeom>
          <a:noFill/>
        </p:spPr>
        <p:txBody>
          <a:bodyPr wrap="square" lIns="19050" rIns="19050" tIns="0" bIns="0" anchor="t">
            <a:spAutoFit/>
          </a:bodyPr>
          <a:lstStyle/>
          <a:p>
            <a:pPr algn="l">
              <a:lnSpc>
                <a:spcPct val="115000"/>
              </a:lnSpc>
            </a:pPr>
            <a:r>
              <a:rPr sz="1500" b="0">
                <a:solidFill>
                  <a:srgbClr val="556058"/>
                </a:solidFill>
                <a:latin typeface="Arial"/>
              </a:rPr>
              <a:t>screens swept, 0 issues</a:t>
            </a:r>
          </a:p>
        </p:txBody>
      </p:sp>
      <p:sp>
        <p:nvSpPr>
          <p:cNvPr id="26" name="Rectangle 25"/>
          <p:cNvSpPr/>
          <p:nvPr/>
        </p:nvSpPr>
        <p:spPr>
          <a:xfrm>
            <a:off x="8058150" y="3181350"/>
            <a:ext cx="3467100" cy="1809750"/>
          </a:xfrm>
          <a:prstGeom prst="rect">
            <a:avLst/>
          </a:prstGeom>
          <a:solidFill>
            <a:srgbClr val="FFFFFF"/>
          </a:solidFill>
          <a:ln w="9525">
            <a:solidFill>
              <a:srgbClr val="C9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58150" y="3181350"/>
            <a:ext cx="57150" cy="180975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67700" y="3333750"/>
            <a:ext cx="3124200" cy="868680"/>
          </a:xfrm>
          <a:prstGeom prst="rect">
            <a:avLst/>
          </a:prstGeom>
          <a:noFill/>
        </p:spPr>
        <p:txBody>
          <a:bodyPr wrap="square" lIns="19050" rIns="19050" tIns="0" bIns="0" anchor="t">
            <a:spAutoFit/>
          </a:bodyPr>
          <a:lstStyle/>
          <a:p>
            <a:pPr algn="l">
              <a:lnSpc>
                <a:spcPct val="115000"/>
              </a:lnSpc>
            </a:pPr>
            <a:r>
              <a:rPr sz="4000" b="1">
                <a:solidFill>
                  <a:srgbClr val="0F2A1A"/>
                </a:solidFill>
                <a:latin typeface="Arial"/>
              </a:rPr>
              <a:t>0</a:t>
            </a:r>
          </a:p>
        </p:txBody>
      </p:sp>
      <p:sp>
        <p:nvSpPr>
          <p:cNvPr id="29" name="TextBox 28"/>
          <p:cNvSpPr txBox="1"/>
          <p:nvPr/>
        </p:nvSpPr>
        <p:spPr>
          <a:xfrm>
            <a:off x="8267700" y="4176712"/>
            <a:ext cx="3124200" cy="760095"/>
          </a:xfrm>
          <a:prstGeom prst="rect">
            <a:avLst/>
          </a:prstGeom>
          <a:noFill/>
        </p:spPr>
        <p:txBody>
          <a:bodyPr wrap="square" lIns="19050" rIns="19050" tIns="0" bIns="0" anchor="t">
            <a:spAutoFit/>
          </a:bodyPr>
          <a:lstStyle/>
          <a:p>
            <a:pPr algn="l">
              <a:lnSpc>
                <a:spcPct val="115000"/>
              </a:lnSpc>
            </a:pPr>
            <a:r>
              <a:rPr sz="1500" b="0">
                <a:solidFill>
                  <a:srgbClr val="556058"/>
                </a:solidFill>
                <a:latin typeface="Arial"/>
              </a:rPr>
              <a:t>npm audit vulnerabilities</a:t>
            </a:r>
          </a:p>
        </p:txBody>
      </p:sp>
      <p:sp>
        <p:nvSpPr>
          <p:cNvPr id="30" name="TextBox 29"/>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Main System Defense</a:t>
            </a:r>
          </a:p>
        </p:txBody>
      </p:sp>
      <p:sp>
        <p:nvSpPr>
          <p:cNvPr id="31" name="TextBox 30"/>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Limitations</a:t>
            </a:r>
          </a:p>
        </p:txBody>
      </p:sp>
      <p:sp>
        <p:nvSpPr>
          <p:cNvPr id="6" name="Rectangle 5"/>
          <p:cNvSpPr/>
          <p:nvPr/>
        </p:nvSpPr>
        <p:spPr>
          <a:xfrm>
            <a:off x="800100" y="1277111"/>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7750" y="11430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No CI pipeline and no end-to-end browser tests yet</a:t>
            </a:r>
          </a:p>
        </p:txBody>
      </p:sp>
      <p:sp>
        <p:nvSpPr>
          <p:cNvPr id="8" name="Rectangle 7"/>
          <p:cNvSpPr/>
          <p:nvPr/>
        </p:nvSpPr>
        <p:spPr>
          <a:xfrm>
            <a:off x="800100" y="1810511"/>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7750" y="16764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No MFA; CSP still report-only</a:t>
            </a:r>
          </a:p>
        </p:txBody>
      </p:sp>
      <p:sp>
        <p:nvSpPr>
          <p:cNvPr id="10" name="Rectangle 9"/>
          <p:cNvSpPr/>
          <p:nvPr/>
        </p:nvSpPr>
        <p:spPr>
          <a:xfrm>
            <a:off x="800100" y="2343912"/>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7750" y="22098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Straight finals only; one entry per faction</a:t>
            </a:r>
          </a:p>
        </p:txBody>
      </p:sp>
      <p:sp>
        <p:nvSpPr>
          <p:cNvPr id="12" name="Rectangle 11"/>
          <p:cNvSpPr/>
          <p:nvPr/>
        </p:nvSpPr>
        <p:spPr>
          <a:xfrm>
            <a:off x="800100" y="2877312"/>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47750" y="27432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Needs internet; no email notifications</a:t>
            </a:r>
          </a:p>
        </p:txBody>
      </p:sp>
      <p:sp>
        <p:nvSpPr>
          <p:cNvPr id="14" name="TextBox 13"/>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Main System Defense</a:t>
            </a:r>
          </a:p>
        </p:txBody>
      </p:sp>
      <p:sp>
        <p:nvSpPr>
          <p:cNvPr id="15" name="TextBox 14"/>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Roadmap</a:t>
            </a:r>
          </a:p>
        </p:txBody>
      </p:sp>
      <p:graphicFrame>
        <p:nvGraphicFramePr>
          <p:cNvPr id="6" name="Table 5"/>
          <p:cNvGraphicFramePr>
            <a:graphicFrameLocks noGrp="1"/>
          </p:cNvGraphicFramePr>
          <p:nvPr/>
        </p:nvGraphicFramePr>
        <p:xfrm>
          <a:off x="666750" y="1143000"/>
          <a:ext cx="10858500" cy="2190750"/>
        </p:xfrm>
        <a:graphic>
          <a:graphicData uri="http://schemas.openxmlformats.org/drawingml/2006/table">
            <a:tbl>
              <a:tblPr firstRow="1" bandRow="1">
                <a:tableStyleId>{5C22544A-7EE6-4342-B048-85BDC9FD1C3A}</a:tableStyleId>
              </a:tblPr>
              <a:tblGrid>
                <a:gridCol w="1628775"/>
                <a:gridCol w="9229725"/>
              </a:tblGrid>
              <a:tr h="438150">
                <a:tc>
                  <a:txBody>
                    <a:bodyPr wrap="square"/>
                    <a:lstStyle/>
                    <a:p>
                      <a:r>
                        <a:rPr sz="2000" b="1">
                          <a:solidFill>
                            <a:srgbClr val="14361F"/>
                          </a:solidFill>
                          <a:latin typeface="Arial"/>
                        </a:rPr>
                        <a:t>Priority</a:t>
                      </a:r>
                    </a:p>
                  </a:txBody>
                  <a:tcPr marL="76200" marR="76200" marT="57150" marB="57150">
                    <a:solidFill>
                      <a:srgbClr val="E8F1E9"/>
                    </a:solidFill>
                  </a:tcPr>
                </a:tc>
                <a:tc>
                  <a:txBody>
                    <a:bodyPr wrap="square"/>
                    <a:lstStyle/>
                    <a:p>
                      <a:r>
                        <a:rPr sz="2000" b="1">
                          <a:solidFill>
                            <a:srgbClr val="14361F"/>
                          </a:solidFill>
                          <a:latin typeface="Arial"/>
                        </a:rPr>
                        <a:t>Next steps</a:t>
                      </a:r>
                    </a:p>
                  </a:txBody>
                  <a:tcPr marL="76200" marR="76200" marT="57150" marB="57150">
                    <a:solidFill>
                      <a:srgbClr val="E8F1E9"/>
                    </a:solidFill>
                  </a:tcPr>
                </a:tc>
              </a:tr>
              <a:tr h="438150">
                <a:tc>
                  <a:txBody>
                    <a:bodyPr wrap="square"/>
                    <a:lstStyle/>
                    <a:p>
                      <a:r>
                        <a:rPr sz="2000" b="0">
                          <a:solidFill>
                            <a:srgbClr val="111A14"/>
                          </a:solidFill>
                          <a:latin typeface="Arial"/>
                        </a:rPr>
                        <a:t>P1</a:t>
                      </a:r>
                    </a:p>
                  </a:txBody>
                  <a:tcPr marL="76200" marR="76200" marT="57150" marB="57150">
                    <a:solidFill>
                      <a:srgbClr val="FFFFFF"/>
                    </a:solidFill>
                  </a:tcPr>
                </a:tc>
                <a:tc>
                  <a:txBody>
                    <a:bodyPr wrap="square"/>
                    <a:lstStyle/>
                    <a:p>
                      <a:r>
                        <a:rPr sz="2000" b="0">
                          <a:solidFill>
                            <a:srgbClr val="111A14"/>
                          </a:solidFill>
                          <a:latin typeface="Arial"/>
                        </a:rPr>
                        <a:t>Privacy page for athletes, photo consent, MFA, run manual tests</a:t>
                      </a:r>
                    </a:p>
                  </a:txBody>
                  <a:tcPr marL="76200" marR="76200" marT="57150" marB="57150">
                    <a:solidFill>
                      <a:srgbClr val="FFFFFF"/>
                    </a:solidFill>
                  </a:tcPr>
                </a:tc>
              </a:tr>
              <a:tr h="438150">
                <a:tc>
                  <a:txBody>
                    <a:bodyPr wrap="square"/>
                    <a:lstStyle/>
                    <a:p>
                      <a:r>
                        <a:rPr sz="2000" b="0">
                          <a:solidFill>
                            <a:srgbClr val="111A14"/>
                          </a:solidFill>
                          <a:latin typeface="Arial"/>
                        </a:rPr>
                        <a:t>P2</a:t>
                      </a:r>
                    </a:p>
                  </a:txBody>
                  <a:tcPr marL="76200" marR="76200" marT="57150" marB="57150">
                    <a:solidFill>
                      <a:srgbClr val="FFFFFF"/>
                    </a:solidFill>
                  </a:tcPr>
                </a:tc>
                <a:tc>
                  <a:txBody>
                    <a:bodyPr wrap="square"/>
                    <a:lstStyle/>
                    <a:p>
                      <a:r>
                        <a:rPr sz="2000" b="0">
                          <a:solidFill>
                            <a:srgbClr val="111A14"/>
                          </a:solidFill>
                          <a:latin typeface="Arial"/>
                        </a:rPr>
                        <a:t>CI pipeline, enforce CSP, score-edit history, retention jobs</a:t>
                      </a:r>
                    </a:p>
                  </a:txBody>
                  <a:tcPr marL="76200" marR="76200" marT="57150" marB="57150">
                    <a:solidFill>
                      <a:srgbClr val="FFFFFF"/>
                    </a:solidFill>
                  </a:tcPr>
                </a:tc>
              </a:tr>
              <a:tr h="438150">
                <a:tc>
                  <a:txBody>
                    <a:bodyPr wrap="square"/>
                    <a:lstStyle/>
                    <a:p>
                      <a:r>
                        <a:rPr sz="2000" b="0">
                          <a:solidFill>
                            <a:srgbClr val="111A14"/>
                          </a:solidFill>
                          <a:latin typeface="Arial"/>
                        </a:rPr>
                        <a:t>P3</a:t>
                      </a:r>
                    </a:p>
                  </a:txBody>
                  <a:tcPr marL="76200" marR="76200" marT="57150" marB="57150">
                    <a:solidFill>
                      <a:srgbClr val="FFFFFF"/>
                    </a:solidFill>
                  </a:tcPr>
                </a:tc>
                <a:tc>
                  <a:txBody>
                    <a:bodyPr wrap="square"/>
                    <a:lstStyle/>
                    <a:p>
                      <a:r>
                        <a:rPr sz="2000" b="0">
                          <a:solidFill>
                            <a:srgbClr val="111A14"/>
                          </a:solidFill>
                          <a:latin typeface="Arial"/>
                        </a:rPr>
                        <a:t>End-to-end tests, notifications, generated types</a:t>
                      </a:r>
                    </a:p>
                  </a:txBody>
                  <a:tcPr marL="76200" marR="76200" marT="57150" marB="57150">
                    <a:solidFill>
                      <a:srgbClr val="FFFFFF"/>
                    </a:solidFill>
                  </a:tcPr>
                </a:tc>
              </a:tr>
              <a:tr h="438150">
                <a:tc>
                  <a:txBody>
                    <a:bodyPr wrap="square"/>
                    <a:lstStyle/>
                    <a:p>
                      <a:r>
                        <a:rPr sz="2000" b="0">
                          <a:solidFill>
                            <a:srgbClr val="111A14"/>
                          </a:solidFill>
                          <a:latin typeface="Arial"/>
                        </a:rPr>
                        <a:t>P4</a:t>
                      </a:r>
                    </a:p>
                  </a:txBody>
                  <a:tcPr marL="76200" marR="76200" marT="57150" marB="57150">
                    <a:solidFill>
                      <a:srgbClr val="FFFFFF"/>
                    </a:solidFill>
                  </a:tcPr>
                </a:tc>
                <a:tc>
                  <a:txBody>
                    <a:bodyPr wrap="square"/>
                    <a:lstStyle/>
                    <a:p>
                      <a:r>
                        <a:rPr sz="2000" b="0">
                          <a:solidFill>
                            <a:srgbClr val="111A14"/>
                          </a:solidFill>
                          <a:latin typeface="Arial"/>
                        </a:rPr>
                        <a:t>Heats, judges’ score sheets, offline scoring, Filipino UI</a:t>
                      </a:r>
                    </a:p>
                  </a:txBody>
                  <a:tcPr marL="76200" marR="76200" marT="57150" marB="57150">
                    <a:solidFill>
                      <a:srgbClr val="FFFFFF"/>
                    </a:solidFill>
                  </a:tcPr>
                </a:tc>
              </a:tr>
            </a:tbl>
          </a:graphicData>
        </a:graphic>
      </p:graphicFrame>
      <p:sp>
        <p:nvSpPr>
          <p:cNvPr id="7" name="TextBox 6"/>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Main System Defense</a:t>
            </a:r>
          </a:p>
        </p:txBody>
      </p:sp>
      <p:sp>
        <p:nvSpPr>
          <p:cNvPr id="8" name="TextBox 7"/>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F2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7250" y="2095500"/>
            <a:ext cx="10477500" cy="1143000"/>
          </a:xfrm>
          <a:prstGeom prst="rect">
            <a:avLst/>
          </a:prstGeom>
          <a:noFill/>
        </p:spPr>
        <p:txBody>
          <a:bodyPr wrap="square" lIns="19050" rIns="19050" tIns="0" bIns="0" anchor="t">
            <a:spAutoFit/>
          </a:bodyPr>
          <a:lstStyle/>
          <a:p>
            <a:pPr algn="l">
              <a:lnSpc>
                <a:spcPct val="115000"/>
              </a:lnSpc>
            </a:pPr>
            <a:r>
              <a:rPr sz="4400" b="1">
                <a:solidFill>
                  <a:srgbClr val="FFFFFF"/>
                </a:solidFill>
                <a:latin typeface="Arial"/>
              </a:rPr>
              <a:t>Thank you</a:t>
            </a:r>
          </a:p>
        </p:txBody>
      </p:sp>
      <p:sp>
        <p:nvSpPr>
          <p:cNvPr id="4" name="TextBox 3"/>
          <p:cNvSpPr txBox="1"/>
          <p:nvPr/>
        </p:nvSpPr>
        <p:spPr>
          <a:xfrm>
            <a:off x="857250" y="3333750"/>
            <a:ext cx="10477500" cy="1524000"/>
          </a:xfrm>
          <a:prstGeom prst="rect">
            <a:avLst/>
          </a:prstGeom>
          <a:noFill/>
        </p:spPr>
        <p:txBody>
          <a:bodyPr wrap="square" lIns="19050" rIns="19050" tIns="0" bIns="0" anchor="t">
            <a:spAutoFit/>
          </a:bodyPr>
          <a:lstStyle/>
          <a:p>
            <a:pPr algn="l">
              <a:lnSpc>
                <a:spcPct val="115000"/>
              </a:lnSpc>
            </a:pPr>
            <a:r>
              <a:rPr sz="2200" b="0">
                <a:solidFill>
                  <a:srgbClr val="D9E8B0"/>
                </a:solidFill>
                <a:latin typeface="Arial"/>
              </a:rPr>
              <a:t>Amaranth v2 — database-enforced roles, live Salingkusog results, privacy by design.</a:t>
            </a:r>
          </a:p>
          <a:p>
            <a:pPr algn="l">
              <a:lnSpc>
                <a:spcPct val="115000"/>
              </a:lnSpc>
            </a:pPr>
            <a:r>
              <a:rPr sz="2200" b="0">
                <a:solidFill>
                  <a:srgbClr val="D9E8B0"/>
                </a:solidFill>
                <a:latin typeface="Arial"/>
              </a:rPr>
              <a:t>Questions?</a:t>
            </a:r>
          </a:p>
        </p:txBody>
      </p:sp>
      <p:sp>
        <p:nvSpPr>
          <p:cNvPr id="5" name="TextBox 4"/>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B8C7BC"/>
                </a:solidFill>
                <a:latin typeface="Arial"/>
              </a:rPr>
              <a:t>Amaranth v2 · Main System Defense</a:t>
            </a:r>
          </a:p>
        </p:txBody>
      </p:sp>
      <p:sp>
        <p:nvSpPr>
          <p:cNvPr id="6" name="TextBox 5"/>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B8C7BC"/>
                </a:solidFill>
                <a:latin typeface="Arial"/>
              </a:rPr>
              <a:t>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
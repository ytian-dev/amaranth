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explains the Salingkusog module: how the intramural games are set up, scheduled, scored live, and turned into an official medal table, with a walkthrough using fictional sample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real counts from the live database on October 19: four factions, twenty-seven sports, seventy-four events, twenty-one venues and one hundred sixty-nine scheduled games and contest sessions, for games running October 26 to 30.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 is enforced by the database function can_edit_sk. The three managing roles always have access and choose the team. Team members can be any active staff. Readers see an edition only once it is published.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belongs to an edition. An event is a sport plus a division and a format. Matches are two-sided games or contest sessions with entries. Placements are the official places, and the medal table is a view computed from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five formats. Brackets and round robins are built once and advance automatically. Round robin plus final sends the top two to a final. Timed and judged events use contests, where every faction competes in one session.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happens about two weeks before the games. The team enters the edition with its dates and medal points, the factions with colours and logos, venues, sports and events, and athletes with consent for photos. The edition stays unpublished until everything is checked.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CSV importer accepts these eight columns, with alternative names such as team a and team b. It checks every row against the edition: dates inside the edition, known sports, events, factions and venues, different sides, and it marks duplicates. Only valid rows are imported.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brackets and round robins the team uses Build schedule once. It creates all games with their times. In this fictional example Semifinal 1 is final, so the final already shows the winner and waits for the winner of Semifinal 2, while the bronze game waits for the loser.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scorekeeper is built for a phone. Start the game, tap the score buttons, add periods and a live note. Each change saves after a short pause and reaches readers through Supabase Realtime. A knockout game cannot finish tied.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Contests handle events where all factions compete at once. For timed events the scorer types times like 1:02.45 and places update automatically, with ties sharing a place. For judged events the scorer enters the places the judges announce. Entries can be marked did not start, did not finish or disqualified.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event’s last game is final, the newsroom shows Ready to confirm and suggests the podium from the final and bronze game, the standings, or the contest places. A person checks it, chooses the athletes for individual events, and saves. Only then do the medals count.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fictional walkthrough with three events. After confirming them, Faction A has one gold and two silvers, which is five plus six equals eleven points. Faction B has one gold and one silver, eight points. Faction C has one gold and one bronze, six points, and Faction D one bronze.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medal table computes exactly this. Rank is by points, then golds, then silvers. Nobody types these numbers: if a placement is corrected, every page recomputes. The points race shows how these totals grew over the days or in hour steps.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Readers see the podium, how many matches have results, the medal table with tinted rows for the top three, the points race with a switch for one, three, six or twelve hour steps or day by day, and the live and upcoming games.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records daily awards with a stat line and a quote. The newsroom generates social cards as PNG images in portrait and square sizes, so the social media team can post them straight away.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safeguards protect the official results. The database never changes a game that has started, refuses tied knockout games, counts medals only after a person confirms them, audits changes to the team, and hides the edition from readers until it is published.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Salingkusog module. The team manual has step-by-step instructions, and the runbook has the checklist for event week. We are happy to answer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1450" cy="68580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1428750"/>
            <a:ext cx="9525000" cy="285750"/>
          </a:xfrm>
          <a:prstGeom prst="rect">
            <a:avLst/>
          </a:prstGeom>
          <a:noFill/>
        </p:spPr>
        <p:txBody>
          <a:bodyPr wrap="square" lIns="19050" rIns="19050" tIns="0" bIns="0" anchor="t">
            <a:spAutoFit/>
          </a:bodyPr>
          <a:lstStyle/>
          <a:p>
            <a:pPr algn="l">
              <a:lnSpc>
                <a:spcPct val="115000"/>
              </a:lnSpc>
            </a:pPr>
            <a:r>
              <a:rPr sz="1400" b="1">
                <a:solidFill>
                  <a:srgbClr val="B5F000"/>
                </a:solidFill>
                <a:latin typeface="Arial"/>
              </a:rPr>
              <a:t>AMARANTH · SALINGKUSOG MODULE</a:t>
            </a:r>
          </a:p>
        </p:txBody>
      </p:sp>
      <p:sp>
        <p:nvSpPr>
          <p:cNvPr id="5" name="TextBox 4"/>
          <p:cNvSpPr txBox="1"/>
          <p:nvPr/>
        </p:nvSpPr>
        <p:spPr>
          <a:xfrm>
            <a:off x="857250" y="1905000"/>
            <a:ext cx="10477500" cy="1809750"/>
          </a:xfrm>
          <a:prstGeom prst="rect">
            <a:avLst/>
          </a:prstGeom>
          <a:noFill/>
        </p:spPr>
        <p:txBody>
          <a:bodyPr wrap="square" lIns="19050" rIns="19050" tIns="0" bIns="0" anchor="t">
            <a:spAutoFit/>
          </a:bodyPr>
          <a:lstStyle/>
          <a:p>
            <a:pPr algn="l">
              <a:lnSpc>
                <a:spcPct val="115000"/>
              </a:lnSpc>
            </a:pPr>
            <a:r>
              <a:rPr sz="4400" b="1">
                <a:solidFill>
                  <a:srgbClr val="FFFFFF"/>
                </a:solidFill>
                <a:latin typeface="Arial"/>
              </a:rPr>
              <a:t>Salingkusog in Amaranth v2</a:t>
            </a:r>
          </a:p>
        </p:txBody>
      </p:sp>
      <p:sp>
        <p:nvSpPr>
          <p:cNvPr id="6" name="TextBox 5"/>
          <p:cNvSpPr txBox="1"/>
          <p:nvPr/>
        </p:nvSpPr>
        <p:spPr>
          <a:xfrm>
            <a:off x="857250" y="3810000"/>
            <a:ext cx="10477500" cy="857250"/>
          </a:xfrm>
          <a:prstGeom prst="rect">
            <a:avLst/>
          </a:prstGeom>
          <a:noFill/>
        </p:spPr>
        <p:txBody>
          <a:bodyPr wrap="square" lIns="19050" rIns="19050" tIns="0" bIns="0" anchor="t">
            <a:spAutoFit/>
          </a:bodyPr>
          <a:lstStyle/>
          <a:p>
            <a:pPr algn="l">
              <a:lnSpc>
                <a:spcPct val="115000"/>
              </a:lnSpc>
            </a:pPr>
            <a:r>
              <a:rPr sz="2200" b="0">
                <a:solidFill>
                  <a:srgbClr val="D9E8B0"/>
                </a:solidFill>
                <a:latin typeface="Arial"/>
              </a:rPr>
              <a:t>Live scores, brackets, contests, results, medals and awards for VSU’s intramural games</a:t>
            </a:r>
          </a:p>
        </p:txBody>
      </p:sp>
      <p:sp>
        <p:nvSpPr>
          <p:cNvPr id="7" name="TextBox 6"/>
          <p:cNvSpPr txBox="1"/>
          <p:nvPr/>
        </p:nvSpPr>
        <p:spPr>
          <a:xfrm>
            <a:off x="857250" y="5334000"/>
            <a:ext cx="10477500" cy="666750"/>
          </a:xfrm>
          <a:prstGeom prst="rect">
            <a:avLst/>
          </a:prstGeom>
          <a:noFill/>
        </p:spPr>
        <p:txBody>
          <a:bodyPr wrap="square" lIns="19050" rIns="19050" tIns="0" bIns="0" anchor="t">
            <a:spAutoFit/>
          </a:bodyPr>
          <a:lstStyle/>
          <a:p>
            <a:pPr algn="l">
              <a:lnSpc>
                <a:spcPct val="115000"/>
              </a:lnSpc>
            </a:pPr>
            <a:r>
              <a:rPr sz="1400" b="0">
                <a:solidFill>
                  <a:srgbClr val="B8C7BC"/>
                </a:solidFill>
                <a:latin typeface="Arial"/>
              </a:rPr>
              <a:t>Version 1.0 · 2026-10-19</a:t>
            </a:r>
          </a:p>
        </p:txBody>
      </p:sp>
      <p:sp>
        <p:nvSpPr>
          <p:cNvPr id="8" name="TextBox 7"/>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Salingkusog Module</a:t>
            </a:r>
          </a:p>
        </p:txBody>
      </p:sp>
      <p:sp>
        <p:nvSpPr>
          <p:cNvPr id="9" name="TextBox 8"/>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Salingkusog 2026 in the system</a:t>
            </a:r>
          </a:p>
        </p:txBody>
      </p:sp>
      <p:sp>
        <p:nvSpPr>
          <p:cNvPr id="6" name="Rectangle 5"/>
          <p:cNvSpPr/>
          <p:nvPr/>
        </p:nvSpPr>
        <p:spPr>
          <a:xfrm>
            <a:off x="6667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67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63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4</a:t>
            </a:r>
          </a:p>
        </p:txBody>
      </p:sp>
      <p:sp>
        <p:nvSpPr>
          <p:cNvPr id="9" name="TextBox 8"/>
          <p:cNvSpPr txBox="1"/>
          <p:nvPr/>
        </p:nvSpPr>
        <p:spPr>
          <a:xfrm>
            <a:off x="8763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factions</a:t>
            </a:r>
          </a:p>
        </p:txBody>
      </p:sp>
      <p:sp>
        <p:nvSpPr>
          <p:cNvPr id="10" name="Rectangle 9"/>
          <p:cNvSpPr/>
          <p:nvPr/>
        </p:nvSpPr>
        <p:spPr>
          <a:xfrm>
            <a:off x="43624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24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27</a:t>
            </a:r>
          </a:p>
        </p:txBody>
      </p:sp>
      <p:sp>
        <p:nvSpPr>
          <p:cNvPr id="13" name="TextBox 12"/>
          <p:cNvSpPr txBox="1"/>
          <p:nvPr/>
        </p:nvSpPr>
        <p:spPr>
          <a:xfrm>
            <a:off x="45720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sports</a:t>
            </a:r>
          </a:p>
        </p:txBody>
      </p:sp>
      <p:sp>
        <p:nvSpPr>
          <p:cNvPr id="14" name="Rectangle 13"/>
          <p:cNvSpPr/>
          <p:nvPr/>
        </p:nvSpPr>
        <p:spPr>
          <a:xfrm>
            <a:off x="80581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581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77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74</a:t>
            </a:r>
          </a:p>
        </p:txBody>
      </p:sp>
      <p:sp>
        <p:nvSpPr>
          <p:cNvPr id="17" name="TextBox 16"/>
          <p:cNvSpPr txBox="1"/>
          <p:nvPr/>
        </p:nvSpPr>
        <p:spPr>
          <a:xfrm>
            <a:off x="82677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events</a:t>
            </a:r>
          </a:p>
        </p:txBody>
      </p:sp>
      <p:sp>
        <p:nvSpPr>
          <p:cNvPr id="18" name="Rectangle 17"/>
          <p:cNvSpPr/>
          <p:nvPr/>
        </p:nvSpPr>
        <p:spPr>
          <a:xfrm>
            <a:off x="6667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67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63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21</a:t>
            </a:r>
          </a:p>
        </p:txBody>
      </p:sp>
      <p:sp>
        <p:nvSpPr>
          <p:cNvPr id="21" name="TextBox 20"/>
          <p:cNvSpPr txBox="1"/>
          <p:nvPr/>
        </p:nvSpPr>
        <p:spPr>
          <a:xfrm>
            <a:off x="8763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venues</a:t>
            </a:r>
          </a:p>
        </p:txBody>
      </p:sp>
      <p:sp>
        <p:nvSpPr>
          <p:cNvPr id="22" name="Rectangle 21"/>
          <p:cNvSpPr/>
          <p:nvPr/>
        </p:nvSpPr>
        <p:spPr>
          <a:xfrm>
            <a:off x="43624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624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169</a:t>
            </a:r>
          </a:p>
        </p:txBody>
      </p:sp>
      <p:sp>
        <p:nvSpPr>
          <p:cNvPr id="25" name="TextBox 24"/>
          <p:cNvSpPr txBox="1"/>
          <p:nvPr/>
        </p:nvSpPr>
        <p:spPr>
          <a:xfrm>
            <a:off x="45720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games and sessions</a:t>
            </a:r>
          </a:p>
        </p:txBody>
      </p:sp>
      <p:sp>
        <p:nvSpPr>
          <p:cNvPr id="26" name="Rectangle 25"/>
          <p:cNvSpPr/>
          <p:nvPr/>
        </p:nvSpPr>
        <p:spPr>
          <a:xfrm>
            <a:off x="80581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581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77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Oct 26–30</a:t>
            </a:r>
          </a:p>
        </p:txBody>
      </p:sp>
      <p:sp>
        <p:nvSpPr>
          <p:cNvPr id="29" name="TextBox 28"/>
          <p:cNvSpPr txBox="1"/>
          <p:nvPr/>
        </p:nvSpPr>
        <p:spPr>
          <a:xfrm>
            <a:off x="82677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competition days</a:t>
            </a:r>
          </a:p>
        </p:txBody>
      </p:sp>
      <p:sp>
        <p:nvSpPr>
          <p:cNvPr id="30" name="TextBox 29"/>
          <p:cNvSpPr txBox="1"/>
          <p:nvPr/>
        </p:nvSpPr>
        <p:spPr>
          <a:xfrm>
            <a:off x="666750" y="5905500"/>
            <a:ext cx="10858500" cy="381000"/>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Live data snapshot, 2026-10-19 (counts only)</a:t>
            </a:r>
          </a:p>
        </p:txBody>
      </p:sp>
      <p:sp>
        <p:nvSpPr>
          <p:cNvPr id="31" name="TextBox 30"/>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32" name="TextBox 31"/>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Who does what</a:t>
            </a:r>
          </a:p>
        </p:txBody>
      </p:sp>
      <p:graphicFrame>
        <p:nvGraphicFramePr>
          <p:cNvPr id="6" name="Table 5"/>
          <p:cNvGraphicFramePr>
            <a:graphicFrameLocks noGrp="1"/>
          </p:cNvGraphicFramePr>
          <p:nvPr/>
        </p:nvGraphicFramePr>
        <p:xfrm>
          <a:off x="666750" y="1143000"/>
          <a:ext cx="10858499" cy="2190750"/>
        </p:xfrm>
        <a:graphic>
          <a:graphicData uri="http://schemas.openxmlformats.org/drawingml/2006/table">
            <a:tbl>
              <a:tblPr firstRow="1" bandRow="1">
                <a:tableStyleId>{5C22544A-7EE6-4342-B048-85BDC9FD1C3A}</a:tableStyleId>
              </a:tblPr>
              <a:tblGrid>
                <a:gridCol w="4721086"/>
                <a:gridCol w="6137413"/>
              </a:tblGrid>
              <a:tr h="438150">
                <a:tc>
                  <a:txBody>
                    <a:bodyPr wrap="square"/>
                    <a:lstStyle/>
                    <a:p>
                      <a:r>
                        <a:rPr sz="2000" b="1">
                          <a:solidFill>
                            <a:srgbClr val="14361F"/>
                          </a:solidFill>
                          <a:latin typeface="Arial"/>
                        </a:rPr>
                        <a:t>Who</a:t>
                      </a:r>
                    </a:p>
                  </a:txBody>
                  <a:tcPr marL="76200" marR="76200" marT="57150" marB="57150">
                    <a:solidFill>
                      <a:srgbClr val="E8F1E9"/>
                    </a:solidFill>
                  </a:tcPr>
                </a:tc>
                <a:tc>
                  <a:txBody>
                    <a:bodyPr wrap="square"/>
                    <a:lstStyle/>
                    <a:p>
                      <a:r>
                        <a:rPr sz="2000" b="1">
                          <a:solidFill>
                            <a:srgbClr val="14361F"/>
                          </a:solidFill>
                          <a:latin typeface="Arial"/>
                        </a:rPr>
                        <a:t>Can do</a:t>
                      </a:r>
                    </a:p>
                  </a:txBody>
                  <a:tcPr marL="76200" marR="76200" marT="57150" marB="57150">
                    <a:solidFill>
                      <a:srgbClr val="E8F1E9"/>
                    </a:solidFill>
                  </a:tcPr>
                </a:tc>
              </a:tr>
              <a:tr h="438150">
                <a:tc>
                  <a:txBody>
                    <a:bodyPr wrap="square"/>
                    <a:lstStyle/>
                    <a:p>
                      <a:r>
                        <a:rPr sz="2000" b="0">
                          <a:solidFill>
                            <a:srgbClr val="111A14"/>
                          </a:solidFill>
                          <a:latin typeface="Arial"/>
                        </a:rPr>
                        <a:t>SA, Executive Editor, Managing Editor</a:t>
                      </a:r>
                    </a:p>
                  </a:txBody>
                  <a:tcPr marL="76200" marR="76200" marT="57150" marB="57150">
                    <a:solidFill>
                      <a:srgbClr val="FFFFFF"/>
                    </a:solidFill>
                  </a:tcPr>
                </a:tc>
                <a:tc>
                  <a:txBody>
                    <a:bodyPr wrap="square"/>
                    <a:lstStyle/>
                    <a:p>
                      <a:r>
                        <a:rPr sz="2000" b="0">
                          <a:solidFill>
                            <a:srgbClr val="111A14"/>
                          </a:solidFill>
                          <a:latin typeface="Arial"/>
                        </a:rPr>
                        <a:t>Everything; choose the team; countdown</a:t>
                      </a:r>
                    </a:p>
                  </a:txBody>
                  <a:tcPr marL="76200" marR="76200" marT="57150" marB="57150">
                    <a:solidFill>
                      <a:srgbClr val="FFFFFF"/>
                    </a:solidFill>
                  </a:tcPr>
                </a:tc>
              </a:tr>
              <a:tr h="438150">
                <a:tc>
                  <a:txBody>
                    <a:bodyPr wrap="square"/>
                    <a:lstStyle/>
                    <a:p>
                      <a:r>
                        <a:rPr sz="2000" b="0">
                          <a:solidFill>
                            <a:srgbClr val="111A14"/>
                          </a:solidFill>
                          <a:latin typeface="Arial"/>
                        </a:rPr>
                        <a:t>Salingkusog team member</a:t>
                      </a:r>
                    </a:p>
                  </a:txBody>
                  <a:tcPr marL="76200" marR="76200" marT="57150" marB="57150">
                    <a:solidFill>
                      <a:srgbClr val="FFFFFF"/>
                    </a:solidFill>
                  </a:tcPr>
                </a:tc>
                <a:tc>
                  <a:txBody>
                    <a:bodyPr wrap="square"/>
                    <a:lstStyle/>
                    <a:p>
                      <a:r>
                        <a:rPr sz="2000" b="0">
                          <a:solidFill>
                            <a:srgbClr val="111A14"/>
                          </a:solidFill>
                          <a:latin typeface="Arial"/>
                        </a:rPr>
                        <a:t>Setup, schedules, scores, results, awards</a:t>
                      </a:r>
                    </a:p>
                  </a:txBody>
                  <a:tcPr marL="76200" marR="76200" marT="57150" marB="57150">
                    <a:solidFill>
                      <a:srgbClr val="FFFFFF"/>
                    </a:solidFill>
                  </a:tcPr>
                </a:tc>
              </a:tr>
              <a:tr h="438150">
                <a:tc>
                  <a:txBody>
                    <a:bodyPr wrap="square"/>
                    <a:lstStyle/>
                    <a:p>
                      <a:r>
                        <a:rPr sz="2000" b="0">
                          <a:solidFill>
                            <a:srgbClr val="111A14"/>
                          </a:solidFill>
                          <a:latin typeface="Arial"/>
                        </a:rPr>
                        <a:t>Other staff</a:t>
                      </a:r>
                    </a:p>
                  </a:txBody>
                  <a:tcPr marL="76200" marR="76200" marT="57150" marB="57150">
                    <a:solidFill>
                      <a:srgbClr val="FFFFFF"/>
                    </a:solidFill>
                  </a:tcPr>
                </a:tc>
                <a:tc>
                  <a:txBody>
                    <a:bodyPr wrap="square"/>
                    <a:lstStyle/>
                    <a:p>
                      <a:r>
                        <a:rPr sz="2000" b="0">
                          <a:solidFill>
                            <a:srgbClr val="111A14"/>
                          </a:solidFill>
                          <a:latin typeface="Arial"/>
                        </a:rPr>
                        <a:t>View only</a:t>
                      </a:r>
                    </a:p>
                  </a:txBody>
                  <a:tcPr marL="76200" marR="76200" marT="57150" marB="57150">
                    <a:solidFill>
                      <a:srgbClr val="FFFFFF"/>
                    </a:solidFill>
                  </a:tcPr>
                </a:tc>
              </a:tr>
              <a:tr h="438150">
                <a:tc>
                  <a:txBody>
                    <a:bodyPr wrap="square"/>
                    <a:lstStyle/>
                    <a:p>
                      <a:r>
                        <a:rPr sz="2000" b="0">
                          <a:solidFill>
                            <a:srgbClr val="111A14"/>
                          </a:solidFill>
                          <a:latin typeface="Arial"/>
                        </a:rPr>
                        <a:t>Readers</a:t>
                      </a:r>
                    </a:p>
                  </a:txBody>
                  <a:tcPr marL="76200" marR="76200" marT="57150" marB="57150">
                    <a:solidFill>
                      <a:srgbClr val="FFFFFF"/>
                    </a:solidFill>
                  </a:tcPr>
                </a:tc>
                <a:tc>
                  <a:txBody>
                    <a:bodyPr wrap="square"/>
                    <a:lstStyle/>
                    <a:p>
                      <a:r>
                        <a:rPr sz="2000" b="0">
                          <a:solidFill>
                            <a:srgbClr val="111A14"/>
                          </a:solidFill>
                          <a:latin typeface="Arial"/>
                        </a:rPr>
                        <a:t>Published edition only</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Data model</a:t>
            </a:r>
          </a:p>
        </p:txBody>
      </p:sp>
      <p:pic>
        <p:nvPicPr>
          <p:cNvPr id="6" name="Picture 5" descr="slide-erd.png"/>
          <p:cNvPicPr>
            <a:picLocks noChangeAspect="1"/>
          </p:cNvPicPr>
          <p:nvPr/>
        </p:nvPicPr>
        <p:blipFill>
          <a:blip r:embed="rId2"/>
          <a:stretch>
            <a:fillRect/>
          </a:stretch>
        </p:blipFill>
        <p:spPr>
          <a:xfrm>
            <a:off x="666750" y="1736024"/>
            <a:ext cx="10858500" cy="3652651"/>
          </a:xfrm>
          <a:prstGeom prst="rect">
            <a:avLst/>
          </a:prstGeom>
        </p:spPr>
      </p:pic>
      <p:sp>
        <p:nvSpPr>
          <p:cNvPr id="7" name="Rectangle 6"/>
          <p:cNvSpPr/>
          <p:nvPr/>
        </p:nvSpPr>
        <p:spPr>
          <a:xfrm>
            <a:off x="666750" y="1736024"/>
            <a:ext cx="10858500" cy="3652651"/>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6038850"/>
            <a:ext cx="10858500" cy="285750"/>
          </a:xfrm>
          <a:prstGeom prst="rect">
            <a:avLst/>
          </a:prstGeom>
          <a:noFill/>
        </p:spPr>
        <p:txBody>
          <a:bodyPr wrap="square" lIns="19050" rIns="19050" tIns="0" bIns="0" anchor="t">
            <a:spAutoFit/>
          </a:bodyPr>
          <a:lstStyle/>
          <a:p>
            <a:pPr algn="ctr">
              <a:lnSpc>
                <a:spcPct val="115000"/>
              </a:lnSpc>
            </a:pPr>
            <a:r>
              <a:rPr sz="1300" b="0">
                <a:solidFill>
                  <a:srgbClr val="556058"/>
                </a:solidFill>
                <a:latin typeface="Arial"/>
              </a:rPr>
              <a:t>Edition → factions, sports → events → matches / entries → placements → computed medal table</a:t>
            </a:r>
          </a:p>
        </p:txBody>
      </p:sp>
      <p:sp>
        <p:nvSpPr>
          <p:cNvPr id="9" name="TextBox 8"/>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10" name="TextBox 9"/>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Five formats</a:t>
            </a:r>
          </a:p>
        </p:txBody>
      </p:sp>
      <p:graphicFrame>
        <p:nvGraphicFramePr>
          <p:cNvPr id="6" name="Table 5"/>
          <p:cNvGraphicFramePr>
            <a:graphicFrameLocks noGrp="1"/>
          </p:cNvGraphicFramePr>
          <p:nvPr/>
        </p:nvGraphicFramePr>
        <p:xfrm>
          <a:off x="666750" y="1143000"/>
          <a:ext cx="10858500" cy="2933700"/>
        </p:xfrm>
        <a:graphic>
          <a:graphicData uri="http://schemas.openxmlformats.org/drawingml/2006/table">
            <a:tbl>
              <a:tblPr firstRow="1" bandRow="1">
                <a:tableStyleId>{5C22544A-7EE6-4342-B048-85BDC9FD1C3A}</a:tableStyleId>
              </a:tblPr>
              <a:tblGrid>
                <a:gridCol w="2895600"/>
                <a:gridCol w="3257550"/>
                <a:gridCol w="4705350"/>
              </a:tblGrid>
              <a:tr h="438150">
                <a:tc>
                  <a:txBody>
                    <a:bodyPr wrap="square"/>
                    <a:lstStyle/>
                    <a:p>
                      <a:r>
                        <a:rPr sz="2000" b="1">
                          <a:solidFill>
                            <a:srgbClr val="14361F"/>
                          </a:solidFill>
                          <a:latin typeface="Arial"/>
                        </a:rPr>
                        <a:t>Format</a:t>
                      </a:r>
                    </a:p>
                  </a:txBody>
                  <a:tcPr marL="76200" marR="76200" marT="57150" marB="57150">
                    <a:solidFill>
                      <a:srgbClr val="E8F1E9"/>
                    </a:solidFill>
                  </a:tcPr>
                </a:tc>
                <a:tc>
                  <a:txBody>
                    <a:bodyPr wrap="square"/>
                    <a:lstStyle/>
                    <a:p>
                      <a:r>
                        <a:rPr sz="2000" b="1">
                          <a:solidFill>
                            <a:srgbClr val="14361F"/>
                          </a:solidFill>
                          <a:latin typeface="Arial"/>
                        </a:rPr>
                        <a:t>Used for</a:t>
                      </a:r>
                    </a:p>
                  </a:txBody>
                  <a:tcPr marL="76200" marR="76200" marT="57150" marB="57150">
                    <a:solidFill>
                      <a:srgbClr val="E8F1E9"/>
                    </a:solidFill>
                  </a:tcPr>
                </a:tc>
                <a:tc>
                  <a:txBody>
                    <a:bodyPr wrap="square"/>
                    <a:lstStyle/>
                    <a:p>
                      <a:r>
                        <a:rPr sz="2000" b="1">
                          <a:solidFill>
                            <a:srgbClr val="14361F"/>
                          </a:solidFill>
                          <a:latin typeface="Arial"/>
                        </a:rPr>
                        <a:t>How games are made</a:t>
                      </a:r>
                    </a:p>
                  </a:txBody>
                  <a:tcPr marL="76200" marR="76200" marT="57150" marB="57150">
                    <a:solidFill>
                      <a:srgbClr val="E8F1E9"/>
                    </a:solidFill>
                  </a:tcPr>
                </a:tc>
              </a:tr>
              <a:tr h="438150">
                <a:tc>
                  <a:txBody>
                    <a:bodyPr wrap="square"/>
                    <a:lstStyle/>
                    <a:p>
                      <a:r>
                        <a:rPr sz="2000" b="0">
                          <a:solidFill>
                            <a:srgbClr val="111A14"/>
                          </a:solidFill>
                          <a:latin typeface="Arial"/>
                        </a:rPr>
                        <a:t>Bracket</a:t>
                      </a:r>
                    </a:p>
                  </a:txBody>
                  <a:tcPr marL="76200" marR="76200" marT="57150" marB="57150">
                    <a:solidFill>
                      <a:srgbClr val="FFFFFF"/>
                    </a:solidFill>
                  </a:tcPr>
                </a:tc>
                <a:tc>
                  <a:txBody>
                    <a:bodyPr wrap="square"/>
                    <a:lstStyle/>
                    <a:p>
                      <a:r>
                        <a:rPr sz="2000" b="0">
                          <a:solidFill>
                            <a:srgbClr val="111A14"/>
                          </a:solidFill>
                          <a:latin typeface="Arial"/>
                        </a:rPr>
                        <a:t>Basketball, volleyball…</a:t>
                      </a:r>
                    </a:p>
                  </a:txBody>
                  <a:tcPr marL="76200" marR="76200" marT="57150" marB="57150">
                    <a:solidFill>
                      <a:srgbClr val="FFFFFF"/>
                    </a:solidFill>
                  </a:tcPr>
                </a:tc>
                <a:tc>
                  <a:txBody>
                    <a:bodyPr wrap="square"/>
                    <a:lstStyle/>
                    <a:p>
                      <a:r>
                        <a:rPr sz="2000" b="0">
                          <a:solidFill>
                            <a:srgbClr val="111A14"/>
                          </a:solidFill>
                          <a:latin typeface="Arial"/>
                        </a:rPr>
                        <a:t>Build schedule (seeds, byes, bronze)</a:t>
                      </a:r>
                    </a:p>
                  </a:txBody>
                  <a:tcPr marL="76200" marR="76200" marT="57150" marB="57150">
                    <a:solidFill>
                      <a:srgbClr val="FFFFFF"/>
                    </a:solidFill>
                  </a:tcPr>
                </a:tc>
              </a:tr>
              <a:tr h="742950">
                <a:tc>
                  <a:txBody>
                    <a:bodyPr wrap="square"/>
                    <a:lstStyle/>
                    <a:p>
                      <a:r>
                        <a:rPr sz="2000" b="0">
                          <a:solidFill>
                            <a:srgbClr val="111A14"/>
                          </a:solidFill>
                          <a:latin typeface="Arial"/>
                        </a:rPr>
                        <a:t>Round robin</a:t>
                      </a:r>
                    </a:p>
                  </a:txBody>
                  <a:tcPr marL="76200" marR="76200" marT="57150" marB="57150">
                    <a:solidFill>
                      <a:srgbClr val="FFFFFF"/>
                    </a:solidFill>
                  </a:tcPr>
                </a:tc>
                <a:tc>
                  <a:txBody>
                    <a:bodyPr wrap="square"/>
                    <a:lstStyle/>
                    <a:p>
                      <a:r>
                        <a:rPr sz="2000" b="0">
                          <a:solidFill>
                            <a:srgbClr val="111A14"/>
                          </a:solidFill>
                          <a:latin typeface="Arial"/>
                        </a:rPr>
                        <a:t>League play</a:t>
                      </a:r>
                    </a:p>
                  </a:txBody>
                  <a:tcPr marL="76200" marR="76200" marT="57150" marB="57150">
                    <a:solidFill>
                      <a:srgbClr val="FFFFFF"/>
                    </a:solidFill>
                  </a:tcPr>
                </a:tc>
                <a:tc>
                  <a:txBody>
                    <a:bodyPr wrap="square"/>
                    <a:lstStyle/>
                    <a:p>
                      <a:r>
                        <a:rPr sz="2000" b="0">
                          <a:solidFill>
                            <a:srgbClr val="111A14"/>
                          </a:solidFill>
                          <a:latin typeface="Arial"/>
                        </a:rPr>
                        <a:t>Build schedule; next round after the last</a:t>
                      </a:r>
                    </a:p>
                  </a:txBody>
                  <a:tcPr marL="76200" marR="76200" marT="57150" marB="57150">
                    <a:solidFill>
                      <a:srgbClr val="FFFFFF"/>
                    </a:solidFill>
                  </a:tcPr>
                </a:tc>
              </a:tr>
              <a:tr h="438150">
                <a:tc>
                  <a:txBody>
                    <a:bodyPr wrap="square"/>
                    <a:lstStyle/>
                    <a:p>
                      <a:r>
                        <a:rPr sz="2000" b="0">
                          <a:solidFill>
                            <a:srgbClr val="111A14"/>
                          </a:solidFill>
                          <a:latin typeface="Arial"/>
                        </a:rPr>
                        <a:t>Round robin + final</a:t>
                      </a:r>
                    </a:p>
                  </a:txBody>
                  <a:tcPr marL="76200" marR="76200" marT="57150" marB="57150">
                    <a:solidFill>
                      <a:srgbClr val="FFFFFF"/>
                    </a:solidFill>
                  </a:tcPr>
                </a:tc>
                <a:tc>
                  <a:txBody>
                    <a:bodyPr wrap="square"/>
                    <a:lstStyle/>
                    <a:p>
                      <a:r>
                        <a:rPr sz="2000" b="0">
                          <a:solidFill>
                            <a:srgbClr val="111A14"/>
                          </a:solidFill>
                          <a:latin typeface="Arial"/>
                        </a:rPr>
                        <a:t>Chess, arnis, kyorugi…</a:t>
                      </a:r>
                    </a:p>
                  </a:txBody>
                  <a:tcPr marL="76200" marR="76200" marT="57150" marB="57150">
                    <a:solidFill>
                      <a:srgbClr val="FFFFFF"/>
                    </a:solidFill>
                  </a:tcPr>
                </a:tc>
                <a:tc>
                  <a:txBody>
                    <a:bodyPr wrap="square"/>
                    <a:lstStyle/>
                    <a:p>
                      <a:r>
                        <a:rPr sz="2000" b="0">
                          <a:solidFill>
                            <a:srgbClr val="111A14"/>
                          </a:solidFill>
                          <a:latin typeface="Arial"/>
                        </a:rPr>
                        <a:t>Top 2 final, 3rd v 4th bronze</a:t>
                      </a:r>
                    </a:p>
                  </a:txBody>
                  <a:tcPr marL="76200" marR="76200" marT="57150" marB="57150">
                    <a:solidFill>
                      <a:srgbClr val="FFFFFF"/>
                    </a:solidFill>
                  </a:tcPr>
                </a:tc>
              </a:tr>
              <a:tr h="438150">
                <a:tc>
                  <a:txBody>
                    <a:bodyPr wrap="square"/>
                    <a:lstStyle/>
                    <a:p>
                      <a:r>
                        <a:rPr sz="2000" b="0">
                          <a:solidFill>
                            <a:srgbClr val="111A14"/>
                          </a:solidFill>
                          <a:latin typeface="Arial"/>
                        </a:rPr>
                        <a:t>Timed / measured</a:t>
                      </a:r>
                    </a:p>
                  </a:txBody>
                  <a:tcPr marL="76200" marR="76200" marT="57150" marB="57150">
                    <a:solidFill>
                      <a:srgbClr val="FFFFFF"/>
                    </a:solidFill>
                  </a:tcPr>
                </a:tc>
                <a:tc>
                  <a:txBody>
                    <a:bodyPr wrap="square"/>
                    <a:lstStyle/>
                    <a:p>
                      <a:r>
                        <a:rPr sz="2000" b="0">
                          <a:solidFill>
                            <a:srgbClr val="111A14"/>
                          </a:solidFill>
                          <a:latin typeface="Arial"/>
                        </a:rPr>
                        <a:t>Swimming, athletics</a:t>
                      </a:r>
                    </a:p>
                  </a:txBody>
                  <a:tcPr marL="76200" marR="76200" marT="57150" marB="57150">
                    <a:solidFill>
                      <a:srgbClr val="FFFFFF"/>
                    </a:solidFill>
                  </a:tcPr>
                </a:tc>
                <a:tc>
                  <a:txBody>
                    <a:bodyPr wrap="square"/>
                    <a:lstStyle/>
                    <a:p>
                      <a:r>
                        <a:rPr sz="2000" b="0">
                          <a:solidFill>
                            <a:srgbClr val="111A14"/>
                          </a:solidFill>
                          <a:latin typeface="Arial"/>
                        </a:rPr>
                        <a:t>Create contest; results rank</a:t>
                      </a:r>
                    </a:p>
                  </a:txBody>
                  <a:tcPr marL="76200" marR="76200" marT="57150" marB="57150">
                    <a:solidFill>
                      <a:srgbClr val="FFFFFF"/>
                    </a:solidFill>
                  </a:tcPr>
                </a:tc>
              </a:tr>
              <a:tr h="438150">
                <a:tc>
                  <a:txBody>
                    <a:bodyPr wrap="square"/>
                    <a:lstStyle/>
                    <a:p>
                      <a:r>
                        <a:rPr sz="2000" b="0">
                          <a:solidFill>
                            <a:srgbClr val="111A14"/>
                          </a:solidFill>
                          <a:latin typeface="Arial"/>
                        </a:rPr>
                        <a:t>Judged</a:t>
                      </a:r>
                    </a:p>
                  </a:txBody>
                  <a:tcPr marL="76200" marR="76200" marT="57150" marB="57150">
                    <a:solidFill>
                      <a:srgbClr val="FFFFFF"/>
                    </a:solidFill>
                  </a:tcPr>
                </a:tc>
                <a:tc>
                  <a:txBody>
                    <a:bodyPr wrap="square"/>
                    <a:lstStyle/>
                    <a:p>
                      <a:r>
                        <a:rPr sz="2000" b="0">
                          <a:solidFill>
                            <a:srgbClr val="111A14"/>
                          </a:solidFill>
                          <a:latin typeface="Arial"/>
                        </a:rPr>
                        <a:t>Dance, painting…</a:t>
                      </a:r>
                    </a:p>
                  </a:txBody>
                  <a:tcPr marL="76200" marR="76200" marT="57150" marB="57150">
                    <a:solidFill>
                      <a:srgbClr val="FFFFFF"/>
                    </a:solidFill>
                  </a:tcPr>
                </a:tc>
                <a:tc>
                  <a:txBody>
                    <a:bodyPr wrap="square"/>
                    <a:lstStyle/>
                    <a:p>
                      <a:r>
                        <a:rPr sz="2000" b="0">
                          <a:solidFill>
                            <a:srgbClr val="111A14"/>
                          </a:solidFill>
                          <a:latin typeface="Arial"/>
                        </a:rPr>
                        <a:t>Create contest; places entered</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Step 1 — Setup</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Edition: dates, medal points 5 / 3 / 1, map, schedule PDF</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Factions, venues, sports and events, athletes</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Team members chosen by the managers</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Publish the edition when ready</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Step 2 — Schedule import (CSV)</a:t>
            </a:r>
          </a:p>
        </p:txBody>
      </p:sp>
      <p:sp>
        <p:nvSpPr>
          <p:cNvPr id="6" name="TextBox 5"/>
          <p:cNvSpPr txBox="1"/>
          <p:nvPr/>
        </p:nvSpPr>
        <p:spPr>
          <a:xfrm>
            <a:off x="762000" y="1143000"/>
            <a:ext cx="10668000" cy="285750"/>
          </a:xfrm>
          <a:prstGeom prst="rect">
            <a:avLst/>
          </a:prstGeom>
          <a:noFill/>
        </p:spPr>
        <p:txBody>
          <a:bodyPr wrap="square" lIns="19050" rIns="19050" tIns="0" bIns="0" anchor="t">
            <a:spAutoFit/>
          </a:bodyPr>
          <a:lstStyle/>
          <a:p>
            <a:pPr algn="l">
              <a:lnSpc>
                <a:spcPct val="115000"/>
              </a:lnSpc>
            </a:pPr>
            <a:r>
              <a:rPr sz="1600" b="0">
                <a:solidFill>
                  <a:srgbClr val="556058"/>
                </a:solidFill>
                <a:latin typeface="Arial"/>
              </a:rPr>
              <a:t>Validated before import: dates in the edition, known names, different sides, duplicates skipped</a:t>
            </a:r>
          </a:p>
        </p:txBody>
      </p:sp>
      <p:graphicFrame>
        <p:nvGraphicFramePr>
          <p:cNvPr id="7" name="Table 6"/>
          <p:cNvGraphicFramePr>
            <a:graphicFrameLocks noGrp="1"/>
          </p:cNvGraphicFramePr>
          <p:nvPr/>
        </p:nvGraphicFramePr>
        <p:xfrm>
          <a:off x="666750" y="1524000"/>
          <a:ext cx="10858496" cy="1924050"/>
        </p:xfrm>
        <a:graphic>
          <a:graphicData uri="http://schemas.openxmlformats.org/drawingml/2006/table">
            <a:tbl>
              <a:tblPr firstRow="1" bandRow="1">
                <a:tableStyleId>{5C22544A-7EE6-4342-B048-85BDC9FD1C3A}</a:tableStyleId>
              </a:tblPr>
              <a:tblGrid>
                <a:gridCol w="1357312"/>
                <a:gridCol w="1357312"/>
                <a:gridCol w="1357312"/>
                <a:gridCol w="1357312"/>
                <a:gridCol w="1357312"/>
                <a:gridCol w="1357312"/>
                <a:gridCol w="1357312"/>
                <a:gridCol w="1357312"/>
              </a:tblGrid>
              <a:tr h="438150">
                <a:tc>
                  <a:txBody>
                    <a:bodyPr wrap="square"/>
                    <a:lstStyle/>
                    <a:p>
                      <a:r>
                        <a:rPr sz="2000" b="1">
                          <a:solidFill>
                            <a:srgbClr val="14361F"/>
                          </a:solidFill>
                          <a:latin typeface="Arial"/>
                        </a:rPr>
                        <a:t>date</a:t>
                      </a:r>
                    </a:p>
                  </a:txBody>
                  <a:tcPr marL="76200" marR="76200" marT="57150" marB="57150">
                    <a:solidFill>
                      <a:srgbClr val="E8F1E9"/>
                    </a:solidFill>
                  </a:tcPr>
                </a:tc>
                <a:tc>
                  <a:txBody>
                    <a:bodyPr wrap="square"/>
                    <a:lstStyle/>
                    <a:p>
                      <a:r>
                        <a:rPr sz="2000" b="1">
                          <a:solidFill>
                            <a:srgbClr val="14361F"/>
                          </a:solidFill>
                          <a:latin typeface="Arial"/>
                        </a:rPr>
                        <a:t>time</a:t>
                      </a:r>
                    </a:p>
                  </a:txBody>
                  <a:tcPr marL="76200" marR="76200" marT="57150" marB="57150">
                    <a:solidFill>
                      <a:srgbClr val="E8F1E9"/>
                    </a:solidFill>
                  </a:tcPr>
                </a:tc>
                <a:tc>
                  <a:txBody>
                    <a:bodyPr wrap="square"/>
                    <a:lstStyle/>
                    <a:p>
                      <a:r>
                        <a:rPr sz="2000" b="1">
                          <a:solidFill>
                            <a:srgbClr val="14361F"/>
                          </a:solidFill>
                          <a:latin typeface="Arial"/>
                        </a:rPr>
                        <a:t>sport</a:t>
                      </a:r>
                    </a:p>
                  </a:txBody>
                  <a:tcPr marL="76200" marR="76200" marT="57150" marB="57150">
                    <a:solidFill>
                      <a:srgbClr val="E8F1E9"/>
                    </a:solidFill>
                  </a:tcPr>
                </a:tc>
                <a:tc>
                  <a:txBody>
                    <a:bodyPr wrap="square"/>
                    <a:lstStyle/>
                    <a:p>
                      <a:r>
                        <a:rPr sz="2000" b="1">
                          <a:solidFill>
                            <a:srgbClr val="14361F"/>
                          </a:solidFill>
                          <a:latin typeface="Arial"/>
                        </a:rPr>
                        <a:t>event</a:t>
                      </a:r>
                    </a:p>
                  </a:txBody>
                  <a:tcPr marL="76200" marR="76200" marT="57150" marB="57150">
                    <a:solidFill>
                      <a:srgbClr val="E8F1E9"/>
                    </a:solidFill>
                  </a:tcPr>
                </a:tc>
                <a:tc>
                  <a:txBody>
                    <a:bodyPr wrap="square"/>
                    <a:lstStyle/>
                    <a:p>
                      <a:r>
                        <a:rPr sz="2000" b="1">
                          <a:solidFill>
                            <a:srgbClr val="14361F"/>
                          </a:solidFill>
                          <a:latin typeface="Arial"/>
                        </a:rPr>
                        <a:t>round</a:t>
                      </a:r>
                    </a:p>
                  </a:txBody>
                  <a:tcPr marL="76200" marR="76200" marT="57150" marB="57150">
                    <a:solidFill>
                      <a:srgbClr val="E8F1E9"/>
                    </a:solidFill>
                  </a:tcPr>
                </a:tc>
                <a:tc>
                  <a:txBody>
                    <a:bodyPr wrap="square"/>
                    <a:lstStyle/>
                    <a:p>
                      <a:r>
                        <a:rPr sz="2000" b="1">
                          <a:solidFill>
                            <a:srgbClr val="14361F"/>
                          </a:solidFill>
                          <a:latin typeface="Arial"/>
                        </a:rPr>
                        <a:t>side_a</a:t>
                      </a:r>
                    </a:p>
                  </a:txBody>
                  <a:tcPr marL="76200" marR="76200" marT="57150" marB="57150">
                    <a:solidFill>
                      <a:srgbClr val="E8F1E9"/>
                    </a:solidFill>
                  </a:tcPr>
                </a:tc>
                <a:tc>
                  <a:txBody>
                    <a:bodyPr wrap="square"/>
                    <a:lstStyle/>
                    <a:p>
                      <a:r>
                        <a:rPr sz="2000" b="1">
                          <a:solidFill>
                            <a:srgbClr val="14361F"/>
                          </a:solidFill>
                          <a:latin typeface="Arial"/>
                        </a:rPr>
                        <a:t>side_b</a:t>
                      </a:r>
                    </a:p>
                  </a:txBody>
                  <a:tcPr marL="76200" marR="76200" marT="57150" marB="57150">
                    <a:solidFill>
                      <a:srgbClr val="E8F1E9"/>
                    </a:solidFill>
                  </a:tcPr>
                </a:tc>
                <a:tc>
                  <a:txBody>
                    <a:bodyPr wrap="square"/>
                    <a:lstStyle/>
                    <a:p>
                      <a:r>
                        <a:rPr sz="2000" b="1">
                          <a:solidFill>
                            <a:srgbClr val="14361F"/>
                          </a:solidFill>
                          <a:latin typeface="Arial"/>
                        </a:rPr>
                        <a:t>venue</a:t>
                      </a:r>
                    </a:p>
                  </a:txBody>
                  <a:tcPr marL="76200" marR="76200" marT="57150" marB="57150">
                    <a:solidFill>
                      <a:srgbClr val="E8F1E9"/>
                    </a:solidFill>
                  </a:tcPr>
                </a:tc>
              </a:tr>
              <a:tr h="742950">
                <a:tc>
                  <a:txBody>
                    <a:bodyPr wrap="square"/>
                    <a:lstStyle/>
                    <a:p>
                      <a:r>
                        <a:rPr sz="2000" b="0">
                          <a:solidFill>
                            <a:srgbClr val="111A14"/>
                          </a:solidFill>
                          <a:latin typeface="Arial"/>
                        </a:rPr>
                        <a:t>2026-10-26</a:t>
                      </a:r>
                    </a:p>
                  </a:txBody>
                  <a:tcPr marL="76200" marR="76200" marT="57150" marB="57150">
                    <a:solidFill>
                      <a:srgbClr val="FFFFFF"/>
                    </a:solidFill>
                  </a:tcPr>
                </a:tc>
                <a:tc>
                  <a:txBody>
                    <a:bodyPr wrap="square"/>
                    <a:lstStyle/>
                    <a:p>
                      <a:r>
                        <a:rPr sz="2000" b="0">
                          <a:solidFill>
                            <a:srgbClr val="111A14"/>
                          </a:solidFill>
                          <a:latin typeface="Arial"/>
                        </a:rPr>
                        <a:t>08:00</a:t>
                      </a:r>
                    </a:p>
                  </a:txBody>
                  <a:tcPr marL="76200" marR="76200" marT="57150" marB="57150">
                    <a:solidFill>
                      <a:srgbClr val="FFFFFF"/>
                    </a:solidFill>
                  </a:tcPr>
                </a:tc>
                <a:tc>
                  <a:txBody>
                    <a:bodyPr wrap="square"/>
                    <a:lstStyle/>
                    <a:p>
                      <a:r>
                        <a:rPr sz="2000" b="0">
                          <a:solidFill>
                            <a:srgbClr val="111A14"/>
                          </a:solidFill>
                          <a:latin typeface="Arial"/>
                        </a:rPr>
                        <a:t>Basketball</a:t>
                      </a:r>
                    </a:p>
                  </a:txBody>
                  <a:tcPr marL="76200" marR="76200" marT="57150" marB="57150">
                    <a:solidFill>
                      <a:srgbClr val="FFFFFF"/>
                    </a:solidFill>
                  </a:tcPr>
                </a:tc>
                <a:tc>
                  <a:txBody>
                    <a:bodyPr wrap="square"/>
                    <a:lstStyle/>
                    <a:p>
                      <a:r>
                        <a:rPr sz="2000" b="0">
                          <a:solidFill>
                            <a:srgbClr val="111A14"/>
                          </a:solidFill>
                          <a:latin typeface="Arial"/>
                        </a:rPr>
                        <a:t>Men</a:t>
                      </a:r>
                    </a:p>
                  </a:txBody>
                  <a:tcPr marL="76200" marR="76200" marT="57150" marB="57150">
                    <a:solidFill>
                      <a:srgbClr val="FFFFFF"/>
                    </a:solidFill>
                  </a:tcPr>
                </a:tc>
                <a:tc>
                  <a:txBody>
                    <a:bodyPr wrap="square"/>
                    <a:lstStyle/>
                    <a:p>
                      <a:r>
                        <a:rPr sz="2000" b="0">
                          <a:solidFill>
                            <a:srgbClr val="111A14"/>
                          </a:solidFill>
                          <a:latin typeface="Arial"/>
                        </a:rPr>
                        <a:t>Semifinal 1</a:t>
                      </a:r>
                    </a:p>
                  </a:txBody>
                  <a:tcPr marL="76200" marR="76200" marT="57150" marB="57150">
                    <a:solidFill>
                      <a:srgbClr val="FFFFFF"/>
                    </a:solidFill>
                  </a:tcPr>
                </a:tc>
                <a:tc>
                  <a:txBody>
                    <a:bodyPr wrap="square"/>
                    <a:lstStyle/>
                    <a:p>
                      <a:r>
                        <a:rPr sz="2000" b="0">
                          <a:solidFill>
                            <a:srgbClr val="111A14"/>
                          </a:solidFill>
                          <a:latin typeface="Arial"/>
                        </a:rPr>
                        <a:t>Faction A</a:t>
                      </a:r>
                    </a:p>
                  </a:txBody>
                  <a:tcPr marL="76200" marR="76200" marT="57150" marB="57150">
                    <a:solidFill>
                      <a:srgbClr val="FFFFFF"/>
                    </a:solidFill>
                  </a:tcPr>
                </a:tc>
                <a:tc>
                  <a:txBody>
                    <a:bodyPr wrap="square"/>
                    <a:lstStyle/>
                    <a:p>
                      <a:r>
                        <a:rPr sz="2000" b="0">
                          <a:solidFill>
                            <a:srgbClr val="111A14"/>
                          </a:solidFill>
                          <a:latin typeface="Arial"/>
                        </a:rPr>
                        <a:t>Faction D</a:t>
                      </a:r>
                    </a:p>
                  </a:txBody>
                  <a:tcPr marL="76200" marR="76200" marT="57150" marB="57150">
                    <a:solidFill>
                      <a:srgbClr val="FFFFFF"/>
                    </a:solidFill>
                  </a:tcPr>
                </a:tc>
                <a:tc>
                  <a:txBody>
                    <a:bodyPr wrap="square"/>
                    <a:lstStyle/>
                    <a:p>
                      <a:r>
                        <a:rPr sz="2000" b="0">
                          <a:solidFill>
                            <a:srgbClr val="111A14"/>
                          </a:solidFill>
                          <a:latin typeface="Arial"/>
                        </a:rPr>
                        <a:t>Main Gym</a:t>
                      </a:r>
                    </a:p>
                  </a:txBody>
                  <a:tcPr marL="76200" marR="76200" marT="57150" marB="57150">
                    <a:solidFill>
                      <a:srgbClr val="FFFFFF"/>
                    </a:solidFill>
                  </a:tcPr>
                </a:tc>
              </a:tr>
              <a:tr h="742950">
                <a:tc>
                  <a:txBody>
                    <a:bodyPr wrap="square"/>
                    <a:lstStyle/>
                    <a:p>
                      <a:r>
                        <a:rPr sz="2000" b="0">
                          <a:solidFill>
                            <a:srgbClr val="111A14"/>
                          </a:solidFill>
                          <a:latin typeface="Arial"/>
                        </a:rPr>
                        <a:t>2026-10-26</a:t>
                      </a:r>
                    </a:p>
                  </a:txBody>
                  <a:tcPr marL="76200" marR="76200" marT="57150" marB="57150">
                    <a:solidFill>
                      <a:srgbClr val="FFFFFF"/>
                    </a:solidFill>
                  </a:tcPr>
                </a:tc>
                <a:tc>
                  <a:txBody>
                    <a:bodyPr wrap="square"/>
                    <a:lstStyle/>
                    <a:p>
                      <a:r>
                        <a:rPr sz="2000" b="0">
                          <a:solidFill>
                            <a:srgbClr val="111A14"/>
                          </a:solidFill>
                          <a:latin typeface="Arial"/>
                        </a:rPr>
                        <a:t>2:30 PM</a:t>
                      </a:r>
                    </a:p>
                  </a:txBody>
                  <a:tcPr marL="76200" marR="76200" marT="57150" marB="57150">
                    <a:solidFill>
                      <a:srgbClr val="FFFFFF"/>
                    </a:solidFill>
                  </a:tcPr>
                </a:tc>
                <a:tc>
                  <a:txBody>
                    <a:bodyPr wrap="square"/>
                    <a:lstStyle/>
                    <a:p>
                      <a:r>
                        <a:rPr sz="2000" b="0">
                          <a:solidFill>
                            <a:srgbClr val="111A14"/>
                          </a:solidFill>
                          <a:latin typeface="Arial"/>
                        </a:rPr>
                        <a:t>Volleyball</a:t>
                      </a:r>
                    </a:p>
                  </a:txBody>
                  <a:tcPr marL="76200" marR="76200" marT="57150" marB="57150">
                    <a:solidFill>
                      <a:srgbClr val="FFFFFF"/>
                    </a:solidFill>
                  </a:tcPr>
                </a:tc>
                <a:tc>
                  <a:txBody>
                    <a:bodyPr wrap="square"/>
                    <a:lstStyle/>
                    <a:p>
                      <a:r>
                        <a:rPr sz="2000" b="0">
                          <a:solidFill>
                            <a:srgbClr val="111A14"/>
                          </a:solidFill>
                          <a:latin typeface="Arial"/>
                        </a:rPr>
                        <a:t>Women</a:t>
                      </a:r>
                    </a:p>
                  </a:txBody>
                  <a:tcPr marL="76200" marR="76200" marT="57150" marB="57150">
                    <a:solidFill>
                      <a:srgbClr val="FFFFFF"/>
                    </a:solidFill>
                  </a:tcPr>
                </a:tc>
                <a:tc>
                  <a:txBody>
                    <a:bodyPr wrap="square"/>
                    <a:lstStyle/>
                    <a:p>
                      <a:r>
                        <a:rPr sz="2000" b="0">
                          <a:solidFill>
                            <a:srgbClr val="111A14"/>
                          </a:solidFill>
                          <a:latin typeface="Arial"/>
                        </a:rPr>
                        <a:t>Group A</a:t>
                      </a:r>
                    </a:p>
                  </a:txBody>
                  <a:tcPr marL="76200" marR="76200" marT="57150" marB="57150">
                    <a:solidFill>
                      <a:srgbClr val="FFFFFF"/>
                    </a:solidFill>
                  </a:tcPr>
                </a:tc>
                <a:tc>
                  <a:txBody>
                    <a:bodyPr wrap="square"/>
                    <a:lstStyle/>
                    <a:p>
                      <a:r>
                        <a:rPr sz="2000" b="0">
                          <a:solidFill>
                            <a:srgbClr val="111A14"/>
                          </a:solidFill>
                          <a:latin typeface="Arial"/>
                        </a:rPr>
                        <a:t>FA</a:t>
                      </a:r>
                    </a:p>
                  </a:txBody>
                  <a:tcPr marL="76200" marR="76200" marT="57150" marB="57150">
                    <a:solidFill>
                      <a:srgbClr val="FFFFFF"/>
                    </a:solidFill>
                  </a:tcPr>
                </a:tc>
                <a:tc>
                  <a:txBody>
                    <a:bodyPr wrap="square"/>
                    <a:lstStyle/>
                    <a:p>
                      <a:r>
                        <a:rPr sz="2000" b="0">
                          <a:solidFill>
                            <a:srgbClr val="111A14"/>
                          </a:solidFill>
                          <a:latin typeface="Arial"/>
                        </a:rPr>
                        <a:t>FB</a:t>
                      </a:r>
                    </a:p>
                  </a:txBody>
                  <a:tcPr marL="76200" marR="76200" marT="57150" marB="57150">
                    <a:solidFill>
                      <a:srgbClr val="FFFFFF"/>
                    </a:solidFill>
                  </a:tcPr>
                </a:tc>
                <a:tc>
                  <a:txBody>
                    <a:bodyPr wrap="square"/>
                    <a:lstStyle/>
                    <a:p>
                      <a:r>
                        <a:rPr sz="2000" b="0">
                          <a:solidFill>
                            <a:srgbClr val="111A14"/>
                          </a:solidFill>
                          <a:latin typeface="Arial"/>
                        </a:rPr>
                        <a:t>Annex Court</a:t>
                      </a:r>
                    </a:p>
                  </a:txBody>
                  <a:tcPr marL="76200" marR="76200" marT="57150" marB="57150">
                    <a:solidFill>
                      <a:srgbClr val="FFFFFF"/>
                    </a:solidFill>
                  </a:tcPr>
                </a:tc>
              </a:tr>
            </a:tbl>
          </a:graphicData>
        </a:graphic>
      </p:graphicFrame>
      <p:sp>
        <p:nvSpPr>
          <p:cNvPr id="8" name="TextBox 7"/>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9" name="TextBox 8"/>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Step 2 — Build schedule</a:t>
            </a:r>
          </a:p>
        </p:txBody>
      </p:sp>
      <p:pic>
        <p:nvPicPr>
          <p:cNvPr id="6" name="Picture 5" descr="crop-08.png"/>
          <p:cNvPicPr>
            <a:picLocks noChangeAspect="1"/>
          </p:cNvPicPr>
          <p:nvPr/>
        </p:nvPicPr>
        <p:blipFill>
          <a:blip r:embed="rId2"/>
          <a:stretch>
            <a:fillRect/>
          </a:stretch>
        </p:blipFill>
        <p:spPr>
          <a:xfrm>
            <a:off x="2856000" y="1143000"/>
            <a:ext cx="6480000" cy="3429000"/>
          </a:xfrm>
          <a:prstGeom prst="rect">
            <a:avLst/>
          </a:prstGeom>
        </p:spPr>
      </p:pic>
      <p:sp>
        <p:nvSpPr>
          <p:cNvPr id="7" name="Rectangle 6"/>
          <p:cNvSpPr/>
          <p:nvPr/>
        </p:nvSpPr>
        <p:spPr>
          <a:xfrm>
            <a:off x="2856000" y="1143000"/>
            <a:ext cx="6480000" cy="34290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100" y="498068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485775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Seeds 1 v 4 and 2 v 3; byes for odd fields</a:t>
            </a:r>
          </a:p>
        </p:txBody>
      </p:sp>
      <p:sp>
        <p:nvSpPr>
          <p:cNvPr id="10" name="Rectangle 9"/>
          <p:cNvSpPr/>
          <p:nvPr/>
        </p:nvSpPr>
        <p:spPr>
          <a:xfrm>
            <a:off x="800100" y="546963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534670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Winners and bronze-game losers filled automatically</a:t>
            </a:r>
          </a:p>
        </p:txBody>
      </p:sp>
      <p:sp>
        <p:nvSpPr>
          <p:cNvPr id="12" name="TextBox 11"/>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13" name="TextBox 12"/>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Step 3 — Live scores</a:t>
            </a:r>
          </a:p>
        </p:txBody>
      </p:sp>
      <p:sp>
        <p:nvSpPr>
          <p:cNvPr id="6" name="Rectangle 5"/>
          <p:cNvSpPr/>
          <p:nvPr/>
        </p:nvSpPr>
        <p:spPr>
          <a:xfrm>
            <a:off x="704850" y="1254759"/>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143000"/>
            <a:ext cx="60007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Start game → tap +1 / +2 / +3</a:t>
            </a:r>
          </a:p>
        </p:txBody>
      </p:sp>
      <p:sp>
        <p:nvSpPr>
          <p:cNvPr id="8" name="Rectangle 7"/>
          <p:cNvSpPr/>
          <p:nvPr/>
        </p:nvSpPr>
        <p:spPr>
          <a:xfrm>
            <a:off x="704850" y="1699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2500" y="1587500"/>
            <a:ext cx="60007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Saves after a short pause</a:t>
            </a:r>
          </a:p>
        </p:txBody>
      </p:sp>
      <p:sp>
        <p:nvSpPr>
          <p:cNvPr id="10" name="Rectangle 9"/>
          <p:cNvSpPr/>
          <p:nvPr/>
        </p:nvSpPr>
        <p:spPr>
          <a:xfrm>
            <a:off x="704850" y="21437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2032000"/>
            <a:ext cx="60007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Readers update within seconds</a:t>
            </a:r>
          </a:p>
        </p:txBody>
      </p:sp>
      <p:sp>
        <p:nvSpPr>
          <p:cNvPr id="12" name="Rectangle 11"/>
          <p:cNvSpPr/>
          <p:nvPr/>
        </p:nvSpPr>
        <p:spPr>
          <a:xfrm>
            <a:off x="704850" y="2588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2500" y="2476500"/>
            <a:ext cx="60007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Finish needs a winner in knockouts</a:t>
            </a:r>
          </a:p>
        </p:txBody>
      </p:sp>
      <p:pic>
        <p:nvPicPr>
          <p:cNvPr id="14" name="Picture 13" descr="adm-sk-scorekeeper-mobile.png"/>
          <p:cNvPicPr>
            <a:picLocks noChangeAspect="1"/>
          </p:cNvPicPr>
          <p:nvPr/>
        </p:nvPicPr>
        <p:blipFill>
          <a:blip r:embed="rId2"/>
          <a:stretch>
            <a:fillRect/>
          </a:stretch>
        </p:blipFill>
        <p:spPr>
          <a:xfrm>
            <a:off x="8184954" y="1143000"/>
            <a:ext cx="2394341" cy="5181600"/>
          </a:xfrm>
          <a:prstGeom prst="rect">
            <a:avLst/>
          </a:prstGeom>
        </p:spPr>
      </p:pic>
      <p:sp>
        <p:nvSpPr>
          <p:cNvPr id="15" name="Rectangle 14"/>
          <p:cNvSpPr/>
          <p:nvPr/>
        </p:nvSpPr>
        <p:spPr>
          <a:xfrm>
            <a:off x="8184954" y="1143000"/>
            <a:ext cx="2394341" cy="51816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17" name="TextBox 1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Step 3 — Contests</a:t>
            </a:r>
          </a:p>
        </p:txBody>
      </p:sp>
      <p:sp>
        <p:nvSpPr>
          <p:cNvPr id="6" name="Rectangle 5"/>
          <p:cNvSpPr/>
          <p:nvPr/>
        </p:nvSpPr>
        <p:spPr>
          <a:xfrm>
            <a:off x="704850" y="1254759"/>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143000"/>
            <a:ext cx="4667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One session, every faction</a:t>
            </a:r>
          </a:p>
        </p:txBody>
      </p:sp>
      <p:sp>
        <p:nvSpPr>
          <p:cNvPr id="8" name="Rectangle 7"/>
          <p:cNvSpPr/>
          <p:nvPr/>
        </p:nvSpPr>
        <p:spPr>
          <a:xfrm>
            <a:off x="704850" y="1699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2500" y="1587500"/>
            <a:ext cx="4667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Times or distances rank themselves</a:t>
            </a:r>
          </a:p>
        </p:txBody>
      </p:sp>
      <p:sp>
        <p:nvSpPr>
          <p:cNvPr id="10" name="Rectangle 9"/>
          <p:cNvSpPr/>
          <p:nvPr/>
        </p:nvSpPr>
        <p:spPr>
          <a:xfrm>
            <a:off x="704850" y="21437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2032000"/>
            <a:ext cx="4667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Judged: enter announced places</a:t>
            </a:r>
          </a:p>
        </p:txBody>
      </p:sp>
      <p:sp>
        <p:nvSpPr>
          <p:cNvPr id="12" name="Rectangle 11"/>
          <p:cNvSpPr/>
          <p:nvPr/>
        </p:nvSpPr>
        <p:spPr>
          <a:xfrm>
            <a:off x="704850" y="2588260"/>
            <a:ext cx="81280" cy="81280"/>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2500" y="2476500"/>
            <a:ext cx="4667250" cy="323850"/>
          </a:xfrm>
          <a:prstGeom prst="rect">
            <a:avLst/>
          </a:prstGeom>
          <a:noFill/>
        </p:spPr>
        <p:txBody>
          <a:bodyPr wrap="square" lIns="19050" rIns="19050" tIns="0" bIns="0" anchor="t">
            <a:spAutoFit/>
          </a:bodyPr>
          <a:lstStyle/>
          <a:p>
            <a:pPr algn="l">
              <a:lnSpc>
                <a:spcPct val="115000"/>
              </a:lnSpc>
            </a:pPr>
            <a:r>
              <a:rPr sz="2000" b="0">
                <a:solidFill>
                  <a:srgbClr val="111A14"/>
                </a:solidFill>
                <a:latin typeface="Arial"/>
              </a:rPr>
              <a:t>DNS / DNF / DQ get no place</a:t>
            </a:r>
          </a:p>
        </p:txBody>
      </p:sp>
      <p:pic>
        <p:nvPicPr>
          <p:cNvPr id="14" name="Picture 13" descr="crop-10.png"/>
          <p:cNvPicPr>
            <a:picLocks noChangeAspect="1"/>
          </p:cNvPicPr>
          <p:nvPr/>
        </p:nvPicPr>
        <p:blipFill>
          <a:blip r:embed="rId2"/>
          <a:stretch>
            <a:fillRect/>
          </a:stretch>
        </p:blipFill>
        <p:spPr>
          <a:xfrm>
            <a:off x="5905500" y="2582766"/>
            <a:ext cx="5619750" cy="2302066"/>
          </a:xfrm>
          <a:prstGeom prst="rect">
            <a:avLst/>
          </a:prstGeom>
        </p:spPr>
      </p:pic>
      <p:sp>
        <p:nvSpPr>
          <p:cNvPr id="15" name="Rectangle 14"/>
          <p:cNvSpPr/>
          <p:nvPr/>
        </p:nvSpPr>
        <p:spPr>
          <a:xfrm>
            <a:off x="5905500" y="2582766"/>
            <a:ext cx="5619750" cy="2302066"/>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17" name="TextBox 1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Step 4 — Confirm medals</a:t>
            </a:r>
          </a:p>
        </p:txBody>
      </p:sp>
      <p:pic>
        <p:nvPicPr>
          <p:cNvPr id="6" name="Picture 5" descr="crop-11.png"/>
          <p:cNvPicPr>
            <a:picLocks noChangeAspect="1"/>
          </p:cNvPicPr>
          <p:nvPr/>
        </p:nvPicPr>
        <p:blipFill>
          <a:blip r:embed="rId2"/>
          <a:stretch>
            <a:fillRect/>
          </a:stretch>
        </p:blipFill>
        <p:spPr>
          <a:xfrm>
            <a:off x="666750" y="1189759"/>
            <a:ext cx="10858500" cy="2763981"/>
          </a:xfrm>
          <a:prstGeom prst="rect">
            <a:avLst/>
          </a:prstGeom>
        </p:spPr>
      </p:pic>
      <p:sp>
        <p:nvSpPr>
          <p:cNvPr id="7" name="Rectangle 6"/>
          <p:cNvSpPr/>
          <p:nvPr/>
        </p:nvSpPr>
        <p:spPr>
          <a:xfrm>
            <a:off x="666750" y="1189759"/>
            <a:ext cx="10858500" cy="2763981"/>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100" y="440918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428625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“Ready to confirm” after the last game; podium suggested</a:t>
            </a:r>
          </a:p>
        </p:txBody>
      </p:sp>
      <p:sp>
        <p:nvSpPr>
          <p:cNvPr id="10" name="Rectangle 9"/>
          <p:cNvSpPr/>
          <p:nvPr/>
        </p:nvSpPr>
        <p:spPr>
          <a:xfrm>
            <a:off x="800100" y="4898135"/>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477520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Choose athletes for individual events, then Save results</a:t>
            </a:r>
          </a:p>
        </p:txBody>
      </p:sp>
      <p:sp>
        <p:nvSpPr>
          <p:cNvPr id="12" name="TextBox 11"/>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13" name="TextBox 12"/>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Sample walkthrough (fictional)</a:t>
            </a:r>
          </a:p>
        </p:txBody>
      </p:sp>
      <p:graphicFrame>
        <p:nvGraphicFramePr>
          <p:cNvPr id="6" name="Table 5"/>
          <p:cNvGraphicFramePr>
            <a:graphicFrameLocks noGrp="1"/>
          </p:cNvGraphicFramePr>
          <p:nvPr/>
        </p:nvGraphicFramePr>
        <p:xfrm>
          <a:off x="666750" y="1143000"/>
          <a:ext cx="10858498" cy="2057400"/>
        </p:xfrm>
        <a:graphic>
          <a:graphicData uri="http://schemas.openxmlformats.org/drawingml/2006/table">
            <a:tbl>
              <a:tblPr firstRow="1" bandRow="1">
                <a:tableStyleId>{5C22544A-7EE6-4342-B048-85BDC9FD1C3A}</a:tableStyleId>
              </a:tblPr>
              <a:tblGrid>
                <a:gridCol w="2375296"/>
                <a:gridCol w="5089921"/>
                <a:gridCol w="3393281"/>
              </a:tblGrid>
              <a:tr h="438150">
                <a:tc>
                  <a:txBody>
                    <a:bodyPr wrap="square"/>
                    <a:lstStyle/>
                    <a:p>
                      <a:r>
                        <a:rPr sz="2000" b="1">
                          <a:solidFill>
                            <a:srgbClr val="14361F"/>
                          </a:solidFill>
                          <a:latin typeface="Arial"/>
                        </a:rPr>
                        <a:t>Event</a:t>
                      </a:r>
                    </a:p>
                  </a:txBody>
                  <a:tcPr marL="76200" marR="76200" marT="57150" marB="57150">
                    <a:solidFill>
                      <a:srgbClr val="E8F1E9"/>
                    </a:solidFill>
                  </a:tcPr>
                </a:tc>
                <a:tc>
                  <a:txBody>
                    <a:bodyPr wrap="square"/>
                    <a:lstStyle/>
                    <a:p>
                      <a:r>
                        <a:rPr sz="2000" b="1">
                          <a:solidFill>
                            <a:srgbClr val="14361F"/>
                          </a:solidFill>
                          <a:latin typeface="Arial"/>
                        </a:rPr>
                        <a:t>Result</a:t>
                      </a:r>
                    </a:p>
                  </a:txBody>
                  <a:tcPr marL="76200" marR="76200" marT="57150" marB="57150">
                    <a:solidFill>
                      <a:srgbClr val="E8F1E9"/>
                    </a:solidFill>
                  </a:tcPr>
                </a:tc>
                <a:tc>
                  <a:txBody>
                    <a:bodyPr wrap="square"/>
                    <a:lstStyle/>
                    <a:p>
                      <a:r>
                        <a:rPr sz="2000" b="1">
                          <a:solidFill>
                            <a:srgbClr val="14361F"/>
                          </a:solidFill>
                          <a:latin typeface="Arial"/>
                        </a:rPr>
                        <a:t>Medals</a:t>
                      </a:r>
                    </a:p>
                  </a:txBody>
                  <a:tcPr marL="76200" marR="76200" marT="57150" marB="57150">
                    <a:solidFill>
                      <a:srgbClr val="E8F1E9"/>
                    </a:solidFill>
                  </a:tcPr>
                </a:tc>
              </a:tr>
              <a:tr h="742950">
                <a:tc>
                  <a:txBody>
                    <a:bodyPr wrap="square"/>
                    <a:lstStyle/>
                    <a:p>
                      <a:r>
                        <a:rPr sz="2000" b="0">
                          <a:solidFill>
                            <a:srgbClr val="111A14"/>
                          </a:solidFill>
                          <a:latin typeface="Arial"/>
                        </a:rPr>
                        <a:t>Basketball Men</a:t>
                      </a:r>
                    </a:p>
                  </a:txBody>
                  <a:tcPr marL="76200" marR="76200" marT="57150" marB="57150">
                    <a:solidFill>
                      <a:srgbClr val="FFFFFF"/>
                    </a:solidFill>
                  </a:tcPr>
                </a:tc>
                <a:tc>
                  <a:txBody>
                    <a:bodyPr wrap="square"/>
                    <a:lstStyle/>
                    <a:p>
                      <a:r>
                        <a:rPr sz="2000" b="0">
                          <a:solidFill>
                            <a:srgbClr val="111A14"/>
                          </a:solidFill>
                          <a:latin typeface="Arial"/>
                        </a:rPr>
                        <a:t>Final: Faction A 78–71 Faction B; bronze: Faction C</a:t>
                      </a:r>
                    </a:p>
                  </a:txBody>
                  <a:tcPr marL="76200" marR="76200" marT="57150" marB="57150">
                    <a:solidFill>
                      <a:srgbClr val="FFFFFF"/>
                    </a:solidFill>
                  </a:tcPr>
                </a:tc>
                <a:tc>
                  <a:txBody>
                    <a:bodyPr wrap="square"/>
                    <a:lstStyle/>
                    <a:p>
                      <a:r>
                        <a:rPr sz="2000" b="0">
                          <a:solidFill>
                            <a:srgbClr val="111A14"/>
                          </a:solidFill>
                          <a:latin typeface="Arial"/>
                        </a:rPr>
                        <a:t>A gold, B silver, C bronze</a:t>
                      </a:r>
                    </a:p>
                  </a:txBody>
                  <a:tcPr marL="76200" marR="76200" marT="57150" marB="57150">
                    <a:solidFill>
                      <a:srgbClr val="FFFFFF"/>
                    </a:solidFill>
                  </a:tcPr>
                </a:tc>
              </a:tr>
              <a:tr h="438150">
                <a:tc>
                  <a:txBody>
                    <a:bodyPr wrap="square"/>
                    <a:lstStyle/>
                    <a:p>
                      <a:r>
                        <a:rPr sz="2000" b="0">
                          <a:solidFill>
                            <a:srgbClr val="111A14"/>
                          </a:solidFill>
                          <a:latin typeface="Arial"/>
                        </a:rPr>
                        <a:t>50m Free Women</a:t>
                      </a:r>
                    </a:p>
                  </a:txBody>
                  <a:tcPr marL="76200" marR="76200" marT="57150" marB="57150">
                    <a:solidFill>
                      <a:srgbClr val="FFFFFF"/>
                    </a:solidFill>
                  </a:tcPr>
                </a:tc>
                <a:tc>
                  <a:txBody>
                    <a:bodyPr wrap="square"/>
                    <a:lstStyle/>
                    <a:p>
                      <a:r>
                        <a:rPr sz="2000" b="0">
                          <a:solidFill>
                            <a:srgbClr val="111A14"/>
                          </a:solidFill>
                          <a:latin typeface="Arial"/>
                        </a:rPr>
                        <a:t>Times: B 30.10, A 31.20, C 31.45, D DNF</a:t>
                      </a:r>
                    </a:p>
                  </a:txBody>
                  <a:tcPr marL="76200" marR="76200" marT="57150" marB="57150">
                    <a:solidFill>
                      <a:srgbClr val="FFFFFF"/>
                    </a:solidFill>
                  </a:tcPr>
                </a:tc>
                <a:tc>
                  <a:txBody>
                    <a:bodyPr wrap="square"/>
                    <a:lstStyle/>
                    <a:p>
                      <a:r>
                        <a:rPr sz="2000" b="0">
                          <a:solidFill>
                            <a:srgbClr val="111A14"/>
                          </a:solidFill>
                          <a:latin typeface="Arial"/>
                        </a:rPr>
                        <a:t>B gold, A silver, C bronze</a:t>
                      </a:r>
                    </a:p>
                  </a:txBody>
                  <a:tcPr marL="76200" marR="76200" marT="57150" marB="57150">
                    <a:solidFill>
                      <a:srgbClr val="FFFFFF"/>
                    </a:solidFill>
                  </a:tcPr>
                </a:tc>
              </a:tr>
              <a:tr h="438150">
                <a:tc>
                  <a:txBody>
                    <a:bodyPr wrap="square"/>
                    <a:lstStyle/>
                    <a:p>
                      <a:r>
                        <a:rPr sz="2000" b="0">
                          <a:solidFill>
                            <a:srgbClr val="111A14"/>
                          </a:solidFill>
                          <a:latin typeface="Arial"/>
                        </a:rPr>
                        <a:t>Hip-hop</a:t>
                      </a:r>
                    </a:p>
                  </a:txBody>
                  <a:tcPr marL="76200" marR="76200" marT="57150" marB="57150">
                    <a:solidFill>
                      <a:srgbClr val="FFFFFF"/>
                    </a:solidFill>
                  </a:tcPr>
                </a:tc>
                <a:tc>
                  <a:txBody>
                    <a:bodyPr wrap="square"/>
                    <a:lstStyle/>
                    <a:p>
                      <a:r>
                        <a:rPr sz="2000" b="0">
                          <a:solidFill>
                            <a:srgbClr val="111A14"/>
                          </a:solidFill>
                          <a:latin typeface="Arial"/>
                        </a:rPr>
                        <a:t>Judges: C 1st, A 2nd, D 3rd</a:t>
                      </a:r>
                    </a:p>
                  </a:txBody>
                  <a:tcPr marL="76200" marR="76200" marT="57150" marB="57150">
                    <a:solidFill>
                      <a:srgbClr val="FFFFFF"/>
                    </a:solidFill>
                  </a:tcPr>
                </a:tc>
                <a:tc>
                  <a:txBody>
                    <a:bodyPr wrap="square"/>
                    <a:lstStyle/>
                    <a:p>
                      <a:r>
                        <a:rPr sz="2000" b="0">
                          <a:solidFill>
                            <a:srgbClr val="111A14"/>
                          </a:solidFill>
                          <a:latin typeface="Arial"/>
                        </a:rPr>
                        <a:t>C gold, A silver, D bronze</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Resulting medal table (5 / 3 / 1)</a:t>
            </a:r>
          </a:p>
        </p:txBody>
      </p:sp>
      <p:graphicFrame>
        <p:nvGraphicFramePr>
          <p:cNvPr id="6" name="Table 5"/>
          <p:cNvGraphicFramePr>
            <a:graphicFrameLocks noGrp="1"/>
          </p:cNvGraphicFramePr>
          <p:nvPr/>
        </p:nvGraphicFramePr>
        <p:xfrm>
          <a:off x="666750" y="1143000"/>
          <a:ext cx="10858500" cy="2190750"/>
        </p:xfrm>
        <a:graphic>
          <a:graphicData uri="http://schemas.openxmlformats.org/drawingml/2006/table">
            <a:tbl>
              <a:tblPr firstRow="1" bandRow="1">
                <a:tableStyleId>{5C22544A-7EE6-4342-B048-85BDC9FD1C3A}</a:tableStyleId>
              </a:tblPr>
              <a:tblGrid>
                <a:gridCol w="1809750"/>
                <a:gridCol w="1809750"/>
                <a:gridCol w="1809750"/>
                <a:gridCol w="1809750"/>
                <a:gridCol w="1809750"/>
                <a:gridCol w="1809750"/>
              </a:tblGrid>
              <a:tr h="438150">
                <a:tc>
                  <a:txBody>
                    <a:bodyPr wrap="square"/>
                    <a:lstStyle/>
                    <a:p>
                      <a:r>
                        <a:rPr sz="2000" b="1">
                          <a:solidFill>
                            <a:srgbClr val="14361F"/>
                          </a:solidFill>
                          <a:latin typeface="Arial"/>
                        </a:rPr>
                        <a:t>Rank</a:t>
                      </a:r>
                    </a:p>
                  </a:txBody>
                  <a:tcPr marL="76200" marR="76200" marT="57150" marB="57150">
                    <a:solidFill>
                      <a:srgbClr val="E8F1E9"/>
                    </a:solidFill>
                  </a:tcPr>
                </a:tc>
                <a:tc>
                  <a:txBody>
                    <a:bodyPr wrap="square"/>
                    <a:lstStyle/>
                    <a:p>
                      <a:r>
                        <a:rPr sz="2000" b="1">
                          <a:solidFill>
                            <a:srgbClr val="14361F"/>
                          </a:solidFill>
                          <a:latin typeface="Arial"/>
                        </a:rPr>
                        <a:t>Faction</a:t>
                      </a:r>
                    </a:p>
                  </a:txBody>
                  <a:tcPr marL="76200" marR="76200" marT="57150" marB="57150">
                    <a:solidFill>
                      <a:srgbClr val="E8F1E9"/>
                    </a:solidFill>
                  </a:tcPr>
                </a:tc>
                <a:tc>
                  <a:txBody>
                    <a:bodyPr wrap="square"/>
                    <a:lstStyle/>
                    <a:p>
                      <a:r>
                        <a:rPr sz="2000" b="1">
                          <a:solidFill>
                            <a:srgbClr val="14361F"/>
                          </a:solidFill>
                          <a:latin typeface="Arial"/>
                        </a:rPr>
                        <a:t>Gold</a:t>
                      </a:r>
                    </a:p>
                  </a:txBody>
                  <a:tcPr marL="76200" marR="76200" marT="57150" marB="57150">
                    <a:solidFill>
                      <a:srgbClr val="E8F1E9"/>
                    </a:solidFill>
                  </a:tcPr>
                </a:tc>
                <a:tc>
                  <a:txBody>
                    <a:bodyPr wrap="square"/>
                    <a:lstStyle/>
                    <a:p>
                      <a:r>
                        <a:rPr sz="2000" b="1">
                          <a:solidFill>
                            <a:srgbClr val="14361F"/>
                          </a:solidFill>
                          <a:latin typeface="Arial"/>
                        </a:rPr>
                        <a:t>Silver</a:t>
                      </a:r>
                    </a:p>
                  </a:txBody>
                  <a:tcPr marL="76200" marR="76200" marT="57150" marB="57150">
                    <a:solidFill>
                      <a:srgbClr val="E8F1E9"/>
                    </a:solidFill>
                  </a:tcPr>
                </a:tc>
                <a:tc>
                  <a:txBody>
                    <a:bodyPr wrap="square"/>
                    <a:lstStyle/>
                    <a:p>
                      <a:r>
                        <a:rPr sz="2000" b="1">
                          <a:solidFill>
                            <a:srgbClr val="14361F"/>
                          </a:solidFill>
                          <a:latin typeface="Arial"/>
                        </a:rPr>
                        <a:t>Bronze</a:t>
                      </a:r>
                    </a:p>
                  </a:txBody>
                  <a:tcPr marL="76200" marR="76200" marT="57150" marB="57150">
                    <a:solidFill>
                      <a:srgbClr val="E8F1E9"/>
                    </a:solidFill>
                  </a:tcPr>
                </a:tc>
                <a:tc>
                  <a:txBody>
                    <a:bodyPr wrap="square"/>
                    <a:lstStyle/>
                    <a:p>
                      <a:r>
                        <a:rPr sz="2000" b="1">
                          <a:solidFill>
                            <a:srgbClr val="14361F"/>
                          </a:solidFill>
                          <a:latin typeface="Arial"/>
                        </a:rPr>
                        <a:t>Points</a:t>
                      </a:r>
                    </a:p>
                  </a:txBody>
                  <a:tcPr marL="76200" marR="76200" marT="57150" marB="57150">
                    <a:solidFill>
                      <a:srgbClr val="E8F1E9"/>
                    </a:solidFill>
                  </a:tcPr>
                </a:tc>
              </a:tr>
              <a:tr h="438150">
                <a:tc>
                  <a:txBody>
                    <a:bodyPr wrap="square"/>
                    <a:lstStyle/>
                    <a:p>
                      <a:r>
                        <a:rPr sz="2000" b="0">
                          <a:solidFill>
                            <a:srgbClr val="111A14"/>
                          </a:solidFill>
                          <a:latin typeface="Arial"/>
                        </a:rPr>
                        <a:t>1</a:t>
                      </a:r>
                    </a:p>
                  </a:txBody>
                  <a:tcPr marL="76200" marR="76200" marT="57150" marB="57150">
                    <a:solidFill>
                      <a:srgbClr val="FFFFFF"/>
                    </a:solidFill>
                  </a:tcPr>
                </a:tc>
                <a:tc>
                  <a:txBody>
                    <a:bodyPr wrap="square"/>
                    <a:lstStyle/>
                    <a:p>
                      <a:r>
                        <a:rPr sz="2000" b="0">
                          <a:solidFill>
                            <a:srgbClr val="111A14"/>
                          </a:solidFill>
                          <a:latin typeface="Arial"/>
                        </a:rPr>
                        <a:t>Faction A</a:t>
                      </a:r>
                    </a:p>
                  </a:txBody>
                  <a:tcPr marL="76200" marR="76200" marT="57150" marB="57150">
                    <a:solidFill>
                      <a:srgbClr val="FFFFFF"/>
                    </a:solidFill>
                  </a:tcPr>
                </a:tc>
                <a:tc>
                  <a:txBody>
                    <a:bodyPr wrap="square"/>
                    <a:lstStyle/>
                    <a:p>
                      <a:r>
                        <a:rPr sz="2000" b="0">
                          <a:solidFill>
                            <a:srgbClr val="111A14"/>
                          </a:solidFill>
                          <a:latin typeface="Arial"/>
                        </a:rPr>
                        <a:t>1</a:t>
                      </a:r>
                    </a:p>
                  </a:txBody>
                  <a:tcPr marL="76200" marR="76200" marT="57150" marB="57150">
                    <a:solidFill>
                      <a:srgbClr val="FFFFFF"/>
                    </a:solidFill>
                  </a:tcPr>
                </a:tc>
                <a:tc>
                  <a:txBody>
                    <a:bodyPr wrap="square"/>
                    <a:lstStyle/>
                    <a:p>
                      <a:r>
                        <a:rPr sz="2000" b="0">
                          <a:solidFill>
                            <a:srgbClr val="111A14"/>
                          </a:solidFill>
                          <a:latin typeface="Arial"/>
                        </a:rPr>
                        <a:t>2</a:t>
                      </a:r>
                    </a:p>
                  </a:txBody>
                  <a:tcPr marL="76200" marR="76200" marT="57150" marB="57150">
                    <a:solidFill>
                      <a:srgbClr val="FFFFFF"/>
                    </a:solidFill>
                  </a:tcPr>
                </a:tc>
                <a:tc>
                  <a:txBody>
                    <a:bodyPr wrap="square"/>
                    <a:lstStyle/>
                    <a:p>
                      <a:r>
                        <a:rPr sz="2000" b="0">
                          <a:solidFill>
                            <a:srgbClr val="111A14"/>
                          </a:solidFill>
                          <a:latin typeface="Arial"/>
                        </a:rPr>
                        <a:t>0</a:t>
                      </a:r>
                    </a:p>
                  </a:txBody>
                  <a:tcPr marL="76200" marR="76200" marT="57150" marB="57150">
                    <a:solidFill>
                      <a:srgbClr val="FFFFFF"/>
                    </a:solidFill>
                  </a:tcPr>
                </a:tc>
                <a:tc>
                  <a:txBody>
                    <a:bodyPr wrap="square"/>
                    <a:lstStyle/>
                    <a:p>
                      <a:r>
                        <a:rPr sz="2000" b="0">
                          <a:solidFill>
                            <a:srgbClr val="111A14"/>
                          </a:solidFill>
                          <a:latin typeface="Arial"/>
                        </a:rPr>
                        <a:t>11</a:t>
                      </a:r>
                    </a:p>
                  </a:txBody>
                  <a:tcPr marL="76200" marR="76200" marT="57150" marB="57150">
                    <a:solidFill>
                      <a:srgbClr val="FFFFFF"/>
                    </a:solidFill>
                  </a:tcPr>
                </a:tc>
              </a:tr>
              <a:tr h="438150">
                <a:tc>
                  <a:txBody>
                    <a:bodyPr wrap="square"/>
                    <a:lstStyle/>
                    <a:p>
                      <a:r>
                        <a:rPr sz="2000" b="0">
                          <a:solidFill>
                            <a:srgbClr val="111A14"/>
                          </a:solidFill>
                          <a:latin typeface="Arial"/>
                        </a:rPr>
                        <a:t>2</a:t>
                      </a:r>
                    </a:p>
                  </a:txBody>
                  <a:tcPr marL="76200" marR="76200" marT="57150" marB="57150">
                    <a:solidFill>
                      <a:srgbClr val="FFFFFF"/>
                    </a:solidFill>
                  </a:tcPr>
                </a:tc>
                <a:tc>
                  <a:txBody>
                    <a:bodyPr wrap="square"/>
                    <a:lstStyle/>
                    <a:p>
                      <a:r>
                        <a:rPr sz="2000" b="0">
                          <a:solidFill>
                            <a:srgbClr val="111A14"/>
                          </a:solidFill>
                          <a:latin typeface="Arial"/>
                        </a:rPr>
                        <a:t>Faction B</a:t>
                      </a:r>
                    </a:p>
                  </a:txBody>
                  <a:tcPr marL="76200" marR="76200" marT="57150" marB="57150">
                    <a:solidFill>
                      <a:srgbClr val="FFFFFF"/>
                    </a:solidFill>
                  </a:tcPr>
                </a:tc>
                <a:tc>
                  <a:txBody>
                    <a:bodyPr wrap="square"/>
                    <a:lstStyle/>
                    <a:p>
                      <a:r>
                        <a:rPr sz="2000" b="0">
                          <a:solidFill>
                            <a:srgbClr val="111A14"/>
                          </a:solidFill>
                          <a:latin typeface="Arial"/>
                        </a:rPr>
                        <a:t>1</a:t>
                      </a:r>
                    </a:p>
                  </a:txBody>
                  <a:tcPr marL="76200" marR="76200" marT="57150" marB="57150">
                    <a:solidFill>
                      <a:srgbClr val="FFFFFF"/>
                    </a:solidFill>
                  </a:tcPr>
                </a:tc>
                <a:tc>
                  <a:txBody>
                    <a:bodyPr wrap="square"/>
                    <a:lstStyle/>
                    <a:p>
                      <a:r>
                        <a:rPr sz="2000" b="0">
                          <a:solidFill>
                            <a:srgbClr val="111A14"/>
                          </a:solidFill>
                          <a:latin typeface="Arial"/>
                        </a:rPr>
                        <a:t>1</a:t>
                      </a:r>
                    </a:p>
                  </a:txBody>
                  <a:tcPr marL="76200" marR="76200" marT="57150" marB="57150">
                    <a:solidFill>
                      <a:srgbClr val="FFFFFF"/>
                    </a:solidFill>
                  </a:tcPr>
                </a:tc>
                <a:tc>
                  <a:txBody>
                    <a:bodyPr wrap="square"/>
                    <a:lstStyle/>
                    <a:p>
                      <a:r>
                        <a:rPr sz="2000" b="0">
                          <a:solidFill>
                            <a:srgbClr val="111A14"/>
                          </a:solidFill>
                          <a:latin typeface="Arial"/>
                        </a:rPr>
                        <a:t>0</a:t>
                      </a:r>
                    </a:p>
                  </a:txBody>
                  <a:tcPr marL="76200" marR="76200" marT="57150" marB="57150">
                    <a:solidFill>
                      <a:srgbClr val="FFFFFF"/>
                    </a:solidFill>
                  </a:tcPr>
                </a:tc>
                <a:tc>
                  <a:txBody>
                    <a:bodyPr wrap="square"/>
                    <a:lstStyle/>
                    <a:p>
                      <a:r>
                        <a:rPr sz="2000" b="0">
                          <a:solidFill>
                            <a:srgbClr val="111A14"/>
                          </a:solidFill>
                          <a:latin typeface="Arial"/>
                        </a:rPr>
                        <a:t>8</a:t>
                      </a:r>
                    </a:p>
                  </a:txBody>
                  <a:tcPr marL="76200" marR="76200" marT="57150" marB="57150">
                    <a:solidFill>
                      <a:srgbClr val="FFFFFF"/>
                    </a:solidFill>
                  </a:tcPr>
                </a:tc>
              </a:tr>
              <a:tr h="438150">
                <a:tc>
                  <a:txBody>
                    <a:bodyPr wrap="square"/>
                    <a:lstStyle/>
                    <a:p>
                      <a:r>
                        <a:rPr sz="2000" b="0">
                          <a:solidFill>
                            <a:srgbClr val="111A14"/>
                          </a:solidFill>
                          <a:latin typeface="Arial"/>
                        </a:rPr>
                        <a:t>3</a:t>
                      </a:r>
                    </a:p>
                  </a:txBody>
                  <a:tcPr marL="76200" marR="76200" marT="57150" marB="57150">
                    <a:solidFill>
                      <a:srgbClr val="FFFFFF"/>
                    </a:solidFill>
                  </a:tcPr>
                </a:tc>
                <a:tc>
                  <a:txBody>
                    <a:bodyPr wrap="square"/>
                    <a:lstStyle/>
                    <a:p>
                      <a:r>
                        <a:rPr sz="2000" b="0">
                          <a:solidFill>
                            <a:srgbClr val="111A14"/>
                          </a:solidFill>
                          <a:latin typeface="Arial"/>
                        </a:rPr>
                        <a:t>Faction C</a:t>
                      </a:r>
                    </a:p>
                  </a:txBody>
                  <a:tcPr marL="76200" marR="76200" marT="57150" marB="57150">
                    <a:solidFill>
                      <a:srgbClr val="FFFFFF"/>
                    </a:solidFill>
                  </a:tcPr>
                </a:tc>
                <a:tc>
                  <a:txBody>
                    <a:bodyPr wrap="square"/>
                    <a:lstStyle/>
                    <a:p>
                      <a:r>
                        <a:rPr sz="2000" b="0">
                          <a:solidFill>
                            <a:srgbClr val="111A14"/>
                          </a:solidFill>
                          <a:latin typeface="Arial"/>
                        </a:rPr>
                        <a:t>1</a:t>
                      </a:r>
                    </a:p>
                  </a:txBody>
                  <a:tcPr marL="76200" marR="76200" marT="57150" marB="57150">
                    <a:solidFill>
                      <a:srgbClr val="FFFFFF"/>
                    </a:solidFill>
                  </a:tcPr>
                </a:tc>
                <a:tc>
                  <a:txBody>
                    <a:bodyPr wrap="square"/>
                    <a:lstStyle/>
                    <a:p>
                      <a:r>
                        <a:rPr sz="2000" b="0">
                          <a:solidFill>
                            <a:srgbClr val="111A14"/>
                          </a:solidFill>
                          <a:latin typeface="Arial"/>
                        </a:rPr>
                        <a:t>0</a:t>
                      </a:r>
                    </a:p>
                  </a:txBody>
                  <a:tcPr marL="76200" marR="76200" marT="57150" marB="57150">
                    <a:solidFill>
                      <a:srgbClr val="FFFFFF"/>
                    </a:solidFill>
                  </a:tcPr>
                </a:tc>
                <a:tc>
                  <a:txBody>
                    <a:bodyPr wrap="square"/>
                    <a:lstStyle/>
                    <a:p>
                      <a:r>
                        <a:rPr sz="2000" b="0">
                          <a:solidFill>
                            <a:srgbClr val="111A14"/>
                          </a:solidFill>
                          <a:latin typeface="Arial"/>
                        </a:rPr>
                        <a:t>1</a:t>
                      </a:r>
                    </a:p>
                  </a:txBody>
                  <a:tcPr marL="76200" marR="76200" marT="57150" marB="57150">
                    <a:solidFill>
                      <a:srgbClr val="FFFFFF"/>
                    </a:solidFill>
                  </a:tcPr>
                </a:tc>
                <a:tc>
                  <a:txBody>
                    <a:bodyPr wrap="square"/>
                    <a:lstStyle/>
                    <a:p>
                      <a:r>
                        <a:rPr sz="2000" b="0">
                          <a:solidFill>
                            <a:srgbClr val="111A14"/>
                          </a:solidFill>
                          <a:latin typeface="Arial"/>
                        </a:rPr>
                        <a:t>6</a:t>
                      </a:r>
                    </a:p>
                  </a:txBody>
                  <a:tcPr marL="76200" marR="76200" marT="57150" marB="57150">
                    <a:solidFill>
                      <a:srgbClr val="FFFFFF"/>
                    </a:solidFill>
                  </a:tcPr>
                </a:tc>
              </a:tr>
              <a:tr h="438150">
                <a:tc>
                  <a:txBody>
                    <a:bodyPr wrap="square"/>
                    <a:lstStyle/>
                    <a:p>
                      <a:r>
                        <a:rPr sz="2000" b="0">
                          <a:solidFill>
                            <a:srgbClr val="111A14"/>
                          </a:solidFill>
                          <a:latin typeface="Arial"/>
                        </a:rPr>
                        <a:t>4</a:t>
                      </a:r>
                    </a:p>
                  </a:txBody>
                  <a:tcPr marL="76200" marR="76200" marT="57150" marB="57150">
                    <a:solidFill>
                      <a:srgbClr val="FFFFFF"/>
                    </a:solidFill>
                  </a:tcPr>
                </a:tc>
                <a:tc>
                  <a:txBody>
                    <a:bodyPr wrap="square"/>
                    <a:lstStyle/>
                    <a:p>
                      <a:r>
                        <a:rPr sz="2000" b="0">
                          <a:solidFill>
                            <a:srgbClr val="111A14"/>
                          </a:solidFill>
                          <a:latin typeface="Arial"/>
                        </a:rPr>
                        <a:t>Faction D</a:t>
                      </a:r>
                    </a:p>
                  </a:txBody>
                  <a:tcPr marL="76200" marR="76200" marT="57150" marB="57150">
                    <a:solidFill>
                      <a:srgbClr val="FFFFFF"/>
                    </a:solidFill>
                  </a:tcPr>
                </a:tc>
                <a:tc>
                  <a:txBody>
                    <a:bodyPr wrap="square"/>
                    <a:lstStyle/>
                    <a:p>
                      <a:r>
                        <a:rPr sz="2000" b="0">
                          <a:solidFill>
                            <a:srgbClr val="111A14"/>
                          </a:solidFill>
                          <a:latin typeface="Arial"/>
                        </a:rPr>
                        <a:t>0</a:t>
                      </a:r>
                    </a:p>
                  </a:txBody>
                  <a:tcPr marL="76200" marR="76200" marT="57150" marB="57150">
                    <a:solidFill>
                      <a:srgbClr val="FFFFFF"/>
                    </a:solidFill>
                  </a:tcPr>
                </a:tc>
                <a:tc>
                  <a:txBody>
                    <a:bodyPr wrap="square"/>
                    <a:lstStyle/>
                    <a:p>
                      <a:r>
                        <a:rPr sz="2000" b="0">
                          <a:solidFill>
                            <a:srgbClr val="111A14"/>
                          </a:solidFill>
                          <a:latin typeface="Arial"/>
                        </a:rPr>
                        <a:t>0</a:t>
                      </a:r>
                    </a:p>
                  </a:txBody>
                  <a:tcPr marL="76200" marR="76200" marT="57150" marB="57150">
                    <a:solidFill>
                      <a:srgbClr val="FFFFFF"/>
                    </a:solidFill>
                  </a:tcPr>
                </a:tc>
                <a:tc>
                  <a:txBody>
                    <a:bodyPr wrap="square"/>
                    <a:lstStyle/>
                    <a:p>
                      <a:r>
                        <a:rPr sz="2000" b="0">
                          <a:solidFill>
                            <a:srgbClr val="111A14"/>
                          </a:solidFill>
                          <a:latin typeface="Arial"/>
                        </a:rPr>
                        <a:t>1</a:t>
                      </a:r>
                    </a:p>
                  </a:txBody>
                  <a:tcPr marL="76200" marR="76200" marT="57150" marB="57150">
                    <a:solidFill>
                      <a:srgbClr val="FFFFFF"/>
                    </a:solidFill>
                  </a:tcPr>
                </a:tc>
                <a:tc>
                  <a:txBody>
                    <a:bodyPr wrap="square"/>
                    <a:lstStyle/>
                    <a:p>
                      <a:r>
                        <a:rPr sz="2000" b="0">
                          <a:solidFill>
                            <a:srgbClr val="111A14"/>
                          </a:solidFill>
                          <a:latin typeface="Arial"/>
                        </a:rPr>
                        <a:t>1</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What readers see</a:t>
            </a:r>
          </a:p>
        </p:txBody>
      </p:sp>
      <p:pic>
        <p:nvPicPr>
          <p:cNvPr id="6" name="Picture 5" descr="sk-tally.png"/>
          <p:cNvPicPr>
            <a:picLocks noChangeAspect="1"/>
          </p:cNvPicPr>
          <p:nvPr/>
        </p:nvPicPr>
        <p:blipFill>
          <a:blip r:embed="rId2"/>
          <a:stretch>
            <a:fillRect/>
          </a:stretch>
        </p:blipFill>
        <p:spPr>
          <a:xfrm>
            <a:off x="2225040" y="1143000"/>
            <a:ext cx="7741920" cy="4838700"/>
          </a:xfrm>
          <a:prstGeom prst="rect">
            <a:avLst/>
          </a:prstGeom>
        </p:spPr>
      </p:pic>
      <p:sp>
        <p:nvSpPr>
          <p:cNvPr id="7" name="Rectangle 6"/>
          <p:cNvSpPr/>
          <p:nvPr/>
        </p:nvSpPr>
        <p:spPr>
          <a:xfrm>
            <a:off x="2225040" y="1143000"/>
            <a:ext cx="7741920" cy="48387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6038850"/>
            <a:ext cx="10858500" cy="285750"/>
          </a:xfrm>
          <a:prstGeom prst="rect">
            <a:avLst/>
          </a:prstGeom>
          <a:noFill/>
        </p:spPr>
        <p:txBody>
          <a:bodyPr wrap="square" lIns="19050" rIns="19050" tIns="0" bIns="0" anchor="t">
            <a:spAutoFit/>
          </a:bodyPr>
          <a:lstStyle/>
          <a:p>
            <a:pPr algn="ctr">
              <a:lnSpc>
                <a:spcPct val="115000"/>
              </a:lnSpc>
            </a:pPr>
            <a:r>
              <a:rPr sz="1300" b="0">
                <a:solidFill>
                  <a:srgbClr val="556058"/>
                </a:solidFill>
                <a:latin typeface="Arial"/>
              </a:rPr>
              <a:t>Podium, results-in progress, medal table with gold/silver/bronze tints, points race, live and up next</a:t>
            </a:r>
          </a:p>
        </p:txBody>
      </p:sp>
      <p:sp>
        <p:nvSpPr>
          <p:cNvPr id="9" name="TextBox 8"/>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10" name="TextBox 9"/>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Awards and social cards</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MVP of the Day, Athlete of the Day, Finals MVP</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Stat line and quote</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PNG cards: 1080×1350 and 1080×1080</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Ready for Facebook and Instagram</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Safeguards</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Started games never change automatically</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Knockout ties refused</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Medals only count after confirmation</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Team changes audited; edition hidden until published</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Salingkusog Module</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7250" y="2095500"/>
            <a:ext cx="10477500" cy="1143000"/>
          </a:xfrm>
          <a:prstGeom prst="rect">
            <a:avLst/>
          </a:prstGeom>
          <a:noFill/>
        </p:spPr>
        <p:txBody>
          <a:bodyPr wrap="square" lIns="19050" rIns="19050" tIns="0" bIns="0" anchor="t">
            <a:spAutoFit/>
          </a:bodyPr>
          <a:lstStyle/>
          <a:p>
            <a:pPr algn="l">
              <a:lnSpc>
                <a:spcPct val="115000"/>
              </a:lnSpc>
            </a:pPr>
            <a:r>
              <a:rPr sz="4400" b="1">
                <a:solidFill>
                  <a:srgbClr val="FFFFFF"/>
                </a:solidFill>
                <a:latin typeface="Arial"/>
              </a:rPr>
              <a:t>Questions about Salingkusog?</a:t>
            </a:r>
          </a:p>
        </p:txBody>
      </p:sp>
      <p:sp>
        <p:nvSpPr>
          <p:cNvPr id="4" name="TextBox 3"/>
          <p:cNvSpPr txBox="1"/>
          <p:nvPr/>
        </p:nvSpPr>
        <p:spPr>
          <a:xfrm>
            <a:off x="857250" y="3333750"/>
            <a:ext cx="10477500" cy="1524000"/>
          </a:xfrm>
          <a:prstGeom prst="rect">
            <a:avLst/>
          </a:prstGeom>
          <a:noFill/>
        </p:spPr>
        <p:txBody>
          <a:bodyPr wrap="square" lIns="19050" rIns="19050" tIns="0" bIns="0" anchor="t">
            <a:spAutoFit/>
          </a:bodyPr>
          <a:lstStyle/>
          <a:p>
            <a:pPr algn="l">
              <a:lnSpc>
                <a:spcPct val="115000"/>
              </a:lnSpc>
            </a:pPr>
            <a:r>
              <a:rPr sz="2200" b="0">
                <a:solidFill>
                  <a:srgbClr val="D9E8B0"/>
                </a:solidFill>
                <a:latin typeface="Arial"/>
              </a:rPr>
              <a:t>Team manual: AMR-DOC-11c · Event-week checklist: AMR-DOC-09 §10</a:t>
            </a:r>
          </a:p>
        </p:txBody>
      </p:sp>
      <p:sp>
        <p:nvSpPr>
          <p:cNvPr id="5" name="TextBox 4"/>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Salingkusog Module</a:t>
            </a:r>
          </a:p>
        </p:txBody>
      </p:sp>
      <p:sp>
        <p:nvSpPr>
          <p:cNvPr id="6" name="TextBox 5"/>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